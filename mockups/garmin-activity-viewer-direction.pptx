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site works but is a desktop-shaped documentation page. This proposal keeps every function and rebuilds the surface for one-handed phone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carry the whole design: one headline number per row, colour as the only concession to fitness-app warmth, and nothing rendered for data that isn't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hues, one per sport, all muted to sit alongside the system red. Heart-rate zones keep a separate semantic ramp shared across every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groups the current week first, then falls back to calendar months. Each group header carries its own totals. Rows are 76px tall — comfortably tappable one-handed.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stats across the top, zones immediately below, then training effect and the sport-specific block. Copy for AI is a thumb-height bar pinned to the bottom; the GitHub link is the small square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mode follows the system preference and can be toggled. On the dark ground the accent steps one lighter so it stays legible. The copy confirmation is a two-second toast plus a state change on the button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is the same list promoted to a fixed column beside the detail. Nothing new is invented for the wide layout — two extra stat cells and the dynamics table unfolds to full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stays a static site: vanilla JS, hash routing, a session cache to stay under the unauthenticated API limit. Your files are strict enough to parse with a small regex, which removes the Markdown library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image" Target="../media/image-3-17.png"/><Relationship Id="rId18" Type="http://schemas.openxmlformats.org/officeDocument/2006/relationships/image" Target="../media/image-3-18.sv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slideLayout" Target="../slideLayouts/slideLayout1.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image" Target="../media/image-7-17.png"/><Relationship Id="rId18" Type="http://schemas.openxmlformats.org/officeDocument/2006/relationships/image" Target="../media/image-7-18.svg"/><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914400" y="914400"/>
            <a:ext cx="723900" cy="723900"/>
          </a:xfrm>
          <a:prstGeom prst="rect">
            <a:avLst/>
          </a:prstGeom>
          <a:solidFill>
            <a:srgbClr val="EC301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5850" y="1085850"/>
            <a:ext cx="381000" cy="381000"/>
          </a:xfrm>
          <a:prstGeom prst="rect">
            <a:avLst/>
          </a:prstGeom>
        </p:spPr>
      </p:pic>
      <p:sp>
        <p:nvSpPr>
          <p:cNvPr id="4" name="Text 1"/>
          <p:cNvSpPr/>
          <p:nvPr/>
        </p:nvSpPr>
        <p:spPr>
          <a:xfrm>
            <a:off x="1866900" y="1084436"/>
            <a:ext cx="2695746" cy="421928"/>
          </a:xfrm>
          <a:prstGeom prst="rect">
            <a:avLst/>
          </a:prstGeom>
          <a:noFill/>
          <a:ln/>
        </p:spPr>
        <p:txBody>
          <a:bodyPr wrap="square" lIns="25400" tIns="25400" rIns="25400" bIns="25400" rtlCol="0" anchor="t">
            <a:normAutofit/>
          </a:bodyPr>
          <a:lstStyle/>
          <a:p>
            <a:pPr algn="l" indent="0" marL="0">
              <a:lnSpc>
                <a:spcPct val="141404"/>
              </a:lnSpc>
              <a:buNone/>
            </a:pPr>
            <a:r>
              <a:rPr lang="en-US" sz="1950" b="1" spc="273" kern="0" dirty="0">
                <a:solidFill>
                  <a:srgbClr val="7D7979"/>
                </a:solidFill>
                <a:latin typeface="Archivo" pitchFamily="34" charset="0"/>
                <a:ea typeface="Archivo" pitchFamily="34" charset="-122"/>
                <a:cs typeface="Archivo" pitchFamily="34" charset="-120"/>
              </a:rPr>
              <a:t>GARMIN-PARSE</a:t>
            </a:r>
            <a:endParaRPr lang="en-US" sz="1950" dirty="0"/>
          </a:p>
        </p:txBody>
      </p:sp>
      <p:sp>
        <p:nvSpPr>
          <p:cNvPr id="5" name="Shape 2"/>
          <p:cNvSpPr/>
          <p:nvPr/>
        </p:nvSpPr>
        <p:spPr>
          <a:xfrm>
            <a:off x="914400" y="3281363"/>
            <a:ext cx="16459200" cy="28575"/>
          </a:xfrm>
          <a:prstGeom prst="rect">
            <a:avLst/>
          </a:prstGeom>
          <a:solidFill>
            <a:srgbClr val="201E1D">
              <a:alpha val="40000"/>
            </a:srgbClr>
          </a:solidFill>
          <a:ln/>
        </p:spPr>
      </p:sp>
      <p:sp>
        <p:nvSpPr>
          <p:cNvPr id="6" name="Text 3"/>
          <p:cNvSpPr/>
          <p:nvPr/>
        </p:nvSpPr>
        <p:spPr>
          <a:xfrm>
            <a:off x="914400" y="3729038"/>
            <a:ext cx="16952976" cy="2502396"/>
          </a:xfrm>
          <a:prstGeom prst="rect">
            <a:avLst/>
          </a:prstGeom>
          <a:noFill/>
          <a:ln/>
        </p:spPr>
        <p:txBody>
          <a:bodyPr wrap="square" lIns="25400" tIns="25400" rIns="25400" bIns="25400" rtlCol="0" anchor="t">
            <a:normAutofit/>
          </a:bodyPr>
          <a:lstStyle/>
          <a:p>
            <a:pPr algn="l" indent="0" marL="0">
              <a:lnSpc>
                <a:spcPct val="90146"/>
              </a:lnSpc>
              <a:buNone/>
            </a:pPr>
            <a:r>
              <a:rPr lang="en-US" sz="9900" b="1" spc="-297" kern="0" dirty="0">
                <a:solidFill>
                  <a:srgbClr val="201E1D"/>
                </a:solidFill>
                <a:latin typeface="Archivo" pitchFamily="34" charset="0"/>
                <a:ea typeface="Archivo" pitchFamily="34" charset="-122"/>
                <a:cs typeface="Archivo" pitchFamily="34" charset="-120"/>
              </a:rPr>
              <a:t>A mobile-first activity viewer</a:t>
            </a:r>
            <a:endParaRPr lang="en-US" sz="9900" dirty="0"/>
          </a:p>
        </p:txBody>
      </p:sp>
      <p:sp>
        <p:nvSpPr>
          <p:cNvPr id="7" name="Text 4"/>
          <p:cNvSpPr/>
          <p:nvPr/>
        </p:nvSpPr>
        <p:spPr>
          <a:xfrm>
            <a:off x="914400" y="6498134"/>
            <a:ext cx="9933691"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444141"/>
                </a:solidFill>
                <a:latin typeface="Archivo" pitchFamily="34" charset="0"/>
                <a:ea typeface="Archivo" pitchFamily="34" charset="-122"/>
                <a:cs typeface="Archivo" pitchFamily="34" charset="-120"/>
              </a:rPr>
              <a:t>Visual direction for the redesign. Every screen below is drawn from the six real activity files in the repo.</a:t>
            </a:r>
            <a:endParaRPr lang="en-US" sz="2550" dirty="0"/>
          </a:p>
        </p:txBody>
      </p:sp>
      <p:sp>
        <p:nvSpPr>
          <p:cNvPr id="8" name="Text 5"/>
          <p:cNvSpPr/>
          <p:nvPr/>
        </p:nvSpPr>
        <p:spPr>
          <a:xfrm>
            <a:off x="914400" y="9047857"/>
            <a:ext cx="3429744"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7D7979"/>
                </a:solidFill>
                <a:latin typeface="Archivo" pitchFamily="34" charset="0"/>
                <a:ea typeface="Archivo" pitchFamily="34" charset="-122"/>
                <a:cs typeface="Archivo" pitchFamily="34" charset="-120"/>
              </a:rPr>
              <a:t>DIRECTION 01 · LEDGER</a:t>
            </a:r>
            <a:endParaRPr lang="en-US" sz="1650" dirty="0"/>
          </a:p>
        </p:txBody>
      </p:sp>
      <p:sp>
        <p:nvSpPr>
          <p:cNvPr id="9" name="Text 6"/>
          <p:cNvSpPr/>
          <p:nvPr/>
        </p:nvSpPr>
        <p:spPr>
          <a:xfrm>
            <a:off x="4641949" y="9047857"/>
            <a:ext cx="1727887"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7D7979"/>
                </a:solidFill>
                <a:latin typeface="Archivo" pitchFamily="34" charset="0"/>
                <a:ea typeface="Archivo" pitchFamily="34" charset="-122"/>
                <a:cs typeface="Archivo" pitchFamily="34" charset="-120"/>
              </a:rPr>
              <a:t>MODERNIST</a:t>
            </a:r>
            <a:endParaRPr lang="en-US" sz="1650" dirty="0"/>
          </a:p>
        </p:txBody>
      </p:sp>
      <p:sp>
        <p:nvSpPr>
          <p:cNvPr id="10" name="Text 7"/>
          <p:cNvSpPr/>
          <p:nvPr/>
        </p:nvSpPr>
        <p:spPr>
          <a:xfrm>
            <a:off x="6822356" y="9047857"/>
            <a:ext cx="2373236"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7D7979"/>
                </a:solidFill>
                <a:latin typeface="Archivo" pitchFamily="34" charset="0"/>
                <a:ea typeface="Archivo" pitchFamily="34" charset="-122"/>
                <a:cs typeface="Archivo" pitchFamily="34" charset="-120"/>
              </a:rPr>
              <a:t>21 AUGUST 2026</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14400" y="2124968"/>
            <a:ext cx="18105120"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THE DIRECTION</a:t>
            </a:r>
            <a:endParaRPr lang="en-US" sz="1800" dirty="0"/>
          </a:p>
        </p:txBody>
      </p:sp>
      <p:sp>
        <p:nvSpPr>
          <p:cNvPr id="3" name="Text 1"/>
          <p:cNvSpPr/>
          <p:nvPr/>
        </p:nvSpPr>
        <p:spPr>
          <a:xfrm>
            <a:off x="914400" y="2707853"/>
            <a:ext cx="16952976" cy="1747986"/>
          </a:xfrm>
          <a:prstGeom prst="rect">
            <a:avLst/>
          </a:prstGeom>
          <a:noFill/>
          <a:ln/>
        </p:spPr>
        <p:txBody>
          <a:bodyPr wrap="square" lIns="25400" tIns="25400" rIns="25400" bIns="25400" rtlCol="0" anchor="t">
            <a:normAutofit/>
          </a:bodyPr>
          <a:lstStyle/>
          <a:p>
            <a:pPr algn="l" indent="0" marL="0">
              <a:lnSpc>
                <a:spcPct val="93500"/>
              </a:lnSpc>
              <a:buNone/>
            </a:pPr>
            <a:r>
              <a:rPr lang="en-US" sz="6600" b="1" spc="-198" kern="0" dirty="0">
                <a:solidFill>
                  <a:srgbClr val="201E1D"/>
                </a:solidFill>
                <a:latin typeface="Archivo" pitchFamily="34" charset="0"/>
                <a:ea typeface="Archivo" pitchFamily="34" charset="-122"/>
                <a:cs typeface="Archivo" pitchFamily="34" charset="-120"/>
              </a:rPr>
              <a:t>One number per workout, ruled and stacked</a:t>
            </a:r>
            <a:endParaRPr lang="en-US" sz="6600" dirty="0"/>
          </a:p>
        </p:txBody>
      </p:sp>
      <p:sp>
        <p:nvSpPr>
          <p:cNvPr id="4" name="Shape 2"/>
          <p:cNvSpPr/>
          <p:nvPr/>
        </p:nvSpPr>
        <p:spPr>
          <a:xfrm>
            <a:off x="914400" y="5027340"/>
            <a:ext cx="16459200" cy="28575"/>
          </a:xfrm>
          <a:prstGeom prst="rect">
            <a:avLst/>
          </a:prstGeom>
          <a:solidFill>
            <a:srgbClr val="201E1D">
              <a:alpha val="40000"/>
            </a:srgbClr>
          </a:solidFill>
          <a:ln/>
        </p:spPr>
      </p:sp>
      <p:sp>
        <p:nvSpPr>
          <p:cNvPr id="5" name="Shape 3"/>
          <p:cNvSpPr/>
          <p:nvPr/>
        </p:nvSpPr>
        <p:spPr>
          <a:xfrm>
            <a:off x="6381750" y="5665515"/>
            <a:ext cx="19050" cy="2496443"/>
          </a:xfrm>
          <a:prstGeom prst="rect">
            <a:avLst/>
          </a:prstGeom>
          <a:solidFill>
            <a:srgbClr val="201E1D">
              <a:alpha val="25000"/>
            </a:srgbClr>
          </a:solidFill>
          <a:ln/>
        </p:spPr>
      </p:sp>
      <p:sp>
        <p:nvSpPr>
          <p:cNvPr id="6" name="Text 4"/>
          <p:cNvSpPr/>
          <p:nvPr/>
        </p:nvSpPr>
        <p:spPr>
          <a:xfrm>
            <a:off x="914400" y="5665515"/>
            <a:ext cx="5427345"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AE1800"/>
                </a:solidFill>
                <a:latin typeface="Archivo" pitchFamily="34" charset="0"/>
                <a:ea typeface="Archivo" pitchFamily="34" charset="-122"/>
                <a:cs typeface="Archivo" pitchFamily="34" charset="-120"/>
              </a:rPr>
              <a:t>LEDGER, NOT CARDS</a:t>
            </a:r>
            <a:endParaRPr lang="en-US" sz="1650" dirty="0"/>
          </a:p>
        </p:txBody>
      </p:sp>
      <p:sp>
        <p:nvSpPr>
          <p:cNvPr id="7" name="Text 5"/>
          <p:cNvSpPr/>
          <p:nvPr/>
        </p:nvSpPr>
        <p:spPr>
          <a:xfrm>
            <a:off x="914400" y="6161708"/>
            <a:ext cx="5081969" cy="2038350"/>
          </a:xfrm>
          <a:prstGeom prst="rect">
            <a:avLst/>
          </a:prstGeom>
          <a:noFill/>
          <a:ln/>
        </p:spPr>
        <p:txBody>
          <a:bodyPr wrap="square" lIns="25400" tIns="25400" rIns="25400" bIns="25400" rtlCol="0" anchor="t">
            <a:normAutofit/>
          </a:bodyPr>
          <a:lstStyle/>
          <a:p>
            <a:pPr algn="l" indent="0" marL="0">
              <a:lnSpc>
                <a:spcPct val="137705"/>
              </a:lnSpc>
              <a:buNone/>
            </a:pPr>
            <a:r>
              <a:rPr lang="en-US" sz="2100" dirty="0">
                <a:solidFill>
                  <a:srgbClr val="201E1D"/>
                </a:solidFill>
                <a:latin typeface="Archivo" pitchFamily="34" charset="0"/>
                <a:ea typeface="Archivo" pitchFamily="34" charset="-122"/>
                <a:cs typeface="Archivo" pitchFamily="34" charset="-120"/>
              </a:rPr>
              <a:t>Rules instead of containers. Each row leads with the number you came to see — distance and duration — at 21px bold, with pace, heart rate and calories on a quiet second line.</a:t>
            </a:r>
            <a:endParaRPr lang="en-US" sz="2100" dirty="0"/>
          </a:p>
        </p:txBody>
      </p:sp>
      <p:sp>
        <p:nvSpPr>
          <p:cNvPr id="8" name="Shape 6"/>
          <p:cNvSpPr/>
          <p:nvPr/>
        </p:nvSpPr>
        <p:spPr>
          <a:xfrm>
            <a:off x="11868150" y="5665515"/>
            <a:ext cx="19050" cy="2496443"/>
          </a:xfrm>
          <a:prstGeom prst="rect">
            <a:avLst/>
          </a:prstGeom>
          <a:solidFill>
            <a:srgbClr val="201E1D">
              <a:alpha val="25000"/>
            </a:srgbClr>
          </a:solidFill>
          <a:ln/>
        </p:spPr>
      </p:sp>
      <p:sp>
        <p:nvSpPr>
          <p:cNvPr id="9" name="Text 7"/>
          <p:cNvSpPr/>
          <p:nvPr/>
        </p:nvSpPr>
        <p:spPr>
          <a:xfrm>
            <a:off x="6934200" y="5665515"/>
            <a:ext cx="4840605"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AE1800"/>
                </a:solidFill>
                <a:latin typeface="Archivo" pitchFamily="34" charset="0"/>
                <a:ea typeface="Archivo" pitchFamily="34" charset="-122"/>
                <a:cs typeface="Archivo" pitchFamily="34" charset="-120"/>
              </a:rPr>
              <a:t>WARMTH FROM COLOUR ONLY</a:t>
            </a:r>
            <a:endParaRPr lang="en-US" sz="1650" dirty="0"/>
          </a:p>
        </p:txBody>
      </p:sp>
      <p:sp>
        <p:nvSpPr>
          <p:cNvPr id="10" name="Text 8"/>
          <p:cNvSpPr/>
          <p:nvPr/>
        </p:nvSpPr>
        <p:spPr>
          <a:xfrm>
            <a:off x="6934200" y="6161708"/>
            <a:ext cx="4532567" cy="2038350"/>
          </a:xfrm>
          <a:prstGeom prst="rect">
            <a:avLst/>
          </a:prstGeom>
          <a:noFill/>
          <a:ln/>
        </p:spPr>
        <p:txBody>
          <a:bodyPr wrap="square" lIns="25400" tIns="25400" rIns="25400" bIns="25400" rtlCol="0" anchor="t">
            <a:normAutofit/>
          </a:bodyPr>
          <a:lstStyle/>
          <a:p>
            <a:pPr algn="l" indent="0" marL="0">
              <a:lnSpc>
                <a:spcPct val="137705"/>
              </a:lnSpc>
              <a:buNone/>
            </a:pPr>
            <a:r>
              <a:rPr lang="en-US" sz="2100" dirty="0">
                <a:solidFill>
                  <a:srgbClr val="201E1D"/>
                </a:solidFill>
                <a:latin typeface="Archivo" pitchFamily="34" charset="0"/>
                <a:ea typeface="Archivo" pitchFamily="34" charset="-122"/>
                <a:cs typeface="Archivo" pitchFamily="34" charset="-120"/>
              </a:rPr>
              <a:t>2px rules, zero radius, Archivo, flush left — Modernist held strictly. Each sport owns a muted hue that fills its icon tile, so the list is scannable at a glance.</a:t>
            </a:r>
            <a:endParaRPr lang="en-US" sz="2100" dirty="0"/>
          </a:p>
        </p:txBody>
      </p:sp>
      <p:sp>
        <p:nvSpPr>
          <p:cNvPr id="11" name="Text 9"/>
          <p:cNvSpPr/>
          <p:nvPr/>
        </p:nvSpPr>
        <p:spPr>
          <a:xfrm>
            <a:off x="12420600" y="5665515"/>
            <a:ext cx="5448300"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98" kern="0" dirty="0">
                <a:solidFill>
                  <a:srgbClr val="AE1800"/>
                </a:solidFill>
                <a:latin typeface="Archivo" pitchFamily="34" charset="0"/>
                <a:ea typeface="Archivo" pitchFamily="34" charset="-122"/>
                <a:cs typeface="Archivo" pitchFamily="34" charset="-120"/>
              </a:rPr>
              <a:t>SPARSE BY DEFAULT</a:t>
            </a:r>
            <a:endParaRPr lang="en-US" sz="1650" dirty="0"/>
          </a:p>
        </p:txBody>
      </p:sp>
      <p:sp>
        <p:nvSpPr>
          <p:cNvPr id="12" name="Text 10"/>
          <p:cNvSpPr/>
          <p:nvPr/>
        </p:nvSpPr>
        <p:spPr>
          <a:xfrm>
            <a:off x="12420600" y="6161708"/>
            <a:ext cx="5101590" cy="1638300"/>
          </a:xfrm>
          <a:prstGeom prst="rect">
            <a:avLst/>
          </a:prstGeom>
          <a:noFill/>
          <a:ln/>
        </p:spPr>
        <p:txBody>
          <a:bodyPr wrap="square" lIns="25400" tIns="25400" rIns="25400" bIns="25400" rtlCol="0" anchor="t">
            <a:normAutofit/>
          </a:bodyPr>
          <a:lstStyle/>
          <a:p>
            <a:pPr algn="l" indent="0" marL="0">
              <a:lnSpc>
                <a:spcPct val="137705"/>
              </a:lnSpc>
              <a:buNone/>
            </a:pPr>
            <a:r>
              <a:rPr lang="en-US" sz="2100" dirty="0">
                <a:solidFill>
                  <a:srgbClr val="201E1D"/>
                </a:solidFill>
                <a:latin typeface="Archivo" pitchFamily="34" charset="0"/>
                <a:ea typeface="Archivo" pitchFamily="34" charset="-122"/>
                <a:cs typeface="Archivo" pitchFamily="34" charset="-120"/>
              </a:rPr>
              <a:t>A missing field is not a row. No dashes, no greyed placeholders — the grid reflows. The only exception is a zero heart-rate zone, which is real information.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762000" y="762000"/>
            <a:ext cx="4254912"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b="1" spc="128" kern="0" dirty="0">
                <a:solidFill>
                  <a:srgbClr val="7D7979"/>
                </a:solidFill>
                <a:latin typeface="Archivo" pitchFamily="34" charset="0"/>
                <a:ea typeface="Archivo" pitchFamily="34" charset="-122"/>
                <a:cs typeface="Archivo" pitchFamily="34" charset="-120"/>
              </a:rPr>
              <a:t>SPORT PALETTE</a:t>
            </a:r>
            <a:endParaRPr lang="en-US" sz="1279" dirty="0"/>
          </a:p>
        </p:txBody>
      </p:sp>
      <p:sp>
        <p:nvSpPr>
          <p:cNvPr id="3" name="Shape 1"/>
          <p:cNvSpPr/>
          <p:nvPr/>
        </p:nvSpPr>
        <p:spPr>
          <a:xfrm>
            <a:off x="762000" y="1161313"/>
            <a:ext cx="3868102" cy="10452965"/>
          </a:xfrm>
          <a:prstGeom prst="rect">
            <a:avLst/>
          </a:prstGeom>
          <a:solidFill>
            <a:srgbClr val="F3F2F2"/>
          </a:solidFill>
          <a:ln w="29528">
            <a:solidFill>
              <a:srgbClr val="201E1D"/>
            </a:solidFill>
            <a:prstDash val="solid"/>
          </a:ln>
        </p:spPr>
      </p:sp>
      <p:sp>
        <p:nvSpPr>
          <p:cNvPr id="4" name="Shape 2"/>
          <p:cNvSpPr/>
          <p:nvPr/>
        </p:nvSpPr>
        <p:spPr>
          <a:xfrm>
            <a:off x="1057275" y="2282897"/>
            <a:ext cx="3277552" cy="14764"/>
          </a:xfrm>
          <a:prstGeom prst="rect">
            <a:avLst/>
          </a:prstGeom>
          <a:solidFill>
            <a:srgbClr val="201E1D">
              <a:alpha val="18000"/>
            </a:srgbClr>
          </a:solidFill>
          <a:ln/>
        </p:spPr>
      </p:sp>
      <p:sp>
        <p:nvSpPr>
          <p:cNvPr id="5" name="Shape 3"/>
          <p:cNvSpPr/>
          <p:nvPr/>
        </p:nvSpPr>
        <p:spPr>
          <a:xfrm>
            <a:off x="1057275" y="1618759"/>
            <a:ext cx="501967" cy="501968"/>
          </a:xfrm>
          <a:prstGeom prst="rect">
            <a:avLst/>
          </a:prstGeom>
          <a:solidFill>
            <a:srgbClr val="EC3013"/>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75385" y="1736869"/>
            <a:ext cx="265747" cy="265747"/>
          </a:xfrm>
          <a:prstGeom prst="rect">
            <a:avLst/>
          </a:prstGeom>
        </p:spPr>
      </p:pic>
      <p:sp>
        <p:nvSpPr>
          <p:cNvPr id="7" name="Text 4"/>
          <p:cNvSpPr/>
          <p:nvPr/>
        </p:nvSpPr>
        <p:spPr>
          <a:xfrm>
            <a:off x="1736407" y="1589462"/>
            <a:ext cx="907584"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Running</a:t>
            </a:r>
            <a:endParaRPr lang="en-US" sz="1569" dirty="0"/>
          </a:p>
        </p:txBody>
      </p:sp>
      <p:sp>
        <p:nvSpPr>
          <p:cNvPr id="8" name="Text 5"/>
          <p:cNvSpPr/>
          <p:nvPr/>
        </p:nvSpPr>
        <p:spPr>
          <a:xfrm>
            <a:off x="1736407" y="1898347"/>
            <a:ext cx="907584"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#ec3013</a:t>
            </a:r>
            <a:endParaRPr lang="en-US" sz="1279" dirty="0"/>
          </a:p>
        </p:txBody>
      </p:sp>
      <p:sp>
        <p:nvSpPr>
          <p:cNvPr id="9" name="Shape 6"/>
          <p:cNvSpPr/>
          <p:nvPr/>
        </p:nvSpPr>
        <p:spPr>
          <a:xfrm>
            <a:off x="1057275" y="3123969"/>
            <a:ext cx="3277552" cy="14764"/>
          </a:xfrm>
          <a:prstGeom prst="rect">
            <a:avLst/>
          </a:prstGeom>
          <a:solidFill>
            <a:srgbClr val="201E1D">
              <a:alpha val="18000"/>
            </a:srgbClr>
          </a:solidFill>
          <a:ln/>
        </p:spPr>
      </p:sp>
      <p:sp>
        <p:nvSpPr>
          <p:cNvPr id="10" name="Shape 7"/>
          <p:cNvSpPr/>
          <p:nvPr/>
        </p:nvSpPr>
        <p:spPr>
          <a:xfrm>
            <a:off x="1057275" y="2459831"/>
            <a:ext cx="501967" cy="501968"/>
          </a:xfrm>
          <a:prstGeom prst="rect">
            <a:avLst/>
          </a:prstGeom>
          <a:solidFill>
            <a:srgbClr val="A8420C"/>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5385" y="2577941"/>
            <a:ext cx="265747" cy="265747"/>
          </a:xfrm>
          <a:prstGeom prst="rect">
            <a:avLst/>
          </a:prstGeom>
        </p:spPr>
      </p:pic>
      <p:sp>
        <p:nvSpPr>
          <p:cNvPr id="12" name="Text 8"/>
          <p:cNvSpPr/>
          <p:nvPr/>
        </p:nvSpPr>
        <p:spPr>
          <a:xfrm>
            <a:off x="1736407" y="2430534"/>
            <a:ext cx="1501323"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Track running</a:t>
            </a:r>
            <a:endParaRPr lang="en-US" sz="1569" dirty="0"/>
          </a:p>
        </p:txBody>
      </p:sp>
      <p:sp>
        <p:nvSpPr>
          <p:cNvPr id="13" name="Text 9"/>
          <p:cNvSpPr/>
          <p:nvPr/>
        </p:nvSpPr>
        <p:spPr>
          <a:xfrm>
            <a:off x="1736407" y="2739420"/>
            <a:ext cx="1501323"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#a8420c</a:t>
            </a:r>
            <a:endParaRPr lang="en-US" sz="1279" dirty="0"/>
          </a:p>
        </p:txBody>
      </p:sp>
      <p:sp>
        <p:nvSpPr>
          <p:cNvPr id="14" name="Shape 10"/>
          <p:cNvSpPr/>
          <p:nvPr/>
        </p:nvSpPr>
        <p:spPr>
          <a:xfrm>
            <a:off x="1057275" y="3965042"/>
            <a:ext cx="3277552" cy="14764"/>
          </a:xfrm>
          <a:prstGeom prst="rect">
            <a:avLst/>
          </a:prstGeom>
          <a:solidFill>
            <a:srgbClr val="201E1D">
              <a:alpha val="18000"/>
            </a:srgbClr>
          </a:solidFill>
          <a:ln/>
        </p:spPr>
      </p:sp>
      <p:sp>
        <p:nvSpPr>
          <p:cNvPr id="15" name="Shape 11"/>
          <p:cNvSpPr/>
          <p:nvPr/>
        </p:nvSpPr>
        <p:spPr>
          <a:xfrm>
            <a:off x="1057275" y="3300903"/>
            <a:ext cx="501967" cy="501968"/>
          </a:xfrm>
          <a:prstGeom prst="rect">
            <a:avLst/>
          </a:prstGeom>
          <a:solidFill>
            <a:srgbClr val="8A6A12"/>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75385" y="3419014"/>
            <a:ext cx="265747" cy="265747"/>
          </a:xfrm>
          <a:prstGeom prst="rect">
            <a:avLst/>
          </a:prstGeom>
        </p:spPr>
      </p:pic>
      <p:sp>
        <p:nvSpPr>
          <p:cNvPr id="17" name="Text 12"/>
          <p:cNvSpPr/>
          <p:nvPr/>
        </p:nvSpPr>
        <p:spPr>
          <a:xfrm>
            <a:off x="1736407" y="3271607"/>
            <a:ext cx="1908088" cy="346986"/>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Treadmill running</a:t>
            </a:r>
            <a:endParaRPr lang="en-US" sz="1569" dirty="0"/>
          </a:p>
        </p:txBody>
      </p:sp>
      <p:sp>
        <p:nvSpPr>
          <p:cNvPr id="18" name="Text 13"/>
          <p:cNvSpPr/>
          <p:nvPr/>
        </p:nvSpPr>
        <p:spPr>
          <a:xfrm>
            <a:off x="1736407" y="3580492"/>
            <a:ext cx="1908088"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#8a6a12</a:t>
            </a:r>
            <a:endParaRPr lang="en-US" sz="1279" dirty="0"/>
          </a:p>
        </p:txBody>
      </p:sp>
      <p:sp>
        <p:nvSpPr>
          <p:cNvPr id="19" name="Shape 14"/>
          <p:cNvSpPr/>
          <p:nvPr/>
        </p:nvSpPr>
        <p:spPr>
          <a:xfrm>
            <a:off x="1057275" y="4806114"/>
            <a:ext cx="3277552" cy="14764"/>
          </a:xfrm>
          <a:prstGeom prst="rect">
            <a:avLst/>
          </a:prstGeom>
          <a:solidFill>
            <a:srgbClr val="201E1D">
              <a:alpha val="18000"/>
            </a:srgbClr>
          </a:solidFill>
          <a:ln/>
        </p:spPr>
      </p:sp>
      <p:sp>
        <p:nvSpPr>
          <p:cNvPr id="20" name="Shape 15"/>
          <p:cNvSpPr/>
          <p:nvPr/>
        </p:nvSpPr>
        <p:spPr>
          <a:xfrm>
            <a:off x="1057275" y="4141976"/>
            <a:ext cx="501967" cy="501967"/>
          </a:xfrm>
          <a:prstGeom prst="rect">
            <a:avLst/>
          </a:prstGeom>
          <a:solidFill>
            <a:srgbClr val="2F6B4B"/>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5385" y="4260086"/>
            <a:ext cx="265747" cy="265747"/>
          </a:xfrm>
          <a:prstGeom prst="rect">
            <a:avLst/>
          </a:prstGeom>
        </p:spPr>
      </p:pic>
      <p:sp>
        <p:nvSpPr>
          <p:cNvPr id="22" name="Text 16"/>
          <p:cNvSpPr/>
          <p:nvPr/>
        </p:nvSpPr>
        <p:spPr>
          <a:xfrm>
            <a:off x="1736407" y="4112679"/>
            <a:ext cx="1250034"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Road biking</a:t>
            </a:r>
            <a:endParaRPr lang="en-US" sz="1569" dirty="0"/>
          </a:p>
        </p:txBody>
      </p:sp>
      <p:sp>
        <p:nvSpPr>
          <p:cNvPr id="23" name="Text 17"/>
          <p:cNvSpPr/>
          <p:nvPr/>
        </p:nvSpPr>
        <p:spPr>
          <a:xfrm>
            <a:off x="1736407" y="4421564"/>
            <a:ext cx="1250034"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#2f6b4b</a:t>
            </a:r>
            <a:endParaRPr lang="en-US" sz="1279" dirty="0"/>
          </a:p>
        </p:txBody>
      </p:sp>
      <p:sp>
        <p:nvSpPr>
          <p:cNvPr id="24" name="Shape 18"/>
          <p:cNvSpPr/>
          <p:nvPr/>
        </p:nvSpPr>
        <p:spPr>
          <a:xfrm>
            <a:off x="1057275" y="5647187"/>
            <a:ext cx="3277552" cy="14764"/>
          </a:xfrm>
          <a:prstGeom prst="rect">
            <a:avLst/>
          </a:prstGeom>
          <a:solidFill>
            <a:srgbClr val="201E1D">
              <a:alpha val="18000"/>
            </a:srgbClr>
          </a:solidFill>
          <a:ln/>
        </p:spPr>
      </p:sp>
      <p:sp>
        <p:nvSpPr>
          <p:cNvPr id="25" name="Shape 19"/>
          <p:cNvSpPr/>
          <p:nvPr/>
        </p:nvSpPr>
        <p:spPr>
          <a:xfrm>
            <a:off x="1057275" y="4983048"/>
            <a:ext cx="501967" cy="501968"/>
          </a:xfrm>
          <a:prstGeom prst="rect">
            <a:avLst/>
          </a:prstGeom>
          <a:solidFill>
            <a:srgbClr val="2B5C78"/>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5385" y="5101158"/>
            <a:ext cx="265747" cy="265748"/>
          </a:xfrm>
          <a:prstGeom prst="rect">
            <a:avLst/>
          </a:prstGeom>
        </p:spPr>
      </p:pic>
      <p:sp>
        <p:nvSpPr>
          <p:cNvPr id="27" name="Text 20"/>
          <p:cNvSpPr/>
          <p:nvPr/>
        </p:nvSpPr>
        <p:spPr>
          <a:xfrm>
            <a:off x="1736407" y="4953751"/>
            <a:ext cx="1550932" cy="346986"/>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Indoor cycling</a:t>
            </a:r>
            <a:endParaRPr lang="en-US" sz="1569" dirty="0"/>
          </a:p>
        </p:txBody>
      </p:sp>
      <p:sp>
        <p:nvSpPr>
          <p:cNvPr id="28" name="Text 21"/>
          <p:cNvSpPr/>
          <p:nvPr/>
        </p:nvSpPr>
        <p:spPr>
          <a:xfrm>
            <a:off x="1736407" y="5262637"/>
            <a:ext cx="1550932" cy="289775"/>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#2b5c78</a:t>
            </a:r>
            <a:endParaRPr lang="en-US" sz="1279" dirty="0"/>
          </a:p>
        </p:txBody>
      </p:sp>
      <p:sp>
        <p:nvSpPr>
          <p:cNvPr id="29" name="Shape 22"/>
          <p:cNvSpPr/>
          <p:nvPr/>
        </p:nvSpPr>
        <p:spPr>
          <a:xfrm>
            <a:off x="1057275" y="6488258"/>
            <a:ext cx="3277552" cy="14764"/>
          </a:xfrm>
          <a:prstGeom prst="rect">
            <a:avLst/>
          </a:prstGeom>
          <a:solidFill>
            <a:srgbClr val="201E1D">
              <a:alpha val="18000"/>
            </a:srgbClr>
          </a:solidFill>
          <a:ln/>
        </p:spPr>
      </p:sp>
      <p:sp>
        <p:nvSpPr>
          <p:cNvPr id="30" name="Shape 23"/>
          <p:cNvSpPr/>
          <p:nvPr/>
        </p:nvSpPr>
        <p:spPr>
          <a:xfrm>
            <a:off x="1057275" y="5824121"/>
            <a:ext cx="501967" cy="501968"/>
          </a:xfrm>
          <a:prstGeom prst="rect">
            <a:avLst/>
          </a:prstGeom>
          <a:solidFill>
            <a:srgbClr val="34508C"/>
          </a:solidFill>
          <a:ln/>
        </p:spPr>
      </p:sp>
      <p:pic>
        <p:nvPicPr>
          <p:cNvPr id="3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75385" y="5942231"/>
            <a:ext cx="265747" cy="265747"/>
          </a:xfrm>
          <a:prstGeom prst="rect">
            <a:avLst/>
          </a:prstGeom>
        </p:spPr>
      </p:pic>
      <p:sp>
        <p:nvSpPr>
          <p:cNvPr id="32" name="Text 24"/>
          <p:cNvSpPr/>
          <p:nvPr/>
        </p:nvSpPr>
        <p:spPr>
          <a:xfrm>
            <a:off x="1736407" y="5794824"/>
            <a:ext cx="1580748" cy="346986"/>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Lap swimming</a:t>
            </a:r>
            <a:endParaRPr lang="en-US" sz="1569" dirty="0"/>
          </a:p>
        </p:txBody>
      </p:sp>
      <p:sp>
        <p:nvSpPr>
          <p:cNvPr id="33" name="Text 25"/>
          <p:cNvSpPr/>
          <p:nvPr/>
        </p:nvSpPr>
        <p:spPr>
          <a:xfrm>
            <a:off x="1736407" y="6103709"/>
            <a:ext cx="1580748" cy="289775"/>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#34508c</a:t>
            </a:r>
            <a:endParaRPr lang="en-US" sz="1279" dirty="0"/>
          </a:p>
        </p:txBody>
      </p:sp>
      <p:sp>
        <p:nvSpPr>
          <p:cNvPr id="34" name="Shape 26"/>
          <p:cNvSpPr/>
          <p:nvPr/>
        </p:nvSpPr>
        <p:spPr>
          <a:xfrm>
            <a:off x="1057275" y="7329331"/>
            <a:ext cx="3277552" cy="14764"/>
          </a:xfrm>
          <a:prstGeom prst="rect">
            <a:avLst/>
          </a:prstGeom>
          <a:solidFill>
            <a:srgbClr val="201E1D">
              <a:alpha val="18000"/>
            </a:srgbClr>
          </a:solidFill>
          <a:ln/>
        </p:spPr>
      </p:sp>
      <p:sp>
        <p:nvSpPr>
          <p:cNvPr id="35" name="Shape 27"/>
          <p:cNvSpPr/>
          <p:nvPr/>
        </p:nvSpPr>
        <p:spPr>
          <a:xfrm>
            <a:off x="1057275" y="6665193"/>
            <a:ext cx="501967" cy="501967"/>
          </a:xfrm>
          <a:prstGeom prst="rect">
            <a:avLst/>
          </a:prstGeom>
          <a:solidFill>
            <a:srgbClr val="4A3D6B"/>
          </a:solidFill>
          <a:ln/>
        </p:spPr>
      </p:sp>
      <p:pic>
        <p:nvPicPr>
          <p:cNvPr id="3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75385" y="6783303"/>
            <a:ext cx="265747" cy="265748"/>
          </a:xfrm>
          <a:prstGeom prst="rect">
            <a:avLst/>
          </a:prstGeom>
        </p:spPr>
      </p:pic>
      <p:sp>
        <p:nvSpPr>
          <p:cNvPr id="37" name="Text 28"/>
          <p:cNvSpPr/>
          <p:nvPr/>
        </p:nvSpPr>
        <p:spPr>
          <a:xfrm>
            <a:off x="1736407" y="6635896"/>
            <a:ext cx="1847187"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Strength training</a:t>
            </a:r>
            <a:endParaRPr lang="en-US" sz="1569" dirty="0"/>
          </a:p>
        </p:txBody>
      </p:sp>
      <p:sp>
        <p:nvSpPr>
          <p:cNvPr id="38" name="Text 29"/>
          <p:cNvSpPr/>
          <p:nvPr/>
        </p:nvSpPr>
        <p:spPr>
          <a:xfrm>
            <a:off x="1736407" y="6944781"/>
            <a:ext cx="1847187"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#4a3d6b</a:t>
            </a:r>
            <a:endParaRPr lang="en-US" sz="1279" dirty="0"/>
          </a:p>
        </p:txBody>
      </p:sp>
      <p:sp>
        <p:nvSpPr>
          <p:cNvPr id="39" name="Shape 30"/>
          <p:cNvSpPr/>
          <p:nvPr/>
        </p:nvSpPr>
        <p:spPr>
          <a:xfrm>
            <a:off x="1057275" y="8170403"/>
            <a:ext cx="3277552" cy="14764"/>
          </a:xfrm>
          <a:prstGeom prst="rect">
            <a:avLst/>
          </a:prstGeom>
          <a:solidFill>
            <a:srgbClr val="201E1D">
              <a:alpha val="18000"/>
            </a:srgbClr>
          </a:solidFill>
          <a:ln/>
        </p:spPr>
      </p:sp>
      <p:sp>
        <p:nvSpPr>
          <p:cNvPr id="40" name="Shape 31"/>
          <p:cNvSpPr/>
          <p:nvPr/>
        </p:nvSpPr>
        <p:spPr>
          <a:xfrm>
            <a:off x="1057275" y="7506265"/>
            <a:ext cx="501967" cy="501968"/>
          </a:xfrm>
          <a:prstGeom prst="rect">
            <a:avLst/>
          </a:prstGeom>
          <a:solidFill>
            <a:srgbClr val="7A2F52"/>
          </a:solidFill>
          <a:ln/>
        </p:spPr>
      </p:sp>
      <p:pic>
        <p:nvPicPr>
          <p:cNvPr id="4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75385" y="7624375"/>
            <a:ext cx="265747" cy="265748"/>
          </a:xfrm>
          <a:prstGeom prst="rect">
            <a:avLst/>
          </a:prstGeom>
        </p:spPr>
      </p:pic>
      <p:sp>
        <p:nvSpPr>
          <p:cNvPr id="42" name="Text 32"/>
          <p:cNvSpPr/>
          <p:nvPr/>
        </p:nvSpPr>
        <p:spPr>
          <a:xfrm>
            <a:off x="1736407" y="7476969"/>
            <a:ext cx="1171947"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Badminton</a:t>
            </a:r>
            <a:endParaRPr lang="en-US" sz="1569" dirty="0"/>
          </a:p>
        </p:txBody>
      </p:sp>
      <p:sp>
        <p:nvSpPr>
          <p:cNvPr id="43" name="Text 33"/>
          <p:cNvSpPr/>
          <p:nvPr/>
        </p:nvSpPr>
        <p:spPr>
          <a:xfrm>
            <a:off x="1736407" y="7785854"/>
            <a:ext cx="1171947"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#7a2f52</a:t>
            </a:r>
            <a:endParaRPr lang="en-US" sz="1279" dirty="0"/>
          </a:p>
        </p:txBody>
      </p:sp>
      <p:sp>
        <p:nvSpPr>
          <p:cNvPr id="44" name="Shape 34"/>
          <p:cNvSpPr/>
          <p:nvPr/>
        </p:nvSpPr>
        <p:spPr>
          <a:xfrm>
            <a:off x="1057275" y="8347338"/>
            <a:ext cx="501967" cy="501968"/>
          </a:xfrm>
          <a:prstGeom prst="rect">
            <a:avLst/>
          </a:prstGeom>
          <a:solidFill>
            <a:srgbClr val="605D5D"/>
          </a:solidFill>
          <a:ln/>
        </p:spPr>
      </p:sp>
      <p:pic>
        <p:nvPicPr>
          <p:cNvPr id="4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75385" y="8465448"/>
            <a:ext cx="265747" cy="265747"/>
          </a:xfrm>
          <a:prstGeom prst="rect">
            <a:avLst/>
          </a:prstGeom>
        </p:spPr>
      </p:pic>
      <p:sp>
        <p:nvSpPr>
          <p:cNvPr id="46" name="Text 35"/>
          <p:cNvSpPr/>
          <p:nvPr/>
        </p:nvSpPr>
        <p:spPr>
          <a:xfrm>
            <a:off x="1736407" y="8318041"/>
            <a:ext cx="2084572" cy="346985"/>
          </a:xfrm>
          <a:prstGeom prst="rect">
            <a:avLst/>
          </a:prstGeom>
          <a:noFill/>
          <a:ln/>
        </p:spPr>
        <p:txBody>
          <a:bodyPr wrap="square" lIns="25400" tIns="25400" rIns="25400" bIns="25400" rtlCol="0" anchor="t">
            <a:normAutofit/>
          </a:bodyPr>
          <a:lstStyle/>
          <a:p>
            <a:pPr algn="l" indent="0" marL="0">
              <a:lnSpc>
                <a:spcPct val="139500"/>
              </a:lnSpc>
              <a:buNone/>
            </a:pPr>
            <a:r>
              <a:rPr lang="en-US" sz="1569" b="1" dirty="0">
                <a:solidFill>
                  <a:srgbClr val="201E1D"/>
                </a:solidFill>
                <a:latin typeface="Archivo" pitchFamily="34" charset="0"/>
                <a:ea typeface="Archivo" pitchFamily="34" charset="-122"/>
                <a:cs typeface="Archivo" pitchFamily="34" charset="-120"/>
              </a:rPr>
              <a:t>Anything else</a:t>
            </a:r>
            <a:endParaRPr lang="en-US" sz="1569" dirty="0"/>
          </a:p>
        </p:txBody>
      </p:sp>
      <p:sp>
        <p:nvSpPr>
          <p:cNvPr id="47" name="Text 36"/>
          <p:cNvSpPr/>
          <p:nvPr/>
        </p:nvSpPr>
        <p:spPr>
          <a:xfrm>
            <a:off x="1736407" y="8626926"/>
            <a:ext cx="2084572"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dirty="0">
                <a:solidFill>
                  <a:srgbClr val="7D7979"/>
                </a:solidFill>
                <a:latin typeface="Archivo" pitchFamily="34" charset="0"/>
                <a:ea typeface="Archivo" pitchFamily="34" charset="-122"/>
                <a:cs typeface="Archivo" pitchFamily="34" charset="-120"/>
              </a:rPr>
              <a:t>#605d5d · generic fallback</a:t>
            </a:r>
            <a:endParaRPr lang="en-US" sz="1279" dirty="0"/>
          </a:p>
        </p:txBody>
      </p:sp>
      <p:sp>
        <p:nvSpPr>
          <p:cNvPr id="48" name="Shape 37"/>
          <p:cNvSpPr/>
          <p:nvPr/>
        </p:nvSpPr>
        <p:spPr>
          <a:xfrm>
            <a:off x="1057275" y="9218168"/>
            <a:ext cx="3277552" cy="29528"/>
          </a:xfrm>
          <a:prstGeom prst="rect">
            <a:avLst/>
          </a:prstGeom>
          <a:solidFill>
            <a:srgbClr val="201E1D">
              <a:alpha val="40000"/>
            </a:srgbClr>
          </a:solidFill>
          <a:ln/>
        </p:spPr>
      </p:sp>
      <p:sp>
        <p:nvSpPr>
          <p:cNvPr id="49" name="Text 38"/>
          <p:cNvSpPr/>
          <p:nvPr/>
        </p:nvSpPr>
        <p:spPr>
          <a:xfrm>
            <a:off x="1057275" y="9424861"/>
            <a:ext cx="3605307" cy="289776"/>
          </a:xfrm>
          <a:prstGeom prst="rect">
            <a:avLst/>
          </a:prstGeom>
          <a:noFill/>
          <a:ln/>
        </p:spPr>
        <p:txBody>
          <a:bodyPr wrap="square" lIns="25400" tIns="25400" rIns="25400" bIns="25400" rtlCol="0" anchor="t">
            <a:normAutofit/>
          </a:bodyPr>
          <a:lstStyle/>
          <a:p>
            <a:pPr algn="l" indent="0" marL="0">
              <a:lnSpc>
                <a:spcPct val="142083"/>
              </a:lnSpc>
              <a:buNone/>
            </a:pPr>
            <a:r>
              <a:rPr lang="en-US" sz="1279" b="1" spc="128" kern="0" dirty="0">
                <a:solidFill>
                  <a:srgbClr val="7D7979"/>
                </a:solidFill>
                <a:latin typeface="Archivo" pitchFamily="34" charset="0"/>
                <a:ea typeface="Archivo" pitchFamily="34" charset="-122"/>
                <a:cs typeface="Archivo" pitchFamily="34" charset="-120"/>
              </a:rPr>
              <a:t>HR ZONE RAMP</a:t>
            </a:r>
            <a:endParaRPr lang="en-US" sz="1279" dirty="0"/>
          </a:p>
        </p:txBody>
      </p:sp>
      <p:sp>
        <p:nvSpPr>
          <p:cNvPr id="50" name="Shape 39"/>
          <p:cNvSpPr/>
          <p:nvPr/>
        </p:nvSpPr>
        <p:spPr>
          <a:xfrm>
            <a:off x="1057275" y="9794646"/>
            <a:ext cx="655487" cy="324803"/>
          </a:xfrm>
          <a:prstGeom prst="rect">
            <a:avLst/>
          </a:prstGeom>
          <a:solidFill>
            <a:srgbClr val="D7D3D3"/>
          </a:solidFill>
          <a:ln/>
        </p:spPr>
      </p:sp>
      <p:sp>
        <p:nvSpPr>
          <p:cNvPr id="51" name="Shape 40"/>
          <p:cNvSpPr/>
          <p:nvPr/>
        </p:nvSpPr>
        <p:spPr>
          <a:xfrm>
            <a:off x="1712762" y="9794646"/>
            <a:ext cx="655603" cy="324803"/>
          </a:xfrm>
          <a:prstGeom prst="rect">
            <a:avLst/>
          </a:prstGeom>
          <a:solidFill>
            <a:srgbClr val="9B9797"/>
          </a:solidFill>
          <a:ln/>
        </p:spPr>
      </p:sp>
      <p:sp>
        <p:nvSpPr>
          <p:cNvPr id="52" name="Shape 41"/>
          <p:cNvSpPr/>
          <p:nvPr/>
        </p:nvSpPr>
        <p:spPr>
          <a:xfrm>
            <a:off x="2368365" y="9794646"/>
            <a:ext cx="655487" cy="324803"/>
          </a:xfrm>
          <a:prstGeom prst="rect">
            <a:avLst/>
          </a:prstGeom>
          <a:solidFill>
            <a:srgbClr val="FFC4B8"/>
          </a:solidFill>
          <a:ln/>
        </p:spPr>
      </p:sp>
      <p:sp>
        <p:nvSpPr>
          <p:cNvPr id="53" name="Shape 42"/>
          <p:cNvSpPr/>
          <p:nvPr/>
        </p:nvSpPr>
        <p:spPr>
          <a:xfrm>
            <a:off x="3023853" y="9794646"/>
            <a:ext cx="655487" cy="324803"/>
          </a:xfrm>
          <a:prstGeom prst="rect">
            <a:avLst/>
          </a:prstGeom>
          <a:solidFill>
            <a:srgbClr val="EC3013"/>
          </a:solidFill>
          <a:ln/>
        </p:spPr>
      </p:sp>
      <p:sp>
        <p:nvSpPr>
          <p:cNvPr id="54" name="Shape 43"/>
          <p:cNvSpPr/>
          <p:nvPr/>
        </p:nvSpPr>
        <p:spPr>
          <a:xfrm>
            <a:off x="3679340" y="9794646"/>
            <a:ext cx="655487" cy="324803"/>
          </a:xfrm>
          <a:prstGeom prst="rect">
            <a:avLst/>
          </a:prstGeom>
          <a:solidFill>
            <a:srgbClr val="7C1405"/>
          </a:solidFill>
          <a:ln/>
        </p:spPr>
      </p:sp>
      <p:sp>
        <p:nvSpPr>
          <p:cNvPr id="55" name="Text 44"/>
          <p:cNvSpPr/>
          <p:nvPr/>
        </p:nvSpPr>
        <p:spPr>
          <a:xfrm>
            <a:off x="1057275" y="10178504"/>
            <a:ext cx="731687" cy="266937"/>
          </a:xfrm>
          <a:prstGeom prst="rect">
            <a:avLst/>
          </a:prstGeom>
          <a:noFill/>
          <a:ln/>
        </p:spPr>
        <p:txBody>
          <a:bodyPr wrap="square" lIns="25400" tIns="25400" rIns="25400" bIns="25400" rtlCol="0" anchor="t">
            <a:normAutofit/>
          </a:bodyPr>
          <a:lstStyle/>
          <a:p>
            <a:pPr algn="l" indent="0" marL="0">
              <a:lnSpc>
                <a:spcPct val="140909"/>
              </a:lnSpc>
              <a:buNone/>
            </a:pPr>
            <a:r>
              <a:rPr lang="en-US" sz="1163" b="1" dirty="0">
                <a:solidFill>
                  <a:srgbClr val="7D7979"/>
                </a:solidFill>
                <a:latin typeface="Archivo" pitchFamily="34" charset="0"/>
                <a:ea typeface="Archivo" pitchFamily="34" charset="-122"/>
                <a:cs typeface="Archivo" pitchFamily="34" charset="-120"/>
              </a:rPr>
              <a:t>Z1</a:t>
            </a:r>
            <a:endParaRPr lang="en-US" sz="1163" dirty="0"/>
          </a:p>
        </p:txBody>
      </p:sp>
      <p:sp>
        <p:nvSpPr>
          <p:cNvPr id="56" name="Text 45"/>
          <p:cNvSpPr/>
          <p:nvPr/>
        </p:nvSpPr>
        <p:spPr>
          <a:xfrm>
            <a:off x="1712762" y="10178504"/>
            <a:ext cx="731803" cy="266937"/>
          </a:xfrm>
          <a:prstGeom prst="rect">
            <a:avLst/>
          </a:prstGeom>
          <a:noFill/>
          <a:ln/>
        </p:spPr>
        <p:txBody>
          <a:bodyPr wrap="square" lIns="25400" tIns="25400" rIns="25400" bIns="25400" rtlCol="0" anchor="t">
            <a:normAutofit/>
          </a:bodyPr>
          <a:lstStyle/>
          <a:p>
            <a:pPr algn="l" indent="0" marL="0">
              <a:lnSpc>
                <a:spcPct val="140909"/>
              </a:lnSpc>
              <a:buNone/>
            </a:pPr>
            <a:r>
              <a:rPr lang="en-US" sz="1163" b="1" dirty="0">
                <a:solidFill>
                  <a:srgbClr val="7D7979"/>
                </a:solidFill>
                <a:latin typeface="Archivo" pitchFamily="34" charset="0"/>
                <a:ea typeface="Archivo" pitchFamily="34" charset="-122"/>
                <a:cs typeface="Archivo" pitchFamily="34" charset="-120"/>
              </a:rPr>
              <a:t>Z2</a:t>
            </a:r>
            <a:endParaRPr lang="en-US" sz="1163" dirty="0"/>
          </a:p>
        </p:txBody>
      </p:sp>
      <p:sp>
        <p:nvSpPr>
          <p:cNvPr id="57" name="Text 46"/>
          <p:cNvSpPr/>
          <p:nvPr/>
        </p:nvSpPr>
        <p:spPr>
          <a:xfrm>
            <a:off x="2368365" y="10178504"/>
            <a:ext cx="731687" cy="266937"/>
          </a:xfrm>
          <a:prstGeom prst="rect">
            <a:avLst/>
          </a:prstGeom>
          <a:noFill/>
          <a:ln/>
        </p:spPr>
        <p:txBody>
          <a:bodyPr wrap="square" lIns="25400" tIns="25400" rIns="25400" bIns="25400" rtlCol="0" anchor="t">
            <a:normAutofit/>
          </a:bodyPr>
          <a:lstStyle/>
          <a:p>
            <a:pPr algn="l" indent="0" marL="0">
              <a:lnSpc>
                <a:spcPct val="140909"/>
              </a:lnSpc>
              <a:buNone/>
            </a:pPr>
            <a:r>
              <a:rPr lang="en-US" sz="1163" b="1" dirty="0">
                <a:solidFill>
                  <a:srgbClr val="7D7979"/>
                </a:solidFill>
                <a:latin typeface="Archivo" pitchFamily="34" charset="0"/>
                <a:ea typeface="Archivo" pitchFamily="34" charset="-122"/>
                <a:cs typeface="Archivo" pitchFamily="34" charset="-120"/>
              </a:rPr>
              <a:t>Z3</a:t>
            </a:r>
            <a:endParaRPr lang="en-US" sz="1163" dirty="0"/>
          </a:p>
        </p:txBody>
      </p:sp>
      <p:sp>
        <p:nvSpPr>
          <p:cNvPr id="58" name="Text 47"/>
          <p:cNvSpPr/>
          <p:nvPr/>
        </p:nvSpPr>
        <p:spPr>
          <a:xfrm>
            <a:off x="3023853" y="10178504"/>
            <a:ext cx="731687" cy="266937"/>
          </a:xfrm>
          <a:prstGeom prst="rect">
            <a:avLst/>
          </a:prstGeom>
          <a:noFill/>
          <a:ln/>
        </p:spPr>
        <p:txBody>
          <a:bodyPr wrap="square" lIns="25400" tIns="25400" rIns="25400" bIns="25400" rtlCol="0" anchor="t">
            <a:normAutofit/>
          </a:bodyPr>
          <a:lstStyle/>
          <a:p>
            <a:pPr algn="l" indent="0" marL="0">
              <a:lnSpc>
                <a:spcPct val="140909"/>
              </a:lnSpc>
              <a:buNone/>
            </a:pPr>
            <a:r>
              <a:rPr lang="en-US" sz="1163" b="1" dirty="0">
                <a:solidFill>
                  <a:srgbClr val="7D7979"/>
                </a:solidFill>
                <a:latin typeface="Archivo" pitchFamily="34" charset="0"/>
                <a:ea typeface="Archivo" pitchFamily="34" charset="-122"/>
                <a:cs typeface="Archivo" pitchFamily="34" charset="-120"/>
              </a:rPr>
              <a:t>Z4</a:t>
            </a:r>
            <a:endParaRPr lang="en-US" sz="1163" dirty="0"/>
          </a:p>
        </p:txBody>
      </p:sp>
      <p:sp>
        <p:nvSpPr>
          <p:cNvPr id="59" name="Text 48"/>
          <p:cNvSpPr/>
          <p:nvPr/>
        </p:nvSpPr>
        <p:spPr>
          <a:xfrm>
            <a:off x="3679340" y="10178504"/>
            <a:ext cx="731687" cy="266937"/>
          </a:xfrm>
          <a:prstGeom prst="rect">
            <a:avLst/>
          </a:prstGeom>
          <a:noFill/>
          <a:ln/>
        </p:spPr>
        <p:txBody>
          <a:bodyPr wrap="square" lIns="25400" tIns="25400" rIns="25400" bIns="25400" rtlCol="0" anchor="t">
            <a:normAutofit/>
          </a:bodyPr>
          <a:lstStyle/>
          <a:p>
            <a:pPr algn="l" indent="0" marL="0">
              <a:lnSpc>
                <a:spcPct val="140909"/>
              </a:lnSpc>
              <a:buNone/>
            </a:pPr>
            <a:r>
              <a:rPr lang="en-US" sz="1163" b="1" dirty="0">
                <a:solidFill>
                  <a:srgbClr val="7D7979"/>
                </a:solidFill>
                <a:latin typeface="Archivo" pitchFamily="34" charset="0"/>
                <a:ea typeface="Archivo" pitchFamily="34" charset="-122"/>
                <a:cs typeface="Archivo" pitchFamily="34" charset="-120"/>
              </a:rPr>
              <a:t>Z5</a:t>
            </a:r>
            <a:endParaRPr lang="en-US" sz="1163" dirty="0"/>
          </a:p>
        </p:txBody>
      </p:sp>
      <p:sp>
        <p:nvSpPr>
          <p:cNvPr id="60" name="Text 49"/>
          <p:cNvSpPr/>
          <p:nvPr/>
        </p:nvSpPr>
        <p:spPr>
          <a:xfrm>
            <a:off x="1057275" y="10554980"/>
            <a:ext cx="3375879" cy="802123"/>
          </a:xfrm>
          <a:prstGeom prst="rect">
            <a:avLst/>
          </a:prstGeom>
          <a:noFill/>
          <a:ln/>
        </p:spPr>
        <p:txBody>
          <a:bodyPr wrap="square" lIns="25400" tIns="25400" rIns="25400" bIns="25400" rtlCol="0" anchor="t">
            <a:normAutofit/>
          </a:bodyPr>
          <a:lstStyle/>
          <a:p>
            <a:pPr algn="l" indent="0" marL="0">
              <a:lnSpc>
                <a:spcPct val="138000"/>
              </a:lnSpc>
              <a:buNone/>
            </a:pPr>
            <a:r>
              <a:rPr lang="en-US" sz="1337" dirty="0">
                <a:solidFill>
                  <a:srgbClr val="605D5D"/>
                </a:solidFill>
                <a:latin typeface="Archivo" pitchFamily="34" charset="0"/>
                <a:ea typeface="Archivo" pitchFamily="34" charset="-122"/>
                <a:cs typeface="Archivo" pitchFamily="34" charset="-120"/>
              </a:rPr>
              <a:t>Zone colour is semantic and shared across every sport — the one place the system's red is not the sport's own.</a:t>
            </a:r>
            <a:endParaRPr lang="en-US" sz="1337" dirty="0"/>
          </a:p>
        </p:txBody>
      </p:sp>
      <p:sp>
        <p:nvSpPr>
          <p:cNvPr id="61" name="Text 50"/>
          <p:cNvSpPr/>
          <p:nvPr/>
        </p:nvSpPr>
        <p:spPr>
          <a:xfrm>
            <a:off x="5448300" y="2158975"/>
            <a:ext cx="13285470"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COLOUR SYSTEM</a:t>
            </a:r>
            <a:endParaRPr lang="en-US" sz="1800" dirty="0"/>
          </a:p>
        </p:txBody>
      </p:sp>
      <p:sp>
        <p:nvSpPr>
          <p:cNvPr id="62" name="Text 51"/>
          <p:cNvSpPr/>
          <p:nvPr/>
        </p:nvSpPr>
        <p:spPr>
          <a:xfrm>
            <a:off x="5448300" y="2703761"/>
            <a:ext cx="12440031" cy="1543794"/>
          </a:xfrm>
          <a:prstGeom prst="rect">
            <a:avLst/>
          </a:prstGeom>
          <a:noFill/>
          <a:ln/>
        </p:spPr>
        <p:txBody>
          <a:bodyPr wrap="square" lIns="25400" tIns="25400" rIns="25400" bIns="25400" rtlCol="0" anchor="t">
            <a:normAutofit/>
          </a:bodyPr>
          <a:lstStyle/>
          <a:p>
            <a:pPr algn="l" indent="0" marL="0">
              <a:lnSpc>
                <a:spcPct val="95806"/>
              </a:lnSpc>
              <a:buNone/>
            </a:pPr>
            <a:r>
              <a:rPr lang="en-US" sz="5700" b="1" spc="-171" kern="0" dirty="0">
                <a:solidFill>
                  <a:srgbClr val="201E1D"/>
                </a:solidFill>
                <a:latin typeface="Archivo" pitchFamily="34" charset="0"/>
                <a:ea typeface="Archivo" pitchFamily="34" charset="-122"/>
                <a:cs typeface="Archivo" pitchFamily="34" charset="-120"/>
              </a:rPr>
              <a:t>A hue per sport, all held below the red</a:t>
            </a:r>
            <a:endParaRPr lang="en-US" sz="5700" dirty="0"/>
          </a:p>
        </p:txBody>
      </p:sp>
      <p:sp>
        <p:nvSpPr>
          <p:cNvPr id="63" name="Text 52"/>
          <p:cNvSpPr/>
          <p:nvPr/>
        </p:nvSpPr>
        <p:spPr>
          <a:xfrm>
            <a:off x="5448300" y="4552355"/>
            <a:ext cx="7416544" cy="2181225"/>
          </a:xfrm>
          <a:prstGeom prst="rect">
            <a:avLst/>
          </a:prstGeom>
          <a:noFill/>
          <a:ln/>
        </p:spPr>
        <p:txBody>
          <a:bodyPr wrap="square" lIns="25400" tIns="25400" rIns="25400" bIns="25400" rtlCol="0" anchor="t">
            <a:normAutofit/>
          </a:bodyPr>
          <a:lstStyle/>
          <a:p>
            <a:pPr algn="l" indent="0" marL="0">
              <a:lnSpc>
                <a:spcPct val="136364"/>
              </a:lnSpc>
              <a:buNone/>
            </a:pPr>
            <a:r>
              <a:rPr lang="en-US" sz="2250" dirty="0">
                <a:solidFill>
                  <a:srgbClr val="201E1D"/>
                </a:solidFill>
                <a:latin typeface="Archivo" pitchFamily="34" charset="0"/>
                <a:ea typeface="Archivo" pitchFamily="34" charset="-122"/>
                <a:cs typeface="Archivo" pitchFamily="34" charset="-120"/>
              </a:rPr>
              <a:t>Running keeps the system accent. Everything else is drawn at the same perceptual weight, so no sport shouts louder than another. The hue appears twice: as the icon tile fill and as the row's type label — set one ramp step darker where small text needs the contrast.</a:t>
            </a:r>
            <a:endParaRPr lang="en-US" sz="2250" dirty="0"/>
          </a:p>
        </p:txBody>
      </p:sp>
      <p:sp>
        <p:nvSpPr>
          <p:cNvPr id="64" name="Shape 53"/>
          <p:cNvSpPr/>
          <p:nvPr/>
        </p:nvSpPr>
        <p:spPr>
          <a:xfrm>
            <a:off x="5448300" y="7076480"/>
            <a:ext cx="12077700" cy="28575"/>
          </a:xfrm>
          <a:prstGeom prst="rect">
            <a:avLst/>
          </a:prstGeom>
          <a:solidFill>
            <a:srgbClr val="201E1D">
              <a:alpha val="40000"/>
            </a:srgbClr>
          </a:solidFill>
          <a:ln/>
        </p:spPr>
      </p:sp>
      <p:sp>
        <p:nvSpPr>
          <p:cNvPr id="65" name="Text 54"/>
          <p:cNvSpPr/>
          <p:nvPr/>
        </p:nvSpPr>
        <p:spPr>
          <a:xfrm>
            <a:off x="5448300" y="7409855"/>
            <a:ext cx="6043422" cy="756196"/>
          </a:xfrm>
          <a:prstGeom prst="rect">
            <a:avLst/>
          </a:prstGeom>
          <a:noFill/>
          <a:ln/>
        </p:spPr>
        <p:txBody>
          <a:bodyPr wrap="square" lIns="25400" tIns="25400" rIns="25400" bIns="25400" rtlCol="0" anchor="t">
            <a:normAutofit/>
          </a:bodyPr>
          <a:lstStyle/>
          <a:p>
            <a:pPr algn="l" indent="0" marL="0">
              <a:lnSpc>
                <a:spcPct val="132281"/>
              </a:lnSpc>
              <a:buNone/>
            </a:pPr>
            <a:r>
              <a:rPr lang="en-US" sz="1950" b="1" dirty="0">
                <a:solidFill>
                  <a:srgbClr val="201E1D"/>
                </a:solidFill>
                <a:latin typeface="Archivo" pitchFamily="34" charset="0"/>
                <a:ea typeface="Archivo" pitchFamily="34" charset="-122"/>
                <a:cs typeface="Archivo" pitchFamily="34" charset="-120"/>
              </a:rPr>
              <a:t>Icons. </a:t>
            </a:r>
            <a:pPr algn="l" indent="0" marL="0">
              <a:lnSpc>
                <a:spcPct val="132281"/>
              </a:lnSpc>
              <a:buNone/>
            </a:pPr>
            <a:r>
              <a:rPr lang="en-US" sz="1950" dirty="0">
                <a:solidFill>
                  <a:srgbClr val="444141"/>
                </a:solidFill>
                <a:latin typeface="Archivo" pitchFamily="34" charset="0"/>
                <a:ea typeface="Archivo" pitchFamily="34" charset="-122"/>
                <a:cs typeface="Archivo" pitchFamily="34" charset="-120"/>
              </a:rPr>
              <a:t>Lucide throughout — footprints, route, gauge, bike, waves-ladder, dumbbell.</a:t>
            </a:r>
            <a:endParaRPr lang="en-US" sz="1950" dirty="0"/>
          </a:p>
        </p:txBody>
      </p:sp>
      <p:sp>
        <p:nvSpPr>
          <p:cNvPr id="66" name="Text 55"/>
          <p:cNvSpPr/>
          <p:nvPr/>
        </p:nvSpPr>
        <p:spPr>
          <a:xfrm>
            <a:off x="11658600" y="7409855"/>
            <a:ext cx="6043422" cy="756196"/>
          </a:xfrm>
          <a:prstGeom prst="rect">
            <a:avLst/>
          </a:prstGeom>
          <a:noFill/>
          <a:ln/>
        </p:spPr>
        <p:txBody>
          <a:bodyPr wrap="square" lIns="25400" tIns="25400" rIns="25400" bIns="25400" rtlCol="0" anchor="t">
            <a:normAutofit/>
          </a:bodyPr>
          <a:lstStyle/>
          <a:p>
            <a:pPr algn="l" indent="0" marL="0">
              <a:lnSpc>
                <a:spcPct val="132281"/>
              </a:lnSpc>
              <a:buNone/>
            </a:pPr>
            <a:r>
              <a:rPr lang="en-US" sz="1950" b="1" dirty="0">
                <a:solidFill>
                  <a:srgbClr val="201E1D"/>
                </a:solidFill>
                <a:latin typeface="Archivo" pitchFamily="34" charset="0"/>
                <a:ea typeface="Archivo" pitchFamily="34" charset="-122"/>
                <a:cs typeface="Archivo" pitchFamily="34" charset="-120"/>
              </a:rPr>
              <a:t>Untested. </a:t>
            </a:r>
            <a:pPr algn="l" indent="0" marL="0">
              <a:lnSpc>
                <a:spcPct val="132281"/>
              </a:lnSpc>
              <a:buNone/>
            </a:pPr>
            <a:r>
              <a:rPr lang="en-US" sz="1950" dirty="0">
                <a:solidFill>
                  <a:srgbClr val="444141"/>
                </a:solidFill>
                <a:latin typeface="Archivo" pitchFamily="34" charset="0"/>
                <a:ea typeface="Archivo" pitchFamily="34" charset="-122"/>
                <a:cs typeface="Archivo" pitchFamily="34" charset="-120"/>
              </a:rPr>
              <a:t>No swimming or road-biking files exist yet, so those two hues are proposals.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762000" y="762000"/>
            <a:ext cx="4788636"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spc="96" kern="0" dirty="0">
                <a:solidFill>
                  <a:srgbClr val="7D7979"/>
                </a:solidFill>
                <a:latin typeface="Archivo" pitchFamily="34" charset="0"/>
                <a:ea typeface="Archivo" pitchFamily="34" charset="-122"/>
                <a:cs typeface="Archivo" pitchFamily="34" charset="-120"/>
              </a:rPr>
              <a:t>ACTIVITY LIST · LIGHT · 390PT</a:t>
            </a:r>
            <a:endParaRPr lang="en-US" sz="957" dirty="0"/>
          </a:p>
        </p:txBody>
      </p:sp>
      <p:sp>
        <p:nvSpPr>
          <p:cNvPr id="3" name="Shape 1"/>
          <p:cNvSpPr/>
          <p:nvPr/>
        </p:nvSpPr>
        <p:spPr>
          <a:xfrm>
            <a:off x="762000" y="1060841"/>
            <a:ext cx="4309110" cy="8706612"/>
          </a:xfrm>
          <a:prstGeom prst="rect">
            <a:avLst/>
          </a:prstGeom>
          <a:solidFill>
            <a:srgbClr val="F3F2F2"/>
          </a:solidFill>
          <a:ln w="22098">
            <a:solidFill>
              <a:srgbClr val="201E1D"/>
            </a:solidFill>
            <a:prstDash val="solid"/>
          </a:ln>
        </p:spPr>
      </p:sp>
      <p:sp>
        <p:nvSpPr>
          <p:cNvPr id="4" name="Shape 2"/>
          <p:cNvSpPr/>
          <p:nvPr/>
        </p:nvSpPr>
        <p:spPr>
          <a:xfrm>
            <a:off x="784098" y="1922318"/>
            <a:ext cx="4264914" cy="22098"/>
          </a:xfrm>
          <a:prstGeom prst="rect">
            <a:avLst/>
          </a:prstGeom>
          <a:solidFill>
            <a:srgbClr val="201E1D">
              <a:alpha val="40000"/>
            </a:srgbClr>
          </a:solidFill>
          <a:ln/>
        </p:spPr>
      </p:sp>
      <p:sp>
        <p:nvSpPr>
          <p:cNvPr id="5" name="Text 3"/>
          <p:cNvSpPr/>
          <p:nvPr/>
        </p:nvSpPr>
        <p:spPr>
          <a:xfrm>
            <a:off x="1005078" y="1281821"/>
            <a:ext cx="1497873"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7D7979"/>
                </a:solidFill>
                <a:latin typeface="Archivo" pitchFamily="34" charset="0"/>
                <a:ea typeface="Archivo" pitchFamily="34" charset="-122"/>
                <a:cs typeface="Archivo" pitchFamily="34" charset="-120"/>
              </a:rPr>
              <a:t>GARMIN-PARSE</a:t>
            </a:r>
            <a:endParaRPr lang="en-US" sz="914" dirty="0"/>
          </a:p>
        </p:txBody>
      </p:sp>
      <p:sp>
        <p:nvSpPr>
          <p:cNvPr id="6" name="Text 4"/>
          <p:cNvSpPr/>
          <p:nvPr/>
        </p:nvSpPr>
        <p:spPr>
          <a:xfrm>
            <a:off x="1005078" y="1461626"/>
            <a:ext cx="1497873" cy="366204"/>
          </a:xfrm>
          <a:prstGeom prst="rect">
            <a:avLst/>
          </a:prstGeom>
          <a:noFill/>
          <a:ln/>
        </p:spPr>
        <p:txBody>
          <a:bodyPr wrap="square" lIns="25400" tIns="25400" rIns="25400" bIns="25400" rtlCol="0" anchor="t">
            <a:normAutofit/>
          </a:bodyPr>
          <a:lstStyle/>
          <a:p>
            <a:pPr algn="l" indent="0" marL="0">
              <a:lnSpc>
                <a:spcPct val="102414"/>
              </a:lnSpc>
              <a:buNone/>
            </a:pPr>
            <a:r>
              <a:rPr lang="en-US" sz="2349" b="1" spc="-47" kern="0" dirty="0">
                <a:solidFill>
                  <a:srgbClr val="201E1D"/>
                </a:solidFill>
                <a:latin typeface="Archivo" pitchFamily="34" charset="0"/>
                <a:ea typeface="Archivo" pitchFamily="34" charset="-122"/>
                <a:cs typeface="Archivo" pitchFamily="34" charset="-120"/>
              </a:rPr>
              <a:t>Activities</a:t>
            </a:r>
            <a:endParaRPr lang="en-US" sz="2349" dirty="0"/>
          </a:p>
        </p:txBody>
      </p:sp>
      <p:sp>
        <p:nvSpPr>
          <p:cNvPr id="7" name="Shape 5"/>
          <p:cNvSpPr/>
          <p:nvPr/>
        </p:nvSpPr>
        <p:spPr>
          <a:xfrm>
            <a:off x="3767328" y="1303574"/>
            <a:ext cx="486156" cy="486156"/>
          </a:xfrm>
          <a:prstGeom prst="rect">
            <a:avLst/>
          </a:prstGeom>
          <a:ln w="11049">
            <a:solidFill>
              <a:srgbClr val="201E1D">
                <a:alpha val="4000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10965" y="1447211"/>
            <a:ext cx="198882" cy="198882"/>
          </a:xfrm>
          <a:prstGeom prst="rect">
            <a:avLst/>
          </a:prstGeom>
        </p:spPr>
      </p:pic>
      <p:sp>
        <p:nvSpPr>
          <p:cNvPr id="9" name="Shape 6"/>
          <p:cNvSpPr/>
          <p:nvPr/>
        </p:nvSpPr>
        <p:spPr>
          <a:xfrm>
            <a:off x="4341876" y="1303574"/>
            <a:ext cx="486156" cy="486156"/>
          </a:xfrm>
          <a:prstGeom prst="rect">
            <a:avLst/>
          </a:prstGeom>
          <a:ln w="11049">
            <a:solidFill>
              <a:srgbClr val="201E1D">
                <a:alpha val="40000"/>
              </a:srgbClr>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85513" y="1447211"/>
            <a:ext cx="198882" cy="198882"/>
          </a:xfrm>
          <a:prstGeom prst="rect">
            <a:avLst/>
          </a:prstGeom>
        </p:spPr>
      </p:pic>
      <p:sp>
        <p:nvSpPr>
          <p:cNvPr id="11" name="Text 7"/>
          <p:cNvSpPr/>
          <p:nvPr/>
        </p:nvSpPr>
        <p:spPr>
          <a:xfrm>
            <a:off x="1005078" y="2115675"/>
            <a:ext cx="856363"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201E1D"/>
                </a:solidFill>
                <a:latin typeface="Archivo" pitchFamily="34" charset="0"/>
                <a:ea typeface="Archivo" pitchFamily="34" charset="-122"/>
                <a:cs typeface="Archivo" pitchFamily="34" charset="-120"/>
              </a:rPr>
              <a:t>THIS WEEK</a:t>
            </a:r>
            <a:endParaRPr lang="en-US" sz="914" dirty="0"/>
          </a:p>
        </p:txBody>
      </p:sp>
      <p:sp>
        <p:nvSpPr>
          <p:cNvPr id="12" name="Text 8"/>
          <p:cNvSpPr/>
          <p:nvPr/>
        </p:nvSpPr>
        <p:spPr>
          <a:xfrm>
            <a:off x="3656579" y="2110151"/>
            <a:ext cx="1247653"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7D7979"/>
                </a:solidFill>
                <a:latin typeface="Archivo" pitchFamily="34" charset="0"/>
                <a:ea typeface="Archivo" pitchFamily="34" charset="-122"/>
                <a:cs typeface="Archivo" pitchFamily="34" charset="-120"/>
              </a:rPr>
              <a:t>6 · 13.11 km · 4:03:54</a:t>
            </a:r>
            <a:endParaRPr lang="en-US" sz="957" dirty="0"/>
          </a:p>
        </p:txBody>
      </p:sp>
      <p:sp>
        <p:nvSpPr>
          <p:cNvPr id="13" name="Shape 9"/>
          <p:cNvSpPr/>
          <p:nvPr/>
        </p:nvSpPr>
        <p:spPr>
          <a:xfrm>
            <a:off x="1005078" y="2375845"/>
            <a:ext cx="3822954" cy="22098"/>
          </a:xfrm>
          <a:prstGeom prst="rect">
            <a:avLst/>
          </a:prstGeom>
          <a:solidFill>
            <a:srgbClr val="201E1D">
              <a:alpha val="40000"/>
            </a:srgbClr>
          </a:solidFill>
          <a:ln/>
        </p:spPr>
      </p:sp>
      <p:sp>
        <p:nvSpPr>
          <p:cNvPr id="14" name="Shape 10"/>
          <p:cNvSpPr/>
          <p:nvPr/>
        </p:nvSpPr>
        <p:spPr>
          <a:xfrm>
            <a:off x="1005078" y="3413328"/>
            <a:ext cx="3822954" cy="11049"/>
          </a:xfrm>
          <a:prstGeom prst="rect">
            <a:avLst/>
          </a:prstGeom>
          <a:solidFill>
            <a:srgbClr val="201E1D">
              <a:alpha val="18000"/>
            </a:srgbClr>
          </a:solidFill>
          <a:ln/>
        </p:spPr>
      </p:sp>
      <p:sp>
        <p:nvSpPr>
          <p:cNvPr id="15" name="Shape 11"/>
          <p:cNvSpPr/>
          <p:nvPr/>
        </p:nvSpPr>
        <p:spPr>
          <a:xfrm>
            <a:off x="1005078" y="2651465"/>
            <a:ext cx="508254" cy="508254"/>
          </a:xfrm>
          <a:prstGeom prst="rect">
            <a:avLst/>
          </a:prstGeom>
          <a:solidFill>
            <a:srgbClr val="A8420C"/>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2142" y="2778529"/>
            <a:ext cx="254127" cy="254127"/>
          </a:xfrm>
          <a:prstGeom prst="rect">
            <a:avLst/>
          </a:prstGeom>
        </p:spPr>
      </p:pic>
      <p:sp>
        <p:nvSpPr>
          <p:cNvPr id="17" name="Text 12"/>
          <p:cNvSpPr/>
          <p:nvPr/>
        </p:nvSpPr>
        <p:spPr>
          <a:xfrm>
            <a:off x="1668018" y="2563678"/>
            <a:ext cx="2952258"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A8420C"/>
                </a:solidFill>
                <a:latin typeface="Archivo" pitchFamily="34" charset="0"/>
                <a:ea typeface="Archivo" pitchFamily="34" charset="-122"/>
                <a:cs typeface="Archivo" pitchFamily="34" charset="-120"/>
              </a:rPr>
              <a:t>TRACK RUNNING</a:t>
            </a:r>
            <a:endParaRPr lang="en-US" sz="914" dirty="0"/>
          </a:p>
        </p:txBody>
      </p:sp>
      <p:sp>
        <p:nvSpPr>
          <p:cNvPr id="18" name="Text 13"/>
          <p:cNvSpPr/>
          <p:nvPr/>
        </p:nvSpPr>
        <p:spPr>
          <a:xfrm>
            <a:off x="1668018" y="2743483"/>
            <a:ext cx="2952258"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5.06 km · 29:35</a:t>
            </a:r>
            <a:endParaRPr lang="en-US" sz="1827" dirty="0"/>
          </a:p>
        </p:txBody>
      </p:sp>
      <p:sp>
        <p:nvSpPr>
          <p:cNvPr id="19" name="Text 14"/>
          <p:cNvSpPr/>
          <p:nvPr/>
        </p:nvSpPr>
        <p:spPr>
          <a:xfrm>
            <a:off x="1668018" y="3033519"/>
            <a:ext cx="2952258"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5:51 /km · 170 bpm · 366 kcal</a:t>
            </a:r>
            <a:endParaRPr lang="en-US" sz="1087" dirty="0"/>
          </a:p>
        </p:txBody>
      </p:sp>
      <p:sp>
        <p:nvSpPr>
          <p:cNvPr id="20" name="Text 15"/>
          <p:cNvSpPr/>
          <p:nvPr/>
        </p:nvSpPr>
        <p:spPr>
          <a:xfrm>
            <a:off x="4430375" y="2734074"/>
            <a:ext cx="397657"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Thu 09:21</a:t>
            </a:r>
            <a:endParaRPr lang="en-US" sz="1000" dirty="0"/>
          </a:p>
        </p:txBody>
      </p:sp>
      <p:sp>
        <p:nvSpPr>
          <p:cNvPr id="21" name="Shape 16"/>
          <p:cNvSpPr/>
          <p:nvPr/>
        </p:nvSpPr>
        <p:spPr>
          <a:xfrm>
            <a:off x="1005078" y="4439763"/>
            <a:ext cx="3822954" cy="11049"/>
          </a:xfrm>
          <a:prstGeom prst="rect">
            <a:avLst/>
          </a:prstGeom>
          <a:solidFill>
            <a:srgbClr val="201E1D">
              <a:alpha val="18000"/>
            </a:srgbClr>
          </a:solidFill>
          <a:ln/>
        </p:spPr>
      </p:sp>
      <p:sp>
        <p:nvSpPr>
          <p:cNvPr id="22" name="Shape 17"/>
          <p:cNvSpPr/>
          <p:nvPr/>
        </p:nvSpPr>
        <p:spPr>
          <a:xfrm>
            <a:off x="1005078" y="3677900"/>
            <a:ext cx="508254" cy="508254"/>
          </a:xfrm>
          <a:prstGeom prst="rect">
            <a:avLst/>
          </a:prstGeom>
          <a:solidFill>
            <a:srgbClr val="8A6A12"/>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2142" y="3804964"/>
            <a:ext cx="254127" cy="254127"/>
          </a:xfrm>
          <a:prstGeom prst="rect">
            <a:avLst/>
          </a:prstGeom>
        </p:spPr>
      </p:pic>
      <p:sp>
        <p:nvSpPr>
          <p:cNvPr id="24" name="Text 18"/>
          <p:cNvSpPr/>
          <p:nvPr/>
        </p:nvSpPr>
        <p:spPr>
          <a:xfrm>
            <a:off x="1668018" y="3590112"/>
            <a:ext cx="2952068"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8A6A12"/>
                </a:solidFill>
                <a:latin typeface="Archivo" pitchFamily="34" charset="0"/>
                <a:ea typeface="Archivo" pitchFamily="34" charset="-122"/>
                <a:cs typeface="Archivo" pitchFamily="34" charset="-120"/>
              </a:rPr>
              <a:t>TREADMILL RUNNING</a:t>
            </a:r>
            <a:endParaRPr lang="en-US" sz="914" dirty="0"/>
          </a:p>
        </p:txBody>
      </p:sp>
      <p:sp>
        <p:nvSpPr>
          <p:cNvPr id="25" name="Text 19"/>
          <p:cNvSpPr/>
          <p:nvPr/>
        </p:nvSpPr>
        <p:spPr>
          <a:xfrm>
            <a:off x="1668018" y="3769918"/>
            <a:ext cx="2952068"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2.41 km · 18:31</a:t>
            </a:r>
            <a:endParaRPr lang="en-US" sz="1827" dirty="0"/>
          </a:p>
        </p:txBody>
      </p:sp>
      <p:sp>
        <p:nvSpPr>
          <p:cNvPr id="26" name="Text 20"/>
          <p:cNvSpPr/>
          <p:nvPr/>
        </p:nvSpPr>
        <p:spPr>
          <a:xfrm>
            <a:off x="1668018" y="4059954"/>
            <a:ext cx="2952068"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7:41 /km · 133 bpm · 162 kcal</a:t>
            </a:r>
            <a:endParaRPr lang="en-US" sz="1087" dirty="0"/>
          </a:p>
        </p:txBody>
      </p:sp>
      <p:sp>
        <p:nvSpPr>
          <p:cNvPr id="27" name="Text 21"/>
          <p:cNvSpPr/>
          <p:nvPr/>
        </p:nvSpPr>
        <p:spPr>
          <a:xfrm>
            <a:off x="4430203" y="3760509"/>
            <a:ext cx="397829"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Tue 13:28</a:t>
            </a:r>
            <a:endParaRPr lang="en-US" sz="1000" dirty="0"/>
          </a:p>
        </p:txBody>
      </p:sp>
      <p:sp>
        <p:nvSpPr>
          <p:cNvPr id="28" name="Shape 22"/>
          <p:cNvSpPr/>
          <p:nvPr/>
        </p:nvSpPr>
        <p:spPr>
          <a:xfrm>
            <a:off x="1005078" y="5466198"/>
            <a:ext cx="3822954" cy="11049"/>
          </a:xfrm>
          <a:prstGeom prst="rect">
            <a:avLst/>
          </a:prstGeom>
          <a:solidFill>
            <a:srgbClr val="201E1D">
              <a:alpha val="18000"/>
            </a:srgbClr>
          </a:solidFill>
          <a:ln/>
        </p:spPr>
      </p:sp>
      <p:sp>
        <p:nvSpPr>
          <p:cNvPr id="29" name="Shape 23"/>
          <p:cNvSpPr/>
          <p:nvPr/>
        </p:nvSpPr>
        <p:spPr>
          <a:xfrm>
            <a:off x="1005078" y="4704335"/>
            <a:ext cx="508254" cy="508254"/>
          </a:xfrm>
          <a:prstGeom prst="rect">
            <a:avLst/>
          </a:prstGeom>
          <a:solidFill>
            <a:srgbClr val="2B5C78"/>
          </a:solidFill>
          <a:ln/>
        </p:spPr>
      </p:sp>
      <p:pic>
        <p:nvPicPr>
          <p:cNvPr id="3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2142" y="4831398"/>
            <a:ext cx="254127" cy="254127"/>
          </a:xfrm>
          <a:prstGeom prst="rect">
            <a:avLst/>
          </a:prstGeom>
        </p:spPr>
      </p:pic>
      <p:sp>
        <p:nvSpPr>
          <p:cNvPr id="31" name="Text 24"/>
          <p:cNvSpPr/>
          <p:nvPr/>
        </p:nvSpPr>
        <p:spPr>
          <a:xfrm>
            <a:off x="1668018" y="4616547"/>
            <a:ext cx="2954632"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2B5C78"/>
                </a:solidFill>
                <a:latin typeface="Archivo" pitchFamily="34" charset="0"/>
                <a:ea typeface="Archivo" pitchFamily="34" charset="-122"/>
                <a:cs typeface="Archivo" pitchFamily="34" charset="-120"/>
              </a:rPr>
              <a:t>INDOOR CYCLING</a:t>
            </a:r>
            <a:endParaRPr lang="en-US" sz="914" dirty="0"/>
          </a:p>
        </p:txBody>
      </p:sp>
      <p:sp>
        <p:nvSpPr>
          <p:cNvPr id="32" name="Text 25"/>
          <p:cNvSpPr/>
          <p:nvPr/>
        </p:nvSpPr>
        <p:spPr>
          <a:xfrm>
            <a:off x="1668018" y="4796352"/>
            <a:ext cx="2954632"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10:27</a:t>
            </a:r>
            <a:endParaRPr lang="en-US" sz="1827" dirty="0"/>
          </a:p>
        </p:txBody>
      </p:sp>
      <p:sp>
        <p:nvSpPr>
          <p:cNvPr id="33" name="Text 26"/>
          <p:cNvSpPr/>
          <p:nvPr/>
        </p:nvSpPr>
        <p:spPr>
          <a:xfrm>
            <a:off x="1668018" y="5086388"/>
            <a:ext cx="2954632"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123 bpm · 82 kcal · Recovery</a:t>
            </a:r>
            <a:endParaRPr lang="en-US" sz="1087" dirty="0"/>
          </a:p>
        </p:txBody>
      </p:sp>
      <p:sp>
        <p:nvSpPr>
          <p:cNvPr id="34" name="Text 27"/>
          <p:cNvSpPr/>
          <p:nvPr/>
        </p:nvSpPr>
        <p:spPr>
          <a:xfrm>
            <a:off x="4432533" y="4786943"/>
            <a:ext cx="395499"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Mon 12:04</a:t>
            </a:r>
            <a:endParaRPr lang="en-US" sz="1000" dirty="0"/>
          </a:p>
        </p:txBody>
      </p:sp>
      <p:sp>
        <p:nvSpPr>
          <p:cNvPr id="35" name="Shape 28"/>
          <p:cNvSpPr/>
          <p:nvPr/>
        </p:nvSpPr>
        <p:spPr>
          <a:xfrm>
            <a:off x="1005078" y="6492633"/>
            <a:ext cx="3822954" cy="11049"/>
          </a:xfrm>
          <a:prstGeom prst="rect">
            <a:avLst/>
          </a:prstGeom>
          <a:solidFill>
            <a:srgbClr val="201E1D">
              <a:alpha val="18000"/>
            </a:srgbClr>
          </a:solidFill>
          <a:ln/>
        </p:spPr>
      </p:sp>
      <p:sp>
        <p:nvSpPr>
          <p:cNvPr id="36" name="Shape 29"/>
          <p:cNvSpPr/>
          <p:nvPr/>
        </p:nvSpPr>
        <p:spPr>
          <a:xfrm>
            <a:off x="1005078" y="5730770"/>
            <a:ext cx="508254" cy="508254"/>
          </a:xfrm>
          <a:prstGeom prst="rect">
            <a:avLst/>
          </a:prstGeom>
          <a:solidFill>
            <a:srgbClr val="4A3D6B"/>
          </a:solidFill>
          <a:ln/>
        </p:spPr>
      </p:sp>
      <p:pic>
        <p:nvPicPr>
          <p:cNvPr id="3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32142" y="5857833"/>
            <a:ext cx="254127" cy="254127"/>
          </a:xfrm>
          <a:prstGeom prst="rect">
            <a:avLst/>
          </a:prstGeom>
        </p:spPr>
      </p:pic>
      <p:sp>
        <p:nvSpPr>
          <p:cNvPr id="38" name="Text 30"/>
          <p:cNvSpPr/>
          <p:nvPr/>
        </p:nvSpPr>
        <p:spPr>
          <a:xfrm>
            <a:off x="1668018" y="5642982"/>
            <a:ext cx="2958905"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4A3D6B"/>
                </a:solidFill>
                <a:latin typeface="Archivo" pitchFamily="34" charset="0"/>
                <a:ea typeface="Archivo" pitchFamily="34" charset="-122"/>
                <a:cs typeface="Archivo" pitchFamily="34" charset="-120"/>
              </a:rPr>
              <a:t>STRENGTH TRAINING</a:t>
            </a:r>
            <a:endParaRPr lang="en-US" sz="914" dirty="0"/>
          </a:p>
        </p:txBody>
      </p:sp>
      <p:sp>
        <p:nvSpPr>
          <p:cNvPr id="39" name="Text 31"/>
          <p:cNvSpPr/>
          <p:nvPr/>
        </p:nvSpPr>
        <p:spPr>
          <a:xfrm>
            <a:off x="1668018" y="5822787"/>
            <a:ext cx="2958905"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58:42 · 7 sets</a:t>
            </a:r>
            <a:endParaRPr lang="en-US" sz="1827" dirty="0"/>
          </a:p>
        </p:txBody>
      </p:sp>
      <p:sp>
        <p:nvSpPr>
          <p:cNvPr id="40" name="Text 32"/>
          <p:cNvSpPr/>
          <p:nvPr/>
        </p:nvSpPr>
        <p:spPr>
          <a:xfrm>
            <a:off x="1668018" y="6112823"/>
            <a:ext cx="2958905"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45 reps · 108 bpm · 288 kcal</a:t>
            </a:r>
            <a:endParaRPr lang="en-US" sz="1087" dirty="0"/>
          </a:p>
        </p:txBody>
      </p:sp>
      <p:sp>
        <p:nvSpPr>
          <p:cNvPr id="41" name="Text 33"/>
          <p:cNvSpPr/>
          <p:nvPr/>
        </p:nvSpPr>
        <p:spPr>
          <a:xfrm>
            <a:off x="4436418" y="5813378"/>
            <a:ext cx="391614"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Mon 11:05</a:t>
            </a:r>
            <a:endParaRPr lang="en-US" sz="1000" dirty="0"/>
          </a:p>
        </p:txBody>
      </p:sp>
      <p:sp>
        <p:nvSpPr>
          <p:cNvPr id="42" name="Shape 34"/>
          <p:cNvSpPr/>
          <p:nvPr/>
        </p:nvSpPr>
        <p:spPr>
          <a:xfrm>
            <a:off x="1005078" y="7519068"/>
            <a:ext cx="3822954" cy="11049"/>
          </a:xfrm>
          <a:prstGeom prst="rect">
            <a:avLst/>
          </a:prstGeom>
          <a:solidFill>
            <a:srgbClr val="201E1D">
              <a:alpha val="18000"/>
            </a:srgbClr>
          </a:solidFill>
          <a:ln/>
        </p:spPr>
      </p:sp>
      <p:sp>
        <p:nvSpPr>
          <p:cNvPr id="43" name="Shape 35"/>
          <p:cNvSpPr/>
          <p:nvPr/>
        </p:nvSpPr>
        <p:spPr>
          <a:xfrm>
            <a:off x="1005078" y="6757204"/>
            <a:ext cx="508254" cy="508254"/>
          </a:xfrm>
          <a:prstGeom prst="rect">
            <a:avLst/>
          </a:prstGeom>
          <a:solidFill>
            <a:srgbClr val="EC3013"/>
          </a:solidFill>
          <a:ln/>
        </p:spPr>
      </p:sp>
      <p:pic>
        <p:nvPicPr>
          <p:cNvPr id="4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32142" y="6884268"/>
            <a:ext cx="254127" cy="254127"/>
          </a:xfrm>
          <a:prstGeom prst="rect">
            <a:avLst/>
          </a:prstGeom>
        </p:spPr>
      </p:pic>
      <p:sp>
        <p:nvSpPr>
          <p:cNvPr id="45" name="Text 36"/>
          <p:cNvSpPr/>
          <p:nvPr/>
        </p:nvSpPr>
        <p:spPr>
          <a:xfrm>
            <a:off x="1668018" y="6669417"/>
            <a:ext cx="2951309"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AE1800"/>
                </a:solidFill>
                <a:latin typeface="Archivo" pitchFamily="34" charset="0"/>
                <a:ea typeface="Archivo" pitchFamily="34" charset="-122"/>
                <a:cs typeface="Archivo" pitchFamily="34" charset="-120"/>
              </a:rPr>
              <a:t>RUNNING</a:t>
            </a:r>
            <a:endParaRPr lang="en-US" sz="914" dirty="0"/>
          </a:p>
        </p:txBody>
      </p:sp>
      <p:sp>
        <p:nvSpPr>
          <p:cNvPr id="46" name="Text 37"/>
          <p:cNvSpPr/>
          <p:nvPr/>
        </p:nvSpPr>
        <p:spPr>
          <a:xfrm>
            <a:off x="1668018" y="6849222"/>
            <a:ext cx="2951309"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5.34 km · 30:16</a:t>
            </a:r>
            <a:endParaRPr lang="en-US" sz="1827" dirty="0"/>
          </a:p>
        </p:txBody>
      </p:sp>
      <p:sp>
        <p:nvSpPr>
          <p:cNvPr id="47" name="Text 38"/>
          <p:cNvSpPr/>
          <p:nvPr/>
        </p:nvSpPr>
        <p:spPr>
          <a:xfrm>
            <a:off x="1668018" y="7139258"/>
            <a:ext cx="2951309"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5:40 /km · 175 bpm · 29 m ↑</a:t>
            </a:r>
            <a:endParaRPr lang="en-US" sz="1087" dirty="0"/>
          </a:p>
        </p:txBody>
      </p:sp>
      <p:sp>
        <p:nvSpPr>
          <p:cNvPr id="48" name="Text 39"/>
          <p:cNvSpPr/>
          <p:nvPr/>
        </p:nvSpPr>
        <p:spPr>
          <a:xfrm>
            <a:off x="4429512" y="6839813"/>
            <a:ext cx="398520"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Sun 08:13</a:t>
            </a:r>
            <a:endParaRPr lang="en-US" sz="1000" dirty="0"/>
          </a:p>
        </p:txBody>
      </p:sp>
      <p:sp>
        <p:nvSpPr>
          <p:cNvPr id="49" name="Shape 40"/>
          <p:cNvSpPr/>
          <p:nvPr/>
        </p:nvSpPr>
        <p:spPr>
          <a:xfrm>
            <a:off x="1005078" y="7783639"/>
            <a:ext cx="508254" cy="508254"/>
          </a:xfrm>
          <a:prstGeom prst="rect">
            <a:avLst/>
          </a:prstGeom>
          <a:solidFill>
            <a:srgbClr val="7A2F52"/>
          </a:solidFill>
          <a:ln/>
        </p:spPr>
      </p:sp>
      <p:pic>
        <p:nvPicPr>
          <p:cNvPr id="5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32142" y="7910703"/>
            <a:ext cx="254127" cy="254127"/>
          </a:xfrm>
          <a:prstGeom prst="rect">
            <a:avLst/>
          </a:prstGeom>
        </p:spPr>
      </p:pic>
      <p:sp>
        <p:nvSpPr>
          <p:cNvPr id="51" name="Text 41"/>
          <p:cNvSpPr/>
          <p:nvPr/>
        </p:nvSpPr>
        <p:spPr>
          <a:xfrm>
            <a:off x="1668018" y="7695852"/>
            <a:ext cx="2947890"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7A2F52"/>
                </a:solidFill>
                <a:latin typeface="Archivo" pitchFamily="34" charset="0"/>
                <a:ea typeface="Archivo" pitchFamily="34" charset="-122"/>
                <a:cs typeface="Archivo" pitchFamily="34" charset="-120"/>
              </a:rPr>
              <a:t>BADMINTON</a:t>
            </a:r>
            <a:endParaRPr lang="en-US" sz="914" dirty="0"/>
          </a:p>
        </p:txBody>
      </p:sp>
      <p:sp>
        <p:nvSpPr>
          <p:cNvPr id="52" name="Text 42"/>
          <p:cNvSpPr/>
          <p:nvPr/>
        </p:nvSpPr>
        <p:spPr>
          <a:xfrm>
            <a:off x="1668018" y="7875656"/>
            <a:ext cx="2947890" cy="328136"/>
          </a:xfrm>
          <a:prstGeom prst="rect">
            <a:avLst/>
          </a:prstGeom>
          <a:noFill/>
          <a:ln/>
        </p:spPr>
        <p:txBody>
          <a:bodyPr wrap="square" lIns="25400" tIns="25400" rIns="25400" bIns="25400" rtlCol="0" anchor="t">
            <a:normAutofit/>
          </a:bodyPr>
          <a:lstStyle/>
          <a:p>
            <a:pPr algn="l" indent="0" marL="0">
              <a:lnSpc>
                <a:spcPct val="114130"/>
              </a:lnSpc>
              <a:buNone/>
            </a:pPr>
            <a:r>
              <a:rPr lang="en-US" sz="1827" b="1" spc="-37" kern="0" dirty="0">
                <a:solidFill>
                  <a:srgbClr val="201E1D"/>
                </a:solidFill>
                <a:latin typeface="Archivo" pitchFamily="34" charset="0"/>
                <a:ea typeface="Archivo" pitchFamily="34" charset="-122"/>
                <a:cs typeface="Archivo" pitchFamily="34" charset="-120"/>
              </a:rPr>
              <a:t>1:16:23</a:t>
            </a:r>
            <a:endParaRPr lang="en-US" sz="1827" dirty="0"/>
          </a:p>
        </p:txBody>
      </p:sp>
      <p:sp>
        <p:nvSpPr>
          <p:cNvPr id="53" name="Text 43"/>
          <p:cNvSpPr/>
          <p:nvPr/>
        </p:nvSpPr>
        <p:spPr>
          <a:xfrm>
            <a:off x="1668018" y="8165693"/>
            <a:ext cx="2947890" cy="252175"/>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146 bpm · 775 kcal · Speed</a:t>
            </a:r>
            <a:endParaRPr lang="en-US" sz="1087" dirty="0"/>
          </a:p>
        </p:txBody>
      </p:sp>
      <p:sp>
        <p:nvSpPr>
          <p:cNvPr id="54" name="Text 44"/>
          <p:cNvSpPr/>
          <p:nvPr/>
        </p:nvSpPr>
        <p:spPr>
          <a:xfrm>
            <a:off x="4426404" y="7866248"/>
            <a:ext cx="401628" cy="381137"/>
          </a:xfrm>
          <a:prstGeom prst="rect">
            <a:avLst/>
          </a:prstGeom>
          <a:noFill/>
          <a:ln/>
        </p:spPr>
        <p:txBody>
          <a:bodyPr wrap="square" lIns="25400" tIns="25400" rIns="25400" bIns="25400" rtlCol="0" anchor="t">
            <a:normAutofit/>
          </a:bodyPr>
          <a:lstStyle/>
          <a:p>
            <a:pPr algn="r" indent="0" marL="0">
              <a:lnSpc>
                <a:spcPct val="124200"/>
              </a:lnSpc>
              <a:buNone/>
            </a:pPr>
            <a:r>
              <a:rPr lang="en-US" sz="1000" dirty="0">
                <a:solidFill>
                  <a:srgbClr val="7D7979"/>
                </a:solidFill>
                <a:latin typeface="Archivo" pitchFamily="34" charset="0"/>
                <a:ea typeface="Archivo" pitchFamily="34" charset="-122"/>
                <a:cs typeface="Archivo" pitchFamily="34" charset="-120"/>
              </a:rPr>
              <a:t>Sat 20:07</a:t>
            </a:r>
            <a:endParaRPr lang="en-US" sz="1000" dirty="0"/>
          </a:p>
        </p:txBody>
      </p:sp>
      <p:sp>
        <p:nvSpPr>
          <p:cNvPr id="55" name="Text 45"/>
          <p:cNvSpPr/>
          <p:nvPr/>
        </p:nvSpPr>
        <p:spPr>
          <a:xfrm>
            <a:off x="1005078" y="8772007"/>
            <a:ext cx="792572"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201E1D"/>
                </a:solidFill>
                <a:latin typeface="Archivo" pitchFamily="34" charset="0"/>
                <a:ea typeface="Archivo" pitchFamily="34" charset="-122"/>
                <a:cs typeface="Archivo" pitchFamily="34" charset="-120"/>
              </a:rPr>
              <a:t>JULY 2026</a:t>
            </a:r>
            <a:endParaRPr lang="en-US" sz="914" dirty="0"/>
          </a:p>
        </p:txBody>
      </p:sp>
      <p:sp>
        <p:nvSpPr>
          <p:cNvPr id="56" name="Text 46"/>
          <p:cNvSpPr/>
          <p:nvPr/>
        </p:nvSpPr>
        <p:spPr>
          <a:xfrm>
            <a:off x="4096122" y="8766482"/>
            <a:ext cx="80811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7D7979"/>
                </a:solidFill>
                <a:latin typeface="Archivo" pitchFamily="34" charset="0"/>
                <a:ea typeface="Archivo" pitchFamily="34" charset="-122"/>
                <a:cs typeface="Archivo" pitchFamily="34" charset="-120"/>
              </a:rPr>
              <a:t>21 · 148.6 km</a:t>
            </a:r>
            <a:endParaRPr lang="en-US" sz="957" dirty="0"/>
          </a:p>
        </p:txBody>
      </p:sp>
      <p:sp>
        <p:nvSpPr>
          <p:cNvPr id="57" name="Shape 47"/>
          <p:cNvSpPr/>
          <p:nvPr/>
        </p:nvSpPr>
        <p:spPr>
          <a:xfrm>
            <a:off x="1005078" y="9032176"/>
            <a:ext cx="3822954" cy="22098"/>
          </a:xfrm>
          <a:prstGeom prst="rect">
            <a:avLst/>
          </a:prstGeom>
          <a:solidFill>
            <a:srgbClr val="201E1D">
              <a:alpha val="40000"/>
            </a:srgbClr>
          </a:solidFill>
          <a:ln/>
        </p:spPr>
      </p:sp>
      <p:sp>
        <p:nvSpPr>
          <p:cNvPr id="58" name="Shape 48"/>
          <p:cNvSpPr/>
          <p:nvPr/>
        </p:nvSpPr>
        <p:spPr>
          <a:xfrm>
            <a:off x="1005078" y="9175813"/>
            <a:ext cx="441960" cy="441960"/>
          </a:xfrm>
          <a:prstGeom prst="rect">
            <a:avLst/>
          </a:prstGeom>
          <a:solidFill>
            <a:srgbClr val="2F6B4B">
              <a:alpha val="45000"/>
            </a:srgbClr>
          </a:solidFill>
          <a:ln/>
        </p:spPr>
      </p:sp>
      <p:pic>
        <p:nvPicPr>
          <p:cNvPr id="59" name="Image 8" descr="preencoded.png">    </p:cNvPr>
          <p:cNvPicPr>
            <a:picLocks noChangeAspect="1"/>
          </p:cNvPicPr>
          <p:nvPr/>
        </p:nvPicPr>
        <p:blipFill>
          <a:blip r:embed="rId17">
            <a:alphaModFix amt="45000"/>
            <a:extLst>
              <a:ext uri="{96DAC541-7B7A-43D3-8B79-37D633B846F1}">
                <asvg:svgBlip xmlns:asvg="http://schemas.microsoft.com/office/drawing/2016/SVG/main" r:embed="rId18"/>
              </a:ext>
            </a:extLst>
          </a:blip>
          <a:stretch>
            <a:fillRect/>
          </a:stretch>
        </p:blipFill>
        <p:spPr>
          <a:xfrm>
            <a:off x="1098994" y="9269730"/>
            <a:ext cx="254127" cy="254127"/>
          </a:xfrm>
          <a:prstGeom prst="rect">
            <a:avLst/>
          </a:prstGeom>
        </p:spPr>
      </p:pic>
      <p:sp>
        <p:nvSpPr>
          <p:cNvPr id="60" name="Text 49"/>
          <p:cNvSpPr/>
          <p:nvPr/>
        </p:nvSpPr>
        <p:spPr>
          <a:xfrm>
            <a:off x="1601724" y="9306848"/>
            <a:ext cx="3548938"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2F6B4B">
                    <a:alpha val="45000"/>
                  </a:srgbClr>
                </a:solidFill>
                <a:latin typeface="Archivo" pitchFamily="34" charset="0"/>
                <a:ea typeface="Archivo" pitchFamily="34" charset="-122"/>
                <a:cs typeface="Archivo" pitchFamily="34" charset="-120"/>
              </a:rPr>
              <a:t>ROAD BIKING</a:t>
            </a:r>
            <a:endParaRPr lang="en-US" sz="914" dirty="0"/>
          </a:p>
        </p:txBody>
      </p:sp>
      <p:sp>
        <p:nvSpPr>
          <p:cNvPr id="61" name="Text 50"/>
          <p:cNvSpPr/>
          <p:nvPr/>
        </p:nvSpPr>
        <p:spPr>
          <a:xfrm>
            <a:off x="6000750" y="1700287"/>
            <a:ext cx="12677775"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SCREEN 01</a:t>
            </a:r>
            <a:endParaRPr lang="en-US" sz="1800" dirty="0"/>
          </a:p>
        </p:txBody>
      </p:sp>
      <p:sp>
        <p:nvSpPr>
          <p:cNvPr id="62" name="Text 51"/>
          <p:cNvSpPr/>
          <p:nvPr/>
        </p:nvSpPr>
        <p:spPr>
          <a:xfrm>
            <a:off x="6000750" y="2245072"/>
            <a:ext cx="12677775" cy="790947"/>
          </a:xfrm>
          <a:prstGeom prst="rect">
            <a:avLst/>
          </a:prstGeom>
          <a:noFill/>
          <a:ln/>
        </p:spPr>
        <p:txBody>
          <a:bodyPr wrap="square" lIns="25400" tIns="25400" rIns="25400" bIns="25400" rtlCol="0" anchor="t">
            <a:normAutofit/>
          </a:bodyPr>
          <a:lstStyle/>
          <a:p>
            <a:pPr algn="l" indent="0" marL="0">
              <a:lnSpc>
                <a:spcPct val="95806"/>
              </a:lnSpc>
              <a:buNone/>
            </a:pPr>
            <a:r>
              <a:rPr lang="en-US" sz="5700" b="1" spc="-171" kern="0" dirty="0">
                <a:solidFill>
                  <a:srgbClr val="201E1D"/>
                </a:solidFill>
                <a:latin typeface="Archivo" pitchFamily="34" charset="0"/>
                <a:ea typeface="Archivo" pitchFamily="34" charset="-122"/>
                <a:cs typeface="Archivo" pitchFamily="34" charset="-120"/>
              </a:rPr>
              <a:t>Activity list</a:t>
            </a:r>
            <a:endParaRPr lang="en-US" sz="5700" dirty="0"/>
          </a:p>
        </p:txBody>
      </p:sp>
      <p:sp>
        <p:nvSpPr>
          <p:cNvPr id="63" name="Shape 52"/>
          <p:cNvSpPr/>
          <p:nvPr/>
        </p:nvSpPr>
        <p:spPr>
          <a:xfrm>
            <a:off x="6000750" y="3417019"/>
            <a:ext cx="11525250" cy="19050"/>
          </a:xfrm>
          <a:prstGeom prst="rect">
            <a:avLst/>
          </a:prstGeom>
          <a:solidFill>
            <a:srgbClr val="201E1D">
              <a:alpha val="25000"/>
            </a:srgbClr>
          </a:solidFill>
          <a:ln/>
        </p:spPr>
      </p:sp>
      <p:sp>
        <p:nvSpPr>
          <p:cNvPr id="64" name="Text 53"/>
          <p:cNvSpPr/>
          <p:nvPr/>
        </p:nvSpPr>
        <p:spPr>
          <a:xfrm>
            <a:off x="6000750" y="3683719"/>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GROUPING</a:t>
            </a:r>
            <a:endParaRPr lang="en-US" sz="1650" dirty="0"/>
          </a:p>
        </p:txBody>
      </p:sp>
      <p:sp>
        <p:nvSpPr>
          <p:cNvPr id="65" name="Text 54"/>
          <p:cNvSpPr/>
          <p:nvPr/>
        </p:nvSpPr>
        <p:spPr>
          <a:xfrm>
            <a:off x="8401050" y="3683719"/>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This week first, then by month. Each header carries a count and a distance total.</a:t>
            </a:r>
            <a:endParaRPr lang="en-US" sz="2100" dirty="0"/>
          </a:p>
        </p:txBody>
      </p:sp>
      <p:sp>
        <p:nvSpPr>
          <p:cNvPr id="66" name="Shape 55"/>
          <p:cNvSpPr/>
          <p:nvPr/>
        </p:nvSpPr>
        <p:spPr>
          <a:xfrm>
            <a:off x="6000750" y="4704680"/>
            <a:ext cx="11525250" cy="19050"/>
          </a:xfrm>
          <a:prstGeom prst="rect">
            <a:avLst/>
          </a:prstGeom>
          <a:solidFill>
            <a:srgbClr val="201E1D">
              <a:alpha val="25000"/>
            </a:srgbClr>
          </a:solidFill>
          <a:ln/>
        </p:spPr>
      </p:sp>
      <p:sp>
        <p:nvSpPr>
          <p:cNvPr id="67" name="Text 56"/>
          <p:cNvSpPr/>
          <p:nvPr/>
        </p:nvSpPr>
        <p:spPr>
          <a:xfrm>
            <a:off x="6000750" y="4971380"/>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ROW</a:t>
            </a:r>
            <a:endParaRPr lang="en-US" sz="1650" dirty="0"/>
          </a:p>
        </p:txBody>
      </p:sp>
      <p:sp>
        <p:nvSpPr>
          <p:cNvPr id="68" name="Text 57"/>
          <p:cNvSpPr/>
          <p:nvPr/>
        </p:nvSpPr>
        <p:spPr>
          <a:xfrm>
            <a:off x="8401050" y="4971380"/>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46px sport tile, headline number, quiet metrics line, day and time flush right. 76px tall.</a:t>
            </a:r>
            <a:endParaRPr lang="en-US" sz="2100" dirty="0"/>
          </a:p>
        </p:txBody>
      </p:sp>
      <p:sp>
        <p:nvSpPr>
          <p:cNvPr id="69" name="Shape 58"/>
          <p:cNvSpPr/>
          <p:nvPr/>
        </p:nvSpPr>
        <p:spPr>
          <a:xfrm>
            <a:off x="6000750" y="5992341"/>
            <a:ext cx="11525250" cy="19050"/>
          </a:xfrm>
          <a:prstGeom prst="rect">
            <a:avLst/>
          </a:prstGeom>
          <a:solidFill>
            <a:srgbClr val="201E1D">
              <a:alpha val="25000"/>
            </a:srgbClr>
          </a:solidFill>
          <a:ln/>
        </p:spPr>
      </p:sp>
      <p:sp>
        <p:nvSpPr>
          <p:cNvPr id="70" name="Text 59"/>
          <p:cNvSpPr/>
          <p:nvPr/>
        </p:nvSpPr>
        <p:spPr>
          <a:xfrm>
            <a:off x="6000750" y="6259041"/>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HEADLINE</a:t>
            </a:r>
            <a:endParaRPr lang="en-US" sz="1650" dirty="0"/>
          </a:p>
        </p:txBody>
      </p:sp>
      <p:sp>
        <p:nvSpPr>
          <p:cNvPr id="71" name="Text 60"/>
          <p:cNvSpPr/>
          <p:nvPr/>
        </p:nvSpPr>
        <p:spPr>
          <a:xfrm>
            <a:off x="8401050" y="6259041"/>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Distance and duration where they exist; duration alone for badminton and indoor cycling; sets for strength.</a:t>
            </a:r>
            <a:endParaRPr lang="en-US" sz="2100" dirty="0"/>
          </a:p>
        </p:txBody>
      </p:sp>
      <p:sp>
        <p:nvSpPr>
          <p:cNvPr id="72" name="Shape 61"/>
          <p:cNvSpPr/>
          <p:nvPr/>
        </p:nvSpPr>
        <p:spPr>
          <a:xfrm>
            <a:off x="6000750" y="8567663"/>
            <a:ext cx="11525250" cy="19050"/>
          </a:xfrm>
          <a:prstGeom prst="rect">
            <a:avLst/>
          </a:prstGeom>
          <a:solidFill>
            <a:srgbClr val="201E1D">
              <a:alpha val="25000"/>
            </a:srgbClr>
          </a:solidFill>
          <a:ln/>
        </p:spPr>
      </p:sp>
      <p:sp>
        <p:nvSpPr>
          <p:cNvPr id="73" name="Shape 62"/>
          <p:cNvSpPr/>
          <p:nvPr/>
        </p:nvSpPr>
        <p:spPr>
          <a:xfrm>
            <a:off x="6000750" y="7280002"/>
            <a:ext cx="11525250" cy="19050"/>
          </a:xfrm>
          <a:prstGeom prst="rect">
            <a:avLst/>
          </a:prstGeom>
          <a:solidFill>
            <a:srgbClr val="201E1D">
              <a:alpha val="25000"/>
            </a:srgbClr>
          </a:solidFill>
          <a:ln/>
        </p:spPr>
      </p:sp>
      <p:sp>
        <p:nvSpPr>
          <p:cNvPr id="74" name="Text 63"/>
          <p:cNvSpPr/>
          <p:nvPr/>
        </p:nvSpPr>
        <p:spPr>
          <a:xfrm>
            <a:off x="6000750" y="7546702"/>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CHROME</a:t>
            </a:r>
            <a:endParaRPr lang="en-US" sz="1650" dirty="0"/>
          </a:p>
        </p:txBody>
      </p:sp>
      <p:sp>
        <p:nvSpPr>
          <p:cNvPr id="75" name="Text 64"/>
          <p:cNvSpPr/>
          <p:nvPr/>
        </p:nvSpPr>
        <p:spPr>
          <a:xfrm>
            <a:off x="8401050" y="7546702"/>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Two 44px targets only: search and theme. No tab bar, no filters until you ask for them.</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762000" y="762000"/>
            <a:ext cx="4788636"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spc="96" kern="0" dirty="0">
                <a:solidFill>
                  <a:srgbClr val="7D7979"/>
                </a:solidFill>
                <a:latin typeface="Archivo" pitchFamily="34" charset="0"/>
                <a:ea typeface="Archivo" pitchFamily="34" charset="-122"/>
                <a:cs typeface="Archivo" pitchFamily="34" charset="-120"/>
              </a:rPr>
              <a:t>ACTIVITY DETAIL · LIGHT</a:t>
            </a:r>
            <a:endParaRPr lang="en-US" sz="957" dirty="0"/>
          </a:p>
        </p:txBody>
      </p:sp>
      <p:sp>
        <p:nvSpPr>
          <p:cNvPr id="3" name="Shape 1"/>
          <p:cNvSpPr/>
          <p:nvPr/>
        </p:nvSpPr>
        <p:spPr>
          <a:xfrm>
            <a:off x="762000" y="1060841"/>
            <a:ext cx="4309110" cy="8706612"/>
          </a:xfrm>
          <a:prstGeom prst="rect">
            <a:avLst/>
          </a:prstGeom>
          <a:solidFill>
            <a:srgbClr val="F3F2F2"/>
          </a:solidFill>
          <a:ln w="22098">
            <a:solidFill>
              <a:srgbClr val="201E1D"/>
            </a:solidFill>
            <a:prstDash val="solid"/>
          </a:ln>
        </p:spPr>
      </p:sp>
      <p:sp>
        <p:nvSpPr>
          <p:cNvPr id="4" name="Shape 2"/>
          <p:cNvSpPr/>
          <p:nvPr/>
        </p:nvSpPr>
        <p:spPr>
          <a:xfrm>
            <a:off x="784098" y="1745879"/>
            <a:ext cx="4264914" cy="11049"/>
          </a:xfrm>
          <a:prstGeom prst="rect">
            <a:avLst/>
          </a:prstGeom>
          <a:solidFill>
            <a:srgbClr val="201E1D">
              <a:alpha val="18000"/>
            </a:srgbClr>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078" y="1314968"/>
            <a:ext cx="198882" cy="198882"/>
          </a:xfrm>
          <a:prstGeom prst="rect">
            <a:avLst/>
          </a:prstGeom>
        </p:spPr>
      </p:pic>
      <p:sp>
        <p:nvSpPr>
          <p:cNvPr id="6" name="Text 3"/>
          <p:cNvSpPr/>
          <p:nvPr/>
        </p:nvSpPr>
        <p:spPr>
          <a:xfrm>
            <a:off x="1292352" y="1324463"/>
            <a:ext cx="879497"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201E1D"/>
                </a:solidFill>
                <a:latin typeface="Archivo" pitchFamily="34" charset="0"/>
                <a:ea typeface="Archivo" pitchFamily="34" charset="-122"/>
                <a:cs typeface="Archivo" pitchFamily="34" charset="-120"/>
              </a:rPr>
              <a:t>ACTIVITIES</a:t>
            </a:r>
            <a:endParaRPr lang="en-US" sz="914"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5233" y="1320492"/>
            <a:ext cx="187833" cy="187833"/>
          </a:xfrm>
          <a:prstGeom prst="rect">
            <a:avLst/>
          </a:prstGeom>
        </p:spPr>
      </p:pic>
      <p:sp>
        <p:nvSpPr>
          <p:cNvPr id="8" name="Shape 4"/>
          <p:cNvSpPr/>
          <p:nvPr/>
        </p:nvSpPr>
        <p:spPr>
          <a:xfrm>
            <a:off x="1005078" y="1933712"/>
            <a:ext cx="464058" cy="464058"/>
          </a:xfrm>
          <a:prstGeom prst="rect">
            <a:avLst/>
          </a:prstGeom>
          <a:solidFill>
            <a:srgbClr val="A8420C"/>
          </a:solidFill>
          <a:ln/>
        </p:spPr>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568" y="2044202"/>
            <a:ext cx="243078" cy="243078"/>
          </a:xfrm>
          <a:prstGeom prst="rect">
            <a:avLst/>
          </a:prstGeom>
        </p:spPr>
      </p:pic>
      <p:sp>
        <p:nvSpPr>
          <p:cNvPr id="10" name="Text 5"/>
          <p:cNvSpPr/>
          <p:nvPr/>
        </p:nvSpPr>
        <p:spPr>
          <a:xfrm>
            <a:off x="1601724" y="1968758"/>
            <a:ext cx="1649132"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A8420C"/>
                </a:solidFill>
                <a:latin typeface="Archivo" pitchFamily="34" charset="0"/>
                <a:ea typeface="Archivo" pitchFamily="34" charset="-122"/>
                <a:cs typeface="Archivo" pitchFamily="34" charset="-120"/>
              </a:rPr>
              <a:t>TRACK RUNNING</a:t>
            </a:r>
            <a:endParaRPr lang="en-US" sz="914" dirty="0"/>
          </a:p>
        </p:txBody>
      </p:sp>
      <p:sp>
        <p:nvSpPr>
          <p:cNvPr id="11" name="Text 6"/>
          <p:cNvSpPr/>
          <p:nvPr/>
        </p:nvSpPr>
        <p:spPr>
          <a:xfrm>
            <a:off x="1601724" y="2148563"/>
            <a:ext cx="1649132"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605D5D"/>
                </a:solidFill>
                <a:latin typeface="Archivo" pitchFamily="34" charset="0"/>
                <a:ea typeface="Archivo" pitchFamily="34" charset="-122"/>
                <a:cs typeface="Archivo" pitchFamily="34" charset="-120"/>
              </a:rPr>
              <a:t>Thu 20 Aug 2026 · 09:21</a:t>
            </a:r>
            <a:endParaRPr lang="en-US" sz="1087" dirty="0"/>
          </a:p>
        </p:txBody>
      </p:sp>
      <p:sp>
        <p:nvSpPr>
          <p:cNvPr id="12" name="Shape 7"/>
          <p:cNvSpPr/>
          <p:nvPr/>
        </p:nvSpPr>
        <p:spPr>
          <a:xfrm>
            <a:off x="1005078" y="2640848"/>
            <a:ext cx="3822954" cy="22098"/>
          </a:xfrm>
          <a:prstGeom prst="rect">
            <a:avLst/>
          </a:prstGeom>
          <a:solidFill>
            <a:srgbClr val="201E1D">
              <a:alpha val="40000"/>
            </a:srgbClr>
          </a:solidFill>
          <a:ln/>
        </p:spPr>
      </p:sp>
      <p:sp>
        <p:nvSpPr>
          <p:cNvPr id="13" name="Shape 8"/>
          <p:cNvSpPr/>
          <p:nvPr/>
        </p:nvSpPr>
        <p:spPr>
          <a:xfrm>
            <a:off x="1005078" y="3666333"/>
            <a:ext cx="3822954" cy="22098"/>
          </a:xfrm>
          <a:prstGeom prst="rect">
            <a:avLst/>
          </a:prstGeom>
          <a:solidFill>
            <a:srgbClr val="201E1D">
              <a:alpha val="40000"/>
            </a:srgbClr>
          </a:solidFill>
          <a:ln/>
        </p:spPr>
      </p:sp>
      <p:sp>
        <p:nvSpPr>
          <p:cNvPr id="14" name="Shape 9"/>
          <p:cNvSpPr/>
          <p:nvPr/>
        </p:nvSpPr>
        <p:spPr>
          <a:xfrm>
            <a:off x="2268289" y="2662946"/>
            <a:ext cx="11049" cy="1003387"/>
          </a:xfrm>
          <a:prstGeom prst="rect">
            <a:avLst/>
          </a:prstGeom>
          <a:solidFill>
            <a:srgbClr val="201E1D">
              <a:alpha val="18000"/>
            </a:srgbClr>
          </a:solidFill>
          <a:ln/>
        </p:spPr>
      </p:sp>
      <p:sp>
        <p:nvSpPr>
          <p:cNvPr id="15" name="Text 10"/>
          <p:cNvSpPr/>
          <p:nvPr/>
        </p:nvSpPr>
        <p:spPr>
          <a:xfrm>
            <a:off x="1005078" y="2817632"/>
            <a:ext cx="1206824"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7D7979"/>
                </a:solidFill>
                <a:latin typeface="Archivo" pitchFamily="34" charset="0"/>
                <a:ea typeface="Archivo" pitchFamily="34" charset="-122"/>
                <a:cs typeface="Archivo" pitchFamily="34" charset="-120"/>
              </a:rPr>
              <a:t>DISTANCE</a:t>
            </a:r>
            <a:endParaRPr lang="en-US" sz="827" dirty="0"/>
          </a:p>
        </p:txBody>
      </p:sp>
      <p:sp>
        <p:nvSpPr>
          <p:cNvPr id="16" name="Text 11"/>
          <p:cNvSpPr/>
          <p:nvPr/>
        </p:nvSpPr>
        <p:spPr>
          <a:xfrm>
            <a:off x="1005078" y="2980259"/>
            <a:ext cx="1206824"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201E1D"/>
                </a:solidFill>
                <a:latin typeface="Archivo" pitchFamily="34" charset="0"/>
                <a:ea typeface="Archivo" pitchFamily="34" charset="-122"/>
                <a:cs typeface="Archivo" pitchFamily="34" charset="-120"/>
              </a:rPr>
              <a:t>5.06</a:t>
            </a:r>
            <a:endParaRPr lang="en-US" sz="2349" dirty="0"/>
          </a:p>
        </p:txBody>
      </p:sp>
      <p:sp>
        <p:nvSpPr>
          <p:cNvPr id="17" name="Text 12"/>
          <p:cNvSpPr/>
          <p:nvPr/>
        </p:nvSpPr>
        <p:spPr>
          <a:xfrm>
            <a:off x="1005078" y="3323296"/>
            <a:ext cx="1206824"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7D7979"/>
                </a:solidFill>
                <a:latin typeface="Archivo" pitchFamily="34" charset="0"/>
                <a:ea typeface="Archivo" pitchFamily="34" charset="-122"/>
                <a:cs typeface="Archivo" pitchFamily="34" charset="-120"/>
              </a:rPr>
              <a:t>km</a:t>
            </a:r>
            <a:endParaRPr lang="en-US" sz="957" dirty="0"/>
          </a:p>
        </p:txBody>
      </p:sp>
      <p:sp>
        <p:nvSpPr>
          <p:cNvPr id="18" name="Shape 13"/>
          <p:cNvSpPr/>
          <p:nvPr/>
        </p:nvSpPr>
        <p:spPr>
          <a:xfrm>
            <a:off x="3542636" y="2662946"/>
            <a:ext cx="11049" cy="1003387"/>
          </a:xfrm>
          <a:prstGeom prst="rect">
            <a:avLst/>
          </a:prstGeom>
          <a:solidFill>
            <a:srgbClr val="201E1D">
              <a:alpha val="18000"/>
            </a:srgbClr>
          </a:solidFill>
          <a:ln/>
        </p:spPr>
      </p:sp>
      <p:sp>
        <p:nvSpPr>
          <p:cNvPr id="19" name="Text 14"/>
          <p:cNvSpPr/>
          <p:nvPr/>
        </p:nvSpPr>
        <p:spPr>
          <a:xfrm>
            <a:off x="2411926" y="2817632"/>
            <a:ext cx="1074322"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7D7979"/>
                </a:solidFill>
                <a:latin typeface="Archivo" pitchFamily="34" charset="0"/>
                <a:ea typeface="Archivo" pitchFamily="34" charset="-122"/>
                <a:cs typeface="Archivo" pitchFamily="34" charset="-120"/>
              </a:rPr>
              <a:t>DURATION</a:t>
            </a:r>
            <a:endParaRPr lang="en-US" sz="827" dirty="0"/>
          </a:p>
        </p:txBody>
      </p:sp>
      <p:sp>
        <p:nvSpPr>
          <p:cNvPr id="20" name="Text 15"/>
          <p:cNvSpPr/>
          <p:nvPr/>
        </p:nvSpPr>
        <p:spPr>
          <a:xfrm>
            <a:off x="2411926" y="2980259"/>
            <a:ext cx="1074322"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201E1D"/>
                </a:solidFill>
                <a:latin typeface="Archivo" pitchFamily="34" charset="0"/>
                <a:ea typeface="Archivo" pitchFamily="34" charset="-122"/>
                <a:cs typeface="Archivo" pitchFamily="34" charset="-120"/>
              </a:rPr>
              <a:t>29:35</a:t>
            </a:r>
            <a:endParaRPr lang="en-US" sz="2349" dirty="0"/>
          </a:p>
        </p:txBody>
      </p:sp>
      <p:sp>
        <p:nvSpPr>
          <p:cNvPr id="21" name="Text 16"/>
          <p:cNvSpPr/>
          <p:nvPr/>
        </p:nvSpPr>
        <p:spPr>
          <a:xfrm>
            <a:off x="2411926" y="3323296"/>
            <a:ext cx="1074322"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7D7979"/>
                </a:solidFill>
                <a:latin typeface="Archivo" pitchFamily="34" charset="0"/>
                <a:ea typeface="Archivo" pitchFamily="34" charset="-122"/>
                <a:cs typeface="Archivo" pitchFamily="34" charset="-120"/>
              </a:rPr>
              <a:t>mm:ss</a:t>
            </a:r>
            <a:endParaRPr lang="en-US" sz="957" dirty="0"/>
          </a:p>
        </p:txBody>
      </p:sp>
      <p:sp>
        <p:nvSpPr>
          <p:cNvPr id="22" name="Text 17"/>
          <p:cNvSpPr/>
          <p:nvPr/>
        </p:nvSpPr>
        <p:spPr>
          <a:xfrm>
            <a:off x="3686273" y="2817632"/>
            <a:ext cx="1217959"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7D7979"/>
                </a:solidFill>
                <a:latin typeface="Archivo" pitchFamily="34" charset="0"/>
                <a:ea typeface="Archivo" pitchFamily="34" charset="-122"/>
                <a:cs typeface="Archivo" pitchFamily="34" charset="-120"/>
              </a:rPr>
              <a:t>AVG PACE</a:t>
            </a:r>
            <a:endParaRPr lang="en-US" sz="827" dirty="0"/>
          </a:p>
        </p:txBody>
      </p:sp>
      <p:sp>
        <p:nvSpPr>
          <p:cNvPr id="23" name="Text 18"/>
          <p:cNvSpPr/>
          <p:nvPr/>
        </p:nvSpPr>
        <p:spPr>
          <a:xfrm>
            <a:off x="3686273" y="2980259"/>
            <a:ext cx="1217959"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201E1D"/>
                </a:solidFill>
                <a:latin typeface="Archivo" pitchFamily="34" charset="0"/>
                <a:ea typeface="Archivo" pitchFamily="34" charset="-122"/>
                <a:cs typeface="Archivo" pitchFamily="34" charset="-120"/>
              </a:rPr>
              <a:t>5:51</a:t>
            </a:r>
            <a:endParaRPr lang="en-US" sz="2349" dirty="0"/>
          </a:p>
        </p:txBody>
      </p:sp>
      <p:sp>
        <p:nvSpPr>
          <p:cNvPr id="24" name="Text 19"/>
          <p:cNvSpPr/>
          <p:nvPr/>
        </p:nvSpPr>
        <p:spPr>
          <a:xfrm>
            <a:off x="3686273" y="3323296"/>
            <a:ext cx="1217959"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7D7979"/>
                </a:solidFill>
                <a:latin typeface="Archivo" pitchFamily="34" charset="0"/>
                <a:ea typeface="Archivo" pitchFamily="34" charset="-122"/>
                <a:cs typeface="Archivo" pitchFamily="34" charset="-120"/>
              </a:rPr>
              <a:t>/km · 10.26 km/h</a:t>
            </a:r>
            <a:endParaRPr lang="en-US" sz="957" dirty="0"/>
          </a:p>
        </p:txBody>
      </p:sp>
      <p:sp>
        <p:nvSpPr>
          <p:cNvPr id="25" name="Text 20"/>
          <p:cNvSpPr/>
          <p:nvPr/>
        </p:nvSpPr>
        <p:spPr>
          <a:xfrm>
            <a:off x="1005078" y="3865215"/>
            <a:ext cx="1540887"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201E1D"/>
                </a:solidFill>
                <a:latin typeface="Archivo" pitchFamily="34" charset="0"/>
                <a:ea typeface="Archivo" pitchFamily="34" charset="-122"/>
                <a:cs typeface="Archivo" pitchFamily="34" charset="-120"/>
              </a:rPr>
              <a:t>HEART RATE ZONES</a:t>
            </a:r>
            <a:endParaRPr lang="en-US" sz="914" dirty="0"/>
          </a:p>
        </p:txBody>
      </p:sp>
      <p:sp>
        <p:nvSpPr>
          <p:cNvPr id="26" name="Text 21"/>
          <p:cNvSpPr/>
          <p:nvPr/>
        </p:nvSpPr>
        <p:spPr>
          <a:xfrm>
            <a:off x="3518639" y="3854166"/>
            <a:ext cx="1440332" cy="234997"/>
          </a:xfrm>
          <a:prstGeom prst="rect">
            <a:avLst/>
          </a:prstGeom>
          <a:noFill/>
          <a:ln/>
        </p:spPr>
        <p:txBody>
          <a:bodyPr wrap="square" lIns="25400" tIns="25400" rIns="25400" bIns="25400" rtlCol="0" anchor="t">
            <a:normAutofit/>
          </a:bodyPr>
          <a:lstStyle/>
          <a:p>
            <a:pPr algn="l" indent="0" marL="0">
              <a:lnSpc>
                <a:spcPct val="142600"/>
              </a:lnSpc>
              <a:buNone/>
            </a:pPr>
            <a:r>
              <a:rPr lang="en-US" sz="1000" dirty="0">
                <a:solidFill>
                  <a:srgbClr val="7D7979"/>
                </a:solidFill>
                <a:latin typeface="Archivo" pitchFamily="34" charset="0"/>
                <a:ea typeface="Archivo" pitchFamily="34" charset="-122"/>
                <a:cs typeface="Archivo" pitchFamily="34" charset="-120"/>
              </a:rPr>
              <a:t>avg 170 · max 188 bpm</a:t>
            </a:r>
            <a:endParaRPr lang="en-US" sz="1000" dirty="0"/>
          </a:p>
        </p:txBody>
      </p:sp>
      <p:sp>
        <p:nvSpPr>
          <p:cNvPr id="27" name="Text 22"/>
          <p:cNvSpPr/>
          <p:nvPr/>
        </p:nvSpPr>
        <p:spPr>
          <a:xfrm>
            <a:off x="1005078" y="4133671"/>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7D7979"/>
                </a:solidFill>
                <a:latin typeface="Archivo" pitchFamily="34" charset="0"/>
                <a:ea typeface="Archivo" pitchFamily="34" charset="-122"/>
                <a:cs typeface="Archivo" pitchFamily="34" charset="-120"/>
              </a:rPr>
              <a:t>Z1</a:t>
            </a:r>
            <a:endParaRPr lang="en-US" sz="957" dirty="0"/>
          </a:p>
        </p:txBody>
      </p:sp>
      <p:sp>
        <p:nvSpPr>
          <p:cNvPr id="28" name="Shape 23"/>
          <p:cNvSpPr/>
          <p:nvPr/>
        </p:nvSpPr>
        <p:spPr>
          <a:xfrm>
            <a:off x="1336548" y="4128406"/>
            <a:ext cx="2828544" cy="198882"/>
          </a:xfrm>
          <a:prstGeom prst="rect">
            <a:avLst/>
          </a:prstGeom>
          <a:solidFill>
            <a:srgbClr val="201E1D">
              <a:alpha val="8000"/>
            </a:srgbClr>
          </a:solidFill>
          <a:ln/>
        </p:spPr>
      </p:sp>
      <p:sp>
        <p:nvSpPr>
          <p:cNvPr id="29" name="Shape 24"/>
          <p:cNvSpPr/>
          <p:nvPr/>
        </p:nvSpPr>
        <p:spPr>
          <a:xfrm>
            <a:off x="1336548" y="4128406"/>
            <a:ext cx="33924" cy="198882"/>
          </a:xfrm>
          <a:prstGeom prst="rect">
            <a:avLst/>
          </a:prstGeom>
          <a:solidFill>
            <a:srgbClr val="D7D3D3"/>
          </a:solidFill>
          <a:ln/>
        </p:spPr>
      </p:sp>
      <p:sp>
        <p:nvSpPr>
          <p:cNvPr id="30" name="Text 25"/>
          <p:cNvSpPr/>
          <p:nvPr/>
        </p:nvSpPr>
        <p:spPr>
          <a:xfrm>
            <a:off x="4199382" y="4129355"/>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605D5D"/>
                </a:solidFill>
                <a:latin typeface="Archivo" pitchFamily="34" charset="0"/>
                <a:ea typeface="Archivo" pitchFamily="34" charset="-122"/>
                <a:cs typeface="Archivo" pitchFamily="34" charset="-120"/>
              </a:rPr>
              <a:t>0:21</a:t>
            </a:r>
            <a:endParaRPr lang="en-US" sz="1000" dirty="0"/>
          </a:p>
        </p:txBody>
      </p:sp>
      <p:sp>
        <p:nvSpPr>
          <p:cNvPr id="31" name="Text 26"/>
          <p:cNvSpPr/>
          <p:nvPr/>
        </p:nvSpPr>
        <p:spPr>
          <a:xfrm>
            <a:off x="1005078" y="4409896"/>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7D7979"/>
                </a:solidFill>
                <a:latin typeface="Archivo" pitchFamily="34" charset="0"/>
                <a:ea typeface="Archivo" pitchFamily="34" charset="-122"/>
                <a:cs typeface="Archivo" pitchFamily="34" charset="-120"/>
              </a:rPr>
              <a:t>Z2</a:t>
            </a:r>
            <a:endParaRPr lang="en-US" sz="957" dirty="0"/>
          </a:p>
        </p:txBody>
      </p:sp>
      <p:sp>
        <p:nvSpPr>
          <p:cNvPr id="32" name="Shape 27"/>
          <p:cNvSpPr/>
          <p:nvPr/>
        </p:nvSpPr>
        <p:spPr>
          <a:xfrm>
            <a:off x="1336548" y="4404631"/>
            <a:ext cx="2828544" cy="198882"/>
          </a:xfrm>
          <a:prstGeom prst="rect">
            <a:avLst/>
          </a:prstGeom>
          <a:solidFill>
            <a:srgbClr val="201E1D">
              <a:alpha val="8000"/>
            </a:srgbClr>
          </a:solidFill>
          <a:ln/>
        </p:spPr>
      </p:sp>
      <p:sp>
        <p:nvSpPr>
          <p:cNvPr id="33" name="Shape 28"/>
          <p:cNvSpPr/>
          <p:nvPr/>
        </p:nvSpPr>
        <p:spPr>
          <a:xfrm>
            <a:off x="1336548" y="4404631"/>
            <a:ext cx="96161" cy="198882"/>
          </a:xfrm>
          <a:prstGeom prst="rect">
            <a:avLst/>
          </a:prstGeom>
          <a:solidFill>
            <a:srgbClr val="9B9797"/>
          </a:solidFill>
          <a:ln/>
        </p:spPr>
      </p:sp>
      <p:sp>
        <p:nvSpPr>
          <p:cNvPr id="34" name="Text 29"/>
          <p:cNvSpPr/>
          <p:nvPr/>
        </p:nvSpPr>
        <p:spPr>
          <a:xfrm>
            <a:off x="4199382" y="4405580"/>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605D5D"/>
                </a:solidFill>
                <a:latin typeface="Archivo" pitchFamily="34" charset="0"/>
                <a:ea typeface="Archivo" pitchFamily="34" charset="-122"/>
                <a:cs typeface="Archivo" pitchFamily="34" charset="-120"/>
              </a:rPr>
              <a:t>0:46</a:t>
            </a:r>
            <a:endParaRPr lang="en-US" sz="1000" dirty="0"/>
          </a:p>
        </p:txBody>
      </p:sp>
      <p:sp>
        <p:nvSpPr>
          <p:cNvPr id="35" name="Text 30"/>
          <p:cNvSpPr/>
          <p:nvPr/>
        </p:nvSpPr>
        <p:spPr>
          <a:xfrm>
            <a:off x="1005078" y="4686121"/>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7D7979"/>
                </a:solidFill>
                <a:latin typeface="Archivo" pitchFamily="34" charset="0"/>
                <a:ea typeface="Archivo" pitchFamily="34" charset="-122"/>
                <a:cs typeface="Archivo" pitchFamily="34" charset="-120"/>
              </a:rPr>
              <a:t>Z3</a:t>
            </a:r>
            <a:endParaRPr lang="en-US" sz="957" dirty="0"/>
          </a:p>
        </p:txBody>
      </p:sp>
      <p:sp>
        <p:nvSpPr>
          <p:cNvPr id="36" name="Shape 31"/>
          <p:cNvSpPr/>
          <p:nvPr/>
        </p:nvSpPr>
        <p:spPr>
          <a:xfrm>
            <a:off x="1336548" y="4680856"/>
            <a:ext cx="2828544" cy="198882"/>
          </a:xfrm>
          <a:prstGeom prst="rect">
            <a:avLst/>
          </a:prstGeom>
          <a:solidFill>
            <a:srgbClr val="201E1D">
              <a:alpha val="8000"/>
            </a:srgbClr>
          </a:solidFill>
          <a:ln/>
        </p:spPr>
      </p:sp>
      <p:sp>
        <p:nvSpPr>
          <p:cNvPr id="37" name="Shape 32"/>
          <p:cNvSpPr/>
          <p:nvPr/>
        </p:nvSpPr>
        <p:spPr>
          <a:xfrm>
            <a:off x="1336548" y="4680856"/>
            <a:ext cx="197932" cy="198882"/>
          </a:xfrm>
          <a:prstGeom prst="rect">
            <a:avLst/>
          </a:prstGeom>
          <a:solidFill>
            <a:srgbClr val="FFC4B8"/>
          </a:solidFill>
          <a:ln/>
        </p:spPr>
      </p:sp>
      <p:sp>
        <p:nvSpPr>
          <p:cNvPr id="38" name="Text 33"/>
          <p:cNvSpPr/>
          <p:nvPr/>
        </p:nvSpPr>
        <p:spPr>
          <a:xfrm>
            <a:off x="4199382" y="4681805"/>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605D5D"/>
                </a:solidFill>
                <a:latin typeface="Archivo" pitchFamily="34" charset="0"/>
                <a:ea typeface="Archivo" pitchFamily="34" charset="-122"/>
                <a:cs typeface="Archivo" pitchFamily="34" charset="-120"/>
              </a:rPr>
              <a:t>1:34</a:t>
            </a:r>
            <a:endParaRPr lang="en-US" sz="1000" dirty="0"/>
          </a:p>
        </p:txBody>
      </p:sp>
      <p:sp>
        <p:nvSpPr>
          <p:cNvPr id="39" name="Text 34"/>
          <p:cNvSpPr/>
          <p:nvPr/>
        </p:nvSpPr>
        <p:spPr>
          <a:xfrm>
            <a:off x="1005078" y="4962346"/>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201E1D"/>
                </a:solidFill>
                <a:latin typeface="Archivo" pitchFamily="34" charset="0"/>
                <a:ea typeface="Archivo" pitchFamily="34" charset="-122"/>
                <a:cs typeface="Archivo" pitchFamily="34" charset="-120"/>
              </a:rPr>
              <a:t>Z4</a:t>
            </a:r>
            <a:endParaRPr lang="en-US" sz="957" dirty="0"/>
          </a:p>
        </p:txBody>
      </p:sp>
      <p:sp>
        <p:nvSpPr>
          <p:cNvPr id="40" name="Shape 35"/>
          <p:cNvSpPr/>
          <p:nvPr/>
        </p:nvSpPr>
        <p:spPr>
          <a:xfrm>
            <a:off x="1336548" y="4957081"/>
            <a:ext cx="2828544" cy="198881"/>
          </a:xfrm>
          <a:prstGeom prst="rect">
            <a:avLst/>
          </a:prstGeom>
          <a:solidFill>
            <a:srgbClr val="201E1D">
              <a:alpha val="8000"/>
            </a:srgbClr>
          </a:solidFill>
          <a:ln/>
        </p:spPr>
      </p:sp>
      <p:sp>
        <p:nvSpPr>
          <p:cNvPr id="41" name="Shape 36"/>
          <p:cNvSpPr/>
          <p:nvPr/>
        </p:nvSpPr>
        <p:spPr>
          <a:xfrm>
            <a:off x="1336548" y="4957081"/>
            <a:ext cx="2828544" cy="198881"/>
          </a:xfrm>
          <a:prstGeom prst="rect">
            <a:avLst/>
          </a:prstGeom>
          <a:solidFill>
            <a:srgbClr val="EC3013"/>
          </a:solidFill>
          <a:ln/>
        </p:spPr>
      </p:sp>
      <p:sp>
        <p:nvSpPr>
          <p:cNvPr id="42" name="Text 37"/>
          <p:cNvSpPr/>
          <p:nvPr/>
        </p:nvSpPr>
        <p:spPr>
          <a:xfrm>
            <a:off x="4199382" y="4958030"/>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b="1" dirty="0">
                <a:solidFill>
                  <a:srgbClr val="201E1D"/>
                </a:solidFill>
                <a:latin typeface="Archivo" pitchFamily="34" charset="0"/>
                <a:ea typeface="Archivo" pitchFamily="34" charset="-122"/>
                <a:cs typeface="Archivo" pitchFamily="34" charset="-120"/>
              </a:rPr>
              <a:t>22:16</a:t>
            </a:r>
            <a:endParaRPr lang="en-US" sz="1000" dirty="0"/>
          </a:p>
        </p:txBody>
      </p:sp>
      <p:sp>
        <p:nvSpPr>
          <p:cNvPr id="43" name="Text 38"/>
          <p:cNvSpPr/>
          <p:nvPr/>
        </p:nvSpPr>
        <p:spPr>
          <a:xfrm>
            <a:off x="1005078" y="5238571"/>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7D7979"/>
                </a:solidFill>
                <a:latin typeface="Archivo" pitchFamily="34" charset="0"/>
                <a:ea typeface="Archivo" pitchFamily="34" charset="-122"/>
                <a:cs typeface="Archivo" pitchFamily="34" charset="-120"/>
              </a:rPr>
              <a:t>Z5</a:t>
            </a:r>
            <a:endParaRPr lang="en-US" sz="957" dirty="0"/>
          </a:p>
        </p:txBody>
      </p:sp>
      <p:sp>
        <p:nvSpPr>
          <p:cNvPr id="44" name="Shape 39"/>
          <p:cNvSpPr/>
          <p:nvPr/>
        </p:nvSpPr>
        <p:spPr>
          <a:xfrm>
            <a:off x="1336548" y="5233306"/>
            <a:ext cx="2828544" cy="198881"/>
          </a:xfrm>
          <a:prstGeom prst="rect">
            <a:avLst/>
          </a:prstGeom>
          <a:solidFill>
            <a:srgbClr val="201E1D">
              <a:alpha val="8000"/>
            </a:srgbClr>
          </a:solidFill>
          <a:ln/>
        </p:spPr>
      </p:sp>
      <p:sp>
        <p:nvSpPr>
          <p:cNvPr id="45" name="Shape 40"/>
          <p:cNvSpPr/>
          <p:nvPr/>
        </p:nvSpPr>
        <p:spPr>
          <a:xfrm>
            <a:off x="1336548" y="5233306"/>
            <a:ext cx="551500" cy="198881"/>
          </a:xfrm>
          <a:prstGeom prst="rect">
            <a:avLst/>
          </a:prstGeom>
          <a:solidFill>
            <a:srgbClr val="7C1405"/>
          </a:solidFill>
          <a:ln/>
        </p:spPr>
      </p:sp>
      <p:sp>
        <p:nvSpPr>
          <p:cNvPr id="46" name="Text 41"/>
          <p:cNvSpPr/>
          <p:nvPr/>
        </p:nvSpPr>
        <p:spPr>
          <a:xfrm>
            <a:off x="4199382" y="5234255"/>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605D5D"/>
                </a:solidFill>
                <a:latin typeface="Archivo" pitchFamily="34" charset="0"/>
                <a:ea typeface="Archivo" pitchFamily="34" charset="-122"/>
                <a:cs typeface="Archivo" pitchFamily="34" charset="-120"/>
              </a:rPr>
              <a:t>4:20</a:t>
            </a:r>
            <a:endParaRPr lang="en-US" sz="1000" dirty="0"/>
          </a:p>
        </p:txBody>
      </p:sp>
      <p:sp>
        <p:nvSpPr>
          <p:cNvPr id="47" name="Shape 42"/>
          <p:cNvSpPr/>
          <p:nvPr/>
        </p:nvSpPr>
        <p:spPr>
          <a:xfrm>
            <a:off x="1005078" y="5586874"/>
            <a:ext cx="3822954" cy="22097"/>
          </a:xfrm>
          <a:prstGeom prst="rect">
            <a:avLst/>
          </a:prstGeom>
          <a:solidFill>
            <a:srgbClr val="201E1D">
              <a:alpha val="40000"/>
            </a:srgbClr>
          </a:solidFill>
          <a:ln/>
        </p:spPr>
      </p:sp>
      <p:sp>
        <p:nvSpPr>
          <p:cNvPr id="48" name="Shape 43"/>
          <p:cNvSpPr/>
          <p:nvPr/>
        </p:nvSpPr>
        <p:spPr>
          <a:xfrm>
            <a:off x="1005078" y="6452753"/>
            <a:ext cx="3822954" cy="22098"/>
          </a:xfrm>
          <a:prstGeom prst="rect">
            <a:avLst/>
          </a:prstGeom>
          <a:solidFill>
            <a:srgbClr val="201E1D">
              <a:alpha val="40000"/>
            </a:srgbClr>
          </a:solidFill>
          <a:ln/>
        </p:spPr>
      </p:sp>
      <p:sp>
        <p:nvSpPr>
          <p:cNvPr id="49" name="Shape 44"/>
          <p:cNvSpPr/>
          <p:nvPr/>
        </p:nvSpPr>
        <p:spPr>
          <a:xfrm>
            <a:off x="3734181" y="5608972"/>
            <a:ext cx="11049" cy="843781"/>
          </a:xfrm>
          <a:prstGeom prst="rect">
            <a:avLst/>
          </a:prstGeom>
          <a:solidFill>
            <a:srgbClr val="201E1D">
              <a:alpha val="18000"/>
            </a:srgbClr>
          </a:solidFill>
          <a:ln/>
        </p:spPr>
      </p:sp>
      <p:sp>
        <p:nvSpPr>
          <p:cNvPr id="50" name="Text 45"/>
          <p:cNvSpPr/>
          <p:nvPr/>
        </p:nvSpPr>
        <p:spPr>
          <a:xfrm>
            <a:off x="1005078" y="5752609"/>
            <a:ext cx="2856167" cy="200727"/>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7D7979"/>
                </a:solidFill>
                <a:latin typeface="Archivo" pitchFamily="34" charset="0"/>
                <a:ea typeface="Archivo" pitchFamily="34" charset="-122"/>
                <a:cs typeface="Archivo" pitchFamily="34" charset="-120"/>
              </a:rPr>
              <a:t>TRAINING EFFECT</a:t>
            </a:r>
            <a:endParaRPr lang="en-US" sz="827" dirty="0"/>
          </a:p>
        </p:txBody>
      </p:sp>
      <p:sp>
        <p:nvSpPr>
          <p:cNvPr id="51" name="Text 46"/>
          <p:cNvSpPr/>
          <p:nvPr/>
        </p:nvSpPr>
        <p:spPr>
          <a:xfrm>
            <a:off x="1005078" y="5915236"/>
            <a:ext cx="459721" cy="431979"/>
          </a:xfrm>
          <a:prstGeom prst="rect">
            <a:avLst/>
          </a:prstGeom>
          <a:noFill/>
          <a:ln/>
        </p:spPr>
        <p:txBody>
          <a:bodyPr wrap="square" lIns="25400" tIns="25400" rIns="25400" bIns="25400" rtlCol="0" anchor="t">
            <a:normAutofit/>
          </a:bodyPr>
          <a:lstStyle/>
          <a:p>
            <a:pPr algn="l" indent="0" marL="0">
              <a:lnSpc>
                <a:spcPct val="142600"/>
              </a:lnSpc>
              <a:buNone/>
            </a:pPr>
            <a:r>
              <a:rPr lang="en-US" sz="2001" b="1" spc="-40" kern="0" dirty="0">
                <a:solidFill>
                  <a:srgbClr val="201E1D"/>
                </a:solidFill>
                <a:latin typeface="Archivo" pitchFamily="34" charset="0"/>
                <a:ea typeface="Archivo" pitchFamily="34" charset="-122"/>
                <a:cs typeface="Archivo" pitchFamily="34" charset="-120"/>
              </a:rPr>
              <a:t>3.6</a:t>
            </a:r>
            <a:endParaRPr lang="en-US" sz="2001" dirty="0"/>
          </a:p>
        </p:txBody>
      </p:sp>
      <p:sp>
        <p:nvSpPr>
          <p:cNvPr id="52" name="Text 47"/>
          <p:cNvSpPr/>
          <p:nvPr/>
        </p:nvSpPr>
        <p:spPr>
          <a:xfrm>
            <a:off x="1476991" y="6058873"/>
            <a:ext cx="1649322"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spc="48" kern="0" dirty="0">
                <a:solidFill>
                  <a:srgbClr val="AE1800"/>
                </a:solidFill>
                <a:latin typeface="Archivo" pitchFamily="34" charset="0"/>
                <a:ea typeface="Archivo" pitchFamily="34" charset="-122"/>
                <a:cs typeface="Archivo" pitchFamily="34" charset="-120"/>
              </a:rPr>
              <a:t>LACTATE THRESHOLD</a:t>
            </a:r>
            <a:endParaRPr lang="en-US" sz="957" dirty="0"/>
          </a:p>
        </p:txBody>
      </p:sp>
      <p:sp>
        <p:nvSpPr>
          <p:cNvPr id="53" name="Text 48"/>
          <p:cNvSpPr/>
          <p:nvPr/>
        </p:nvSpPr>
        <p:spPr>
          <a:xfrm>
            <a:off x="3877818" y="5752609"/>
            <a:ext cx="1026414" cy="200727"/>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7D7979"/>
                </a:solidFill>
                <a:latin typeface="Archivo" pitchFamily="34" charset="0"/>
                <a:ea typeface="Archivo" pitchFamily="34" charset="-122"/>
                <a:cs typeface="Archivo" pitchFamily="34" charset="-120"/>
              </a:rPr>
              <a:t>ANAEROBIC</a:t>
            </a:r>
            <a:endParaRPr lang="en-US" sz="827" dirty="0"/>
          </a:p>
        </p:txBody>
      </p:sp>
      <p:sp>
        <p:nvSpPr>
          <p:cNvPr id="54" name="Text 49"/>
          <p:cNvSpPr/>
          <p:nvPr/>
        </p:nvSpPr>
        <p:spPr>
          <a:xfrm>
            <a:off x="3877818" y="5915236"/>
            <a:ext cx="1026414" cy="431979"/>
          </a:xfrm>
          <a:prstGeom prst="rect">
            <a:avLst/>
          </a:prstGeom>
          <a:noFill/>
          <a:ln/>
        </p:spPr>
        <p:txBody>
          <a:bodyPr wrap="square" lIns="25400" tIns="25400" rIns="25400" bIns="25400" rtlCol="0" anchor="t">
            <a:normAutofit/>
          </a:bodyPr>
          <a:lstStyle/>
          <a:p>
            <a:pPr algn="l" indent="0" marL="0">
              <a:lnSpc>
                <a:spcPct val="142600"/>
              </a:lnSpc>
              <a:buNone/>
            </a:pPr>
            <a:r>
              <a:rPr lang="en-US" sz="2001" b="1" spc="-40" kern="0" dirty="0">
                <a:solidFill>
                  <a:srgbClr val="201E1D"/>
                </a:solidFill>
                <a:latin typeface="Archivo" pitchFamily="34" charset="0"/>
                <a:ea typeface="Archivo" pitchFamily="34" charset="-122"/>
                <a:cs typeface="Archivo" pitchFamily="34" charset="-120"/>
              </a:rPr>
              <a:t>0.7</a:t>
            </a:r>
            <a:endParaRPr lang="en-US" sz="2001" dirty="0"/>
          </a:p>
        </p:txBody>
      </p:sp>
      <p:sp>
        <p:nvSpPr>
          <p:cNvPr id="55" name="Text 50"/>
          <p:cNvSpPr/>
          <p:nvPr/>
        </p:nvSpPr>
        <p:spPr>
          <a:xfrm>
            <a:off x="1005078" y="6640586"/>
            <a:ext cx="3937642"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201E1D"/>
                </a:solidFill>
                <a:latin typeface="Archivo" pitchFamily="34" charset="0"/>
                <a:ea typeface="Archivo" pitchFamily="34" charset="-122"/>
                <a:cs typeface="Archivo" pitchFamily="34" charset="-120"/>
              </a:rPr>
              <a:t>RUNNING DYNAMICS</a:t>
            </a:r>
            <a:endParaRPr lang="en-US" sz="914" dirty="0"/>
          </a:p>
        </p:txBody>
      </p:sp>
      <p:sp>
        <p:nvSpPr>
          <p:cNvPr id="56" name="Shape 51"/>
          <p:cNvSpPr/>
          <p:nvPr/>
        </p:nvSpPr>
        <p:spPr>
          <a:xfrm>
            <a:off x="1005078" y="7364554"/>
            <a:ext cx="1911477" cy="11049"/>
          </a:xfrm>
          <a:prstGeom prst="rect">
            <a:avLst/>
          </a:prstGeom>
          <a:solidFill>
            <a:srgbClr val="201E1D">
              <a:alpha val="18000"/>
            </a:srgbClr>
          </a:solidFill>
          <a:ln/>
        </p:spPr>
      </p:sp>
      <p:sp>
        <p:nvSpPr>
          <p:cNvPr id="57" name="Shape 52"/>
          <p:cNvSpPr/>
          <p:nvPr/>
        </p:nvSpPr>
        <p:spPr>
          <a:xfrm>
            <a:off x="2905506" y="6886685"/>
            <a:ext cx="11049" cy="488918"/>
          </a:xfrm>
          <a:prstGeom prst="rect">
            <a:avLst/>
          </a:prstGeom>
          <a:solidFill>
            <a:srgbClr val="201E1D">
              <a:alpha val="18000"/>
            </a:srgbClr>
          </a:solidFill>
          <a:ln/>
        </p:spPr>
      </p:sp>
      <p:sp>
        <p:nvSpPr>
          <p:cNvPr id="58" name="Text 53"/>
          <p:cNvSpPr/>
          <p:nvPr/>
        </p:nvSpPr>
        <p:spPr>
          <a:xfrm>
            <a:off x="1005078" y="7035847"/>
            <a:ext cx="608796"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Cadence</a:t>
            </a:r>
            <a:endParaRPr lang="en-US" sz="1044" dirty="0"/>
          </a:p>
        </p:txBody>
      </p:sp>
      <p:sp>
        <p:nvSpPr>
          <p:cNvPr id="59" name="Text 54"/>
          <p:cNvSpPr/>
          <p:nvPr/>
        </p:nvSpPr>
        <p:spPr>
          <a:xfrm>
            <a:off x="2461215" y="6997175"/>
            <a:ext cx="387902"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149</a:t>
            </a:r>
            <a:endParaRPr lang="en-US" sz="1305" dirty="0"/>
          </a:p>
        </p:txBody>
      </p:sp>
      <p:sp>
        <p:nvSpPr>
          <p:cNvPr id="60" name="Shape 55"/>
          <p:cNvSpPr/>
          <p:nvPr/>
        </p:nvSpPr>
        <p:spPr>
          <a:xfrm>
            <a:off x="2916555" y="7364554"/>
            <a:ext cx="1911477" cy="11049"/>
          </a:xfrm>
          <a:prstGeom prst="rect">
            <a:avLst/>
          </a:prstGeom>
          <a:solidFill>
            <a:srgbClr val="201E1D">
              <a:alpha val="18000"/>
            </a:srgbClr>
          </a:solidFill>
          <a:ln/>
        </p:spPr>
      </p:sp>
      <p:sp>
        <p:nvSpPr>
          <p:cNvPr id="61" name="Text 56"/>
          <p:cNvSpPr/>
          <p:nvPr/>
        </p:nvSpPr>
        <p:spPr>
          <a:xfrm>
            <a:off x="3049143" y="7035847"/>
            <a:ext cx="609401"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Max cad.</a:t>
            </a:r>
            <a:endParaRPr lang="en-US" sz="1044" dirty="0"/>
          </a:p>
        </p:txBody>
      </p:sp>
      <p:sp>
        <p:nvSpPr>
          <p:cNvPr id="62" name="Text 57"/>
          <p:cNvSpPr/>
          <p:nvPr/>
        </p:nvSpPr>
        <p:spPr>
          <a:xfrm>
            <a:off x="4516329" y="6997175"/>
            <a:ext cx="387902"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173</a:t>
            </a:r>
            <a:endParaRPr lang="en-US" sz="1305" dirty="0"/>
          </a:p>
        </p:txBody>
      </p:sp>
      <p:sp>
        <p:nvSpPr>
          <p:cNvPr id="63" name="Shape 58"/>
          <p:cNvSpPr/>
          <p:nvPr/>
        </p:nvSpPr>
        <p:spPr>
          <a:xfrm>
            <a:off x="1005078" y="7853473"/>
            <a:ext cx="1911477" cy="11049"/>
          </a:xfrm>
          <a:prstGeom prst="rect">
            <a:avLst/>
          </a:prstGeom>
          <a:solidFill>
            <a:srgbClr val="201E1D">
              <a:alpha val="18000"/>
            </a:srgbClr>
          </a:solidFill>
          <a:ln/>
        </p:spPr>
      </p:sp>
      <p:sp>
        <p:nvSpPr>
          <p:cNvPr id="64" name="Shape 59"/>
          <p:cNvSpPr/>
          <p:nvPr/>
        </p:nvSpPr>
        <p:spPr>
          <a:xfrm>
            <a:off x="2905506" y="7375603"/>
            <a:ext cx="11049" cy="488918"/>
          </a:xfrm>
          <a:prstGeom prst="rect">
            <a:avLst/>
          </a:prstGeom>
          <a:solidFill>
            <a:srgbClr val="201E1D">
              <a:alpha val="18000"/>
            </a:srgbClr>
          </a:solidFill>
          <a:ln/>
        </p:spPr>
      </p:sp>
      <p:sp>
        <p:nvSpPr>
          <p:cNvPr id="65" name="Text 60"/>
          <p:cNvSpPr/>
          <p:nvPr/>
        </p:nvSpPr>
        <p:spPr>
          <a:xfrm>
            <a:off x="1005078" y="7524765"/>
            <a:ext cx="426402" cy="243543"/>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Stride</a:t>
            </a:r>
            <a:endParaRPr lang="en-US" sz="1044" dirty="0"/>
          </a:p>
        </p:txBody>
      </p:sp>
      <p:sp>
        <p:nvSpPr>
          <p:cNvPr id="66" name="Text 61"/>
          <p:cNvSpPr/>
          <p:nvPr/>
        </p:nvSpPr>
        <p:spPr>
          <a:xfrm>
            <a:off x="2221935" y="7486093"/>
            <a:ext cx="627183" cy="294990"/>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1.16 m</a:t>
            </a:r>
            <a:endParaRPr lang="en-US" sz="1305" dirty="0"/>
          </a:p>
        </p:txBody>
      </p:sp>
      <p:sp>
        <p:nvSpPr>
          <p:cNvPr id="67" name="Shape 62"/>
          <p:cNvSpPr/>
          <p:nvPr/>
        </p:nvSpPr>
        <p:spPr>
          <a:xfrm>
            <a:off x="2916555" y="7853473"/>
            <a:ext cx="1911477" cy="11049"/>
          </a:xfrm>
          <a:prstGeom prst="rect">
            <a:avLst/>
          </a:prstGeom>
          <a:solidFill>
            <a:srgbClr val="201E1D">
              <a:alpha val="18000"/>
            </a:srgbClr>
          </a:solidFill>
          <a:ln/>
        </p:spPr>
      </p:sp>
      <p:sp>
        <p:nvSpPr>
          <p:cNvPr id="68" name="Text 63"/>
          <p:cNvSpPr/>
          <p:nvPr/>
        </p:nvSpPr>
        <p:spPr>
          <a:xfrm>
            <a:off x="3049143" y="7524765"/>
            <a:ext cx="625111" cy="243543"/>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Vert. osc.</a:t>
            </a:r>
            <a:endParaRPr lang="en-US" sz="1044" dirty="0"/>
          </a:p>
        </p:txBody>
      </p:sp>
      <p:sp>
        <p:nvSpPr>
          <p:cNvPr id="69" name="Text 64"/>
          <p:cNvSpPr/>
          <p:nvPr/>
        </p:nvSpPr>
        <p:spPr>
          <a:xfrm>
            <a:off x="4175623" y="7486093"/>
            <a:ext cx="728609" cy="294990"/>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10.6 cm</a:t>
            </a:r>
            <a:endParaRPr lang="en-US" sz="1305" dirty="0"/>
          </a:p>
        </p:txBody>
      </p:sp>
      <p:sp>
        <p:nvSpPr>
          <p:cNvPr id="70" name="Shape 65"/>
          <p:cNvSpPr/>
          <p:nvPr/>
        </p:nvSpPr>
        <p:spPr>
          <a:xfrm>
            <a:off x="2905506" y="7864522"/>
            <a:ext cx="11049" cy="477869"/>
          </a:xfrm>
          <a:prstGeom prst="rect">
            <a:avLst/>
          </a:prstGeom>
          <a:solidFill>
            <a:srgbClr val="201E1D">
              <a:alpha val="18000"/>
            </a:srgbClr>
          </a:solidFill>
          <a:ln/>
        </p:spPr>
      </p:sp>
      <p:sp>
        <p:nvSpPr>
          <p:cNvPr id="71" name="Text 66"/>
          <p:cNvSpPr/>
          <p:nvPr/>
        </p:nvSpPr>
        <p:spPr>
          <a:xfrm>
            <a:off x="1005078" y="8013683"/>
            <a:ext cx="696843"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Ground ct.</a:t>
            </a:r>
            <a:endParaRPr lang="en-US" sz="1044" dirty="0"/>
          </a:p>
        </p:txBody>
      </p:sp>
      <p:sp>
        <p:nvSpPr>
          <p:cNvPr id="72" name="Text 67"/>
          <p:cNvSpPr/>
          <p:nvPr/>
        </p:nvSpPr>
        <p:spPr>
          <a:xfrm>
            <a:off x="2178689" y="7975011"/>
            <a:ext cx="670429"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284 ms</a:t>
            </a:r>
            <a:endParaRPr lang="en-US" sz="1305" dirty="0"/>
          </a:p>
        </p:txBody>
      </p:sp>
      <p:sp>
        <p:nvSpPr>
          <p:cNvPr id="73" name="Text 68"/>
          <p:cNvSpPr/>
          <p:nvPr/>
        </p:nvSpPr>
        <p:spPr>
          <a:xfrm>
            <a:off x="3049143" y="8013683"/>
            <a:ext cx="466713"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605D5D"/>
                </a:solidFill>
                <a:latin typeface="Archivo" pitchFamily="34" charset="0"/>
                <a:ea typeface="Archivo" pitchFamily="34" charset="-122"/>
                <a:cs typeface="Archivo" pitchFamily="34" charset="-120"/>
              </a:rPr>
              <a:t>Elev. ±</a:t>
            </a:r>
            <a:endParaRPr lang="en-US" sz="1044" dirty="0"/>
          </a:p>
        </p:txBody>
      </p:sp>
      <p:sp>
        <p:nvSpPr>
          <p:cNvPr id="74" name="Text 69"/>
          <p:cNvSpPr/>
          <p:nvPr/>
        </p:nvSpPr>
        <p:spPr>
          <a:xfrm>
            <a:off x="4320814" y="7975011"/>
            <a:ext cx="583418"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201E1D"/>
                </a:solidFill>
                <a:latin typeface="Archivo" pitchFamily="34" charset="0"/>
                <a:ea typeface="Archivo" pitchFamily="34" charset="-122"/>
                <a:cs typeface="Archivo" pitchFamily="34" charset="-120"/>
              </a:rPr>
              <a:t>5 / 5 m</a:t>
            </a:r>
            <a:endParaRPr lang="en-US" sz="1305" dirty="0"/>
          </a:p>
        </p:txBody>
      </p:sp>
      <p:sp>
        <p:nvSpPr>
          <p:cNvPr id="75" name="Shape 70"/>
          <p:cNvSpPr/>
          <p:nvPr/>
        </p:nvSpPr>
        <p:spPr>
          <a:xfrm>
            <a:off x="784098" y="8817239"/>
            <a:ext cx="4264914" cy="928116"/>
          </a:xfrm>
          <a:prstGeom prst="rect">
            <a:avLst/>
          </a:prstGeom>
          <a:solidFill>
            <a:srgbClr val="F3F2F2"/>
          </a:solidFill>
          <a:ln/>
        </p:spPr>
      </p:sp>
      <p:sp>
        <p:nvSpPr>
          <p:cNvPr id="76" name="Shape 71"/>
          <p:cNvSpPr/>
          <p:nvPr/>
        </p:nvSpPr>
        <p:spPr>
          <a:xfrm>
            <a:off x="784098" y="8817239"/>
            <a:ext cx="4264914" cy="22098"/>
          </a:xfrm>
          <a:prstGeom prst="rect">
            <a:avLst/>
          </a:prstGeom>
          <a:solidFill>
            <a:srgbClr val="201E1D">
              <a:alpha val="40000"/>
            </a:srgbClr>
          </a:solidFill>
          <a:ln/>
        </p:spPr>
      </p:sp>
      <p:sp>
        <p:nvSpPr>
          <p:cNvPr id="77" name="Shape 72"/>
          <p:cNvSpPr/>
          <p:nvPr/>
        </p:nvSpPr>
        <p:spPr>
          <a:xfrm>
            <a:off x="1005078" y="8971924"/>
            <a:ext cx="3093720" cy="552450"/>
          </a:xfrm>
          <a:prstGeom prst="rect">
            <a:avLst/>
          </a:prstGeom>
          <a:solidFill>
            <a:srgbClr val="EC3013"/>
          </a:solidFill>
          <a:ln/>
        </p:spPr>
      </p:sp>
      <p:pic>
        <p:nvPicPr>
          <p:cNvPr id="7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1862" y="9148708"/>
            <a:ext cx="198882" cy="198882"/>
          </a:xfrm>
          <a:prstGeom prst="rect">
            <a:avLst/>
          </a:prstGeom>
        </p:spPr>
      </p:pic>
      <p:sp>
        <p:nvSpPr>
          <p:cNvPr id="79" name="Text 73"/>
          <p:cNvSpPr/>
          <p:nvPr/>
        </p:nvSpPr>
        <p:spPr>
          <a:xfrm>
            <a:off x="1480185" y="9162520"/>
            <a:ext cx="1696778" cy="209360"/>
          </a:xfrm>
          <a:prstGeom prst="rect">
            <a:avLst/>
          </a:prstGeom>
          <a:noFill/>
          <a:ln/>
        </p:spPr>
        <p:txBody>
          <a:bodyPr wrap="square" lIns="0" tIns="0" rIns="0" bIns="0" rtlCol="0" anchor="t">
            <a:normAutofit/>
          </a:bodyPr>
          <a:lstStyle/>
          <a:p>
            <a:pPr algn="ctr" indent="0" marL="0">
              <a:buNone/>
            </a:pPr>
            <a:r>
              <a:rPr lang="en-US" sz="1262" b="1" dirty="0">
                <a:solidFill>
                  <a:srgbClr val="F3F2F2"/>
                </a:solidFill>
                <a:latin typeface="Archivo" pitchFamily="34" charset="0"/>
                <a:ea typeface="Archivo" pitchFamily="34" charset="-122"/>
                <a:cs typeface="Archivo" pitchFamily="34" charset="-120"/>
              </a:rPr>
              <a:t>Copy raw Markdown</a:t>
            </a:r>
            <a:endParaRPr lang="en-US" sz="1262" dirty="0"/>
          </a:p>
        </p:txBody>
      </p:sp>
      <p:sp>
        <p:nvSpPr>
          <p:cNvPr id="80" name="Shape 74"/>
          <p:cNvSpPr/>
          <p:nvPr/>
        </p:nvSpPr>
        <p:spPr>
          <a:xfrm>
            <a:off x="4209288" y="8971924"/>
            <a:ext cx="618744" cy="552450"/>
          </a:xfrm>
          <a:prstGeom prst="rect">
            <a:avLst/>
          </a:prstGeom>
          <a:ln w="11049">
            <a:solidFill>
              <a:srgbClr val="201E1D">
                <a:alpha val="40000"/>
              </a:srgbClr>
            </a:solidFill>
            <a:prstDash val="solid"/>
          </a:ln>
        </p:spPr>
      </p:sp>
      <p:pic>
        <p:nvPicPr>
          <p:cNvPr id="8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08170" y="9137660"/>
            <a:ext cx="220980" cy="220980"/>
          </a:xfrm>
          <a:prstGeom prst="rect">
            <a:avLst/>
          </a:prstGeom>
        </p:spPr>
      </p:pic>
      <p:sp>
        <p:nvSpPr>
          <p:cNvPr id="82" name="Text 75"/>
          <p:cNvSpPr/>
          <p:nvPr/>
        </p:nvSpPr>
        <p:spPr>
          <a:xfrm>
            <a:off x="6000750" y="1700287"/>
            <a:ext cx="12677775"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SCREEN 02</a:t>
            </a:r>
            <a:endParaRPr lang="en-US" sz="1800" dirty="0"/>
          </a:p>
        </p:txBody>
      </p:sp>
      <p:sp>
        <p:nvSpPr>
          <p:cNvPr id="83" name="Text 76"/>
          <p:cNvSpPr/>
          <p:nvPr/>
        </p:nvSpPr>
        <p:spPr>
          <a:xfrm>
            <a:off x="6000750" y="2245072"/>
            <a:ext cx="12677775" cy="790947"/>
          </a:xfrm>
          <a:prstGeom prst="rect">
            <a:avLst/>
          </a:prstGeom>
          <a:noFill/>
          <a:ln/>
        </p:spPr>
        <p:txBody>
          <a:bodyPr wrap="square" lIns="25400" tIns="25400" rIns="25400" bIns="25400" rtlCol="0" anchor="t">
            <a:normAutofit/>
          </a:bodyPr>
          <a:lstStyle/>
          <a:p>
            <a:pPr algn="l" indent="0" marL="0">
              <a:lnSpc>
                <a:spcPct val="95806"/>
              </a:lnSpc>
              <a:buNone/>
            </a:pPr>
            <a:r>
              <a:rPr lang="en-US" sz="5700" b="1" spc="-171" kern="0" dirty="0">
                <a:solidFill>
                  <a:srgbClr val="201E1D"/>
                </a:solidFill>
                <a:latin typeface="Archivo" pitchFamily="34" charset="0"/>
                <a:ea typeface="Archivo" pitchFamily="34" charset="-122"/>
                <a:cs typeface="Archivo" pitchFamily="34" charset="-120"/>
              </a:rPr>
              <a:t>Activity detail</a:t>
            </a:r>
            <a:endParaRPr lang="en-US" sz="5700" dirty="0"/>
          </a:p>
        </p:txBody>
      </p:sp>
      <p:sp>
        <p:nvSpPr>
          <p:cNvPr id="84" name="Shape 77"/>
          <p:cNvSpPr/>
          <p:nvPr/>
        </p:nvSpPr>
        <p:spPr>
          <a:xfrm>
            <a:off x="6000750" y="3417019"/>
            <a:ext cx="11525250" cy="19050"/>
          </a:xfrm>
          <a:prstGeom prst="rect">
            <a:avLst/>
          </a:prstGeom>
          <a:solidFill>
            <a:srgbClr val="201E1D">
              <a:alpha val="25000"/>
            </a:srgbClr>
          </a:solidFill>
          <a:ln/>
        </p:spPr>
      </p:sp>
      <p:sp>
        <p:nvSpPr>
          <p:cNvPr id="85" name="Text 78"/>
          <p:cNvSpPr/>
          <p:nvPr/>
        </p:nvSpPr>
        <p:spPr>
          <a:xfrm>
            <a:off x="6000750" y="3683719"/>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TOP THREE</a:t>
            </a:r>
            <a:endParaRPr lang="en-US" sz="1650" dirty="0"/>
          </a:p>
        </p:txBody>
      </p:sp>
      <p:sp>
        <p:nvSpPr>
          <p:cNvPr id="86" name="Text 79"/>
          <p:cNvSpPr/>
          <p:nvPr/>
        </p:nvSpPr>
        <p:spPr>
          <a:xfrm>
            <a:off x="8401050" y="3683719"/>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Distance, duration, pace at 27px in a ruled three-cell grid. Two cells when there is no distance.</a:t>
            </a:r>
            <a:endParaRPr lang="en-US" sz="2100" dirty="0"/>
          </a:p>
        </p:txBody>
      </p:sp>
      <p:sp>
        <p:nvSpPr>
          <p:cNvPr id="87" name="Shape 80"/>
          <p:cNvSpPr/>
          <p:nvPr/>
        </p:nvSpPr>
        <p:spPr>
          <a:xfrm>
            <a:off x="6000750" y="4704680"/>
            <a:ext cx="11525250" cy="19050"/>
          </a:xfrm>
          <a:prstGeom prst="rect">
            <a:avLst/>
          </a:prstGeom>
          <a:solidFill>
            <a:srgbClr val="201E1D">
              <a:alpha val="25000"/>
            </a:srgbClr>
          </a:solidFill>
          <a:ln/>
        </p:spPr>
      </p:sp>
      <p:sp>
        <p:nvSpPr>
          <p:cNvPr id="88" name="Text 81"/>
          <p:cNvSpPr/>
          <p:nvPr/>
        </p:nvSpPr>
        <p:spPr>
          <a:xfrm>
            <a:off x="6000750" y="4971380"/>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ZONES</a:t>
            </a:r>
            <a:endParaRPr lang="en-US" sz="1650" dirty="0"/>
          </a:p>
        </p:txBody>
      </p:sp>
      <p:sp>
        <p:nvSpPr>
          <p:cNvPr id="89" name="Text 82"/>
          <p:cNvSpPr/>
          <p:nvPr/>
        </p:nvSpPr>
        <p:spPr>
          <a:xfrm>
            <a:off x="8401050" y="4971380"/>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Bars scaled to the longest zone, not to total time — the dominant zone reads instantly. Grey through to deep red.</a:t>
            </a:r>
            <a:endParaRPr lang="en-US" sz="2100" dirty="0"/>
          </a:p>
        </p:txBody>
      </p:sp>
      <p:sp>
        <p:nvSpPr>
          <p:cNvPr id="90" name="Shape 83"/>
          <p:cNvSpPr/>
          <p:nvPr/>
        </p:nvSpPr>
        <p:spPr>
          <a:xfrm>
            <a:off x="6000750" y="5992341"/>
            <a:ext cx="11525250" cy="19050"/>
          </a:xfrm>
          <a:prstGeom prst="rect">
            <a:avLst/>
          </a:prstGeom>
          <a:solidFill>
            <a:srgbClr val="201E1D">
              <a:alpha val="25000"/>
            </a:srgbClr>
          </a:solidFill>
          <a:ln/>
        </p:spPr>
      </p:sp>
      <p:sp>
        <p:nvSpPr>
          <p:cNvPr id="91" name="Text 84"/>
          <p:cNvSpPr/>
          <p:nvPr/>
        </p:nvSpPr>
        <p:spPr>
          <a:xfrm>
            <a:off x="6000750" y="6259041"/>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COPY FOR AI</a:t>
            </a:r>
            <a:endParaRPr lang="en-US" sz="1650" dirty="0"/>
          </a:p>
        </p:txBody>
      </p:sp>
      <p:sp>
        <p:nvSpPr>
          <p:cNvPr id="92" name="Text 85"/>
          <p:cNvSpPr/>
          <p:nvPr/>
        </p:nvSpPr>
        <p:spPr>
          <a:xfrm>
            <a:off x="8401050" y="6259041"/>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A 56px accent bar pinned above the safe area, flush-left label. One tap, raw Markdown, verbatim.</a:t>
            </a:r>
            <a:endParaRPr lang="en-US" sz="2100" dirty="0"/>
          </a:p>
        </p:txBody>
      </p:sp>
      <p:sp>
        <p:nvSpPr>
          <p:cNvPr id="93" name="Shape 86"/>
          <p:cNvSpPr/>
          <p:nvPr/>
        </p:nvSpPr>
        <p:spPr>
          <a:xfrm>
            <a:off x="6000750" y="8567663"/>
            <a:ext cx="11525250" cy="19050"/>
          </a:xfrm>
          <a:prstGeom prst="rect">
            <a:avLst/>
          </a:prstGeom>
          <a:solidFill>
            <a:srgbClr val="201E1D">
              <a:alpha val="25000"/>
            </a:srgbClr>
          </a:solidFill>
          <a:ln/>
        </p:spPr>
      </p:sp>
      <p:sp>
        <p:nvSpPr>
          <p:cNvPr id="94" name="Shape 87"/>
          <p:cNvSpPr/>
          <p:nvPr/>
        </p:nvSpPr>
        <p:spPr>
          <a:xfrm>
            <a:off x="6000750" y="7280002"/>
            <a:ext cx="11525250" cy="19050"/>
          </a:xfrm>
          <a:prstGeom prst="rect">
            <a:avLst/>
          </a:prstGeom>
          <a:solidFill>
            <a:srgbClr val="201E1D">
              <a:alpha val="25000"/>
            </a:srgbClr>
          </a:solidFill>
          <a:ln/>
        </p:spPr>
      </p:sp>
      <p:sp>
        <p:nvSpPr>
          <p:cNvPr id="95" name="Text 88"/>
          <p:cNvSpPr/>
          <p:nvPr/>
        </p:nvSpPr>
        <p:spPr>
          <a:xfrm>
            <a:off x="6000750" y="7546702"/>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EXTRAS</a:t>
            </a:r>
            <a:endParaRPr lang="en-US" sz="1650" dirty="0"/>
          </a:p>
        </p:txBody>
      </p:sp>
      <p:sp>
        <p:nvSpPr>
          <p:cNvPr id="96" name="Text 89"/>
          <p:cNvSpPr/>
          <p:nvPr/>
        </p:nvSpPr>
        <p:spPr>
          <a:xfrm>
            <a:off x="8401050" y="7546702"/>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Running dynamics, cycling power, SWOLF, sets and reps — one block, only when the file carries it.</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762000" y="762000"/>
            <a:ext cx="4788636"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spc="96" kern="0" dirty="0">
                <a:solidFill>
                  <a:srgbClr val="7D7979"/>
                </a:solidFill>
                <a:latin typeface="Archivo" pitchFamily="34" charset="0"/>
                <a:ea typeface="Archivo" pitchFamily="34" charset="-122"/>
                <a:cs typeface="Archivo" pitchFamily="34" charset="-120"/>
              </a:rPr>
              <a:t>DARK · DETAIL HEAD + COPIED</a:t>
            </a:r>
            <a:endParaRPr lang="en-US" sz="957" dirty="0"/>
          </a:p>
        </p:txBody>
      </p:sp>
      <p:sp>
        <p:nvSpPr>
          <p:cNvPr id="3" name="Shape 1"/>
          <p:cNvSpPr/>
          <p:nvPr/>
        </p:nvSpPr>
        <p:spPr>
          <a:xfrm>
            <a:off x="762000" y="1060841"/>
            <a:ext cx="4309110" cy="8706612"/>
          </a:xfrm>
          <a:prstGeom prst="rect">
            <a:avLst/>
          </a:prstGeom>
          <a:solidFill>
            <a:srgbClr val="161514"/>
          </a:solidFill>
          <a:ln w="22098">
            <a:solidFill>
              <a:srgbClr val="444141"/>
            </a:solidFill>
            <a:prstDash val="solid"/>
          </a:ln>
        </p:spPr>
      </p:sp>
      <p:sp>
        <p:nvSpPr>
          <p:cNvPr id="4" name="Shape 2"/>
          <p:cNvSpPr/>
          <p:nvPr/>
        </p:nvSpPr>
        <p:spPr>
          <a:xfrm>
            <a:off x="784098" y="1546997"/>
            <a:ext cx="4264914" cy="11049"/>
          </a:xfrm>
          <a:prstGeom prst="rect">
            <a:avLst/>
          </a:prstGeom>
          <a:solidFill>
            <a:srgbClr val="F3F2F2">
              <a:alpha val="15000"/>
            </a:srgbClr>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078" y="1215527"/>
            <a:ext cx="198882" cy="198882"/>
          </a:xfrm>
          <a:prstGeom prst="rect">
            <a:avLst/>
          </a:prstGeom>
        </p:spPr>
      </p:pic>
      <p:sp>
        <p:nvSpPr>
          <p:cNvPr id="6" name="Text 3"/>
          <p:cNvSpPr/>
          <p:nvPr/>
        </p:nvSpPr>
        <p:spPr>
          <a:xfrm>
            <a:off x="1292352" y="1225022"/>
            <a:ext cx="879497"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F3F2F2"/>
                </a:solidFill>
                <a:latin typeface="Archivo" pitchFamily="34" charset="0"/>
                <a:ea typeface="Archivo" pitchFamily="34" charset="-122"/>
                <a:cs typeface="Archivo" pitchFamily="34" charset="-120"/>
              </a:rPr>
              <a:t>ACTIVITIES</a:t>
            </a:r>
            <a:endParaRPr lang="en-US" sz="914" dirty="0"/>
          </a:p>
        </p:txBody>
      </p:sp>
      <p:sp>
        <p:nvSpPr>
          <p:cNvPr id="7" name="Shape 4"/>
          <p:cNvSpPr/>
          <p:nvPr/>
        </p:nvSpPr>
        <p:spPr>
          <a:xfrm>
            <a:off x="1005078" y="1734830"/>
            <a:ext cx="464058" cy="464058"/>
          </a:xfrm>
          <a:prstGeom prst="rect">
            <a:avLst/>
          </a:prstGeom>
          <a:solidFill>
            <a:srgbClr val="FF563C"/>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5568" y="1845320"/>
            <a:ext cx="243078" cy="243078"/>
          </a:xfrm>
          <a:prstGeom prst="rect">
            <a:avLst/>
          </a:prstGeom>
        </p:spPr>
      </p:pic>
      <p:sp>
        <p:nvSpPr>
          <p:cNvPr id="9" name="Text 5"/>
          <p:cNvSpPr/>
          <p:nvPr/>
        </p:nvSpPr>
        <p:spPr>
          <a:xfrm>
            <a:off x="1601724" y="1769876"/>
            <a:ext cx="1653500"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82" kern="0" dirty="0">
                <a:solidFill>
                  <a:srgbClr val="FF563C"/>
                </a:solidFill>
                <a:latin typeface="Archivo" pitchFamily="34" charset="0"/>
                <a:ea typeface="Archivo" pitchFamily="34" charset="-122"/>
                <a:cs typeface="Archivo" pitchFamily="34" charset="-120"/>
              </a:rPr>
              <a:t>RUNNING</a:t>
            </a:r>
            <a:endParaRPr lang="en-US" sz="914" dirty="0"/>
          </a:p>
        </p:txBody>
      </p:sp>
      <p:sp>
        <p:nvSpPr>
          <p:cNvPr id="10" name="Text 6"/>
          <p:cNvSpPr/>
          <p:nvPr/>
        </p:nvSpPr>
        <p:spPr>
          <a:xfrm>
            <a:off x="1601724" y="1949681"/>
            <a:ext cx="1653500" cy="252174"/>
          </a:xfrm>
          <a:prstGeom prst="rect">
            <a:avLst/>
          </a:prstGeom>
          <a:noFill/>
          <a:ln/>
        </p:spPr>
        <p:txBody>
          <a:bodyPr wrap="square" lIns="25400" tIns="25400" rIns="25400" bIns="25400" rtlCol="0" anchor="t">
            <a:normAutofit/>
          </a:bodyPr>
          <a:lstStyle/>
          <a:p>
            <a:pPr algn="l" indent="0" marL="0">
              <a:lnSpc>
                <a:spcPct val="143519"/>
              </a:lnSpc>
              <a:buNone/>
            </a:pPr>
            <a:r>
              <a:rPr lang="en-US" sz="1087" dirty="0">
                <a:solidFill>
                  <a:srgbClr val="BAB6B6"/>
                </a:solidFill>
                <a:latin typeface="Archivo" pitchFamily="34" charset="0"/>
                <a:ea typeface="Archivo" pitchFamily="34" charset="-122"/>
                <a:cs typeface="Archivo" pitchFamily="34" charset="-120"/>
              </a:rPr>
              <a:t>Sun 16 Aug 2026 · 08:13</a:t>
            </a:r>
            <a:endParaRPr lang="en-US" sz="1087" dirty="0"/>
          </a:p>
        </p:txBody>
      </p:sp>
      <p:sp>
        <p:nvSpPr>
          <p:cNvPr id="11" name="Shape 7"/>
          <p:cNvSpPr/>
          <p:nvPr/>
        </p:nvSpPr>
        <p:spPr>
          <a:xfrm>
            <a:off x="1005078" y="2331476"/>
            <a:ext cx="3822954" cy="22098"/>
          </a:xfrm>
          <a:prstGeom prst="rect">
            <a:avLst/>
          </a:prstGeom>
          <a:solidFill>
            <a:srgbClr val="F3F2F2">
              <a:alpha val="35000"/>
            </a:srgbClr>
          </a:solidFill>
          <a:ln/>
        </p:spPr>
      </p:sp>
      <p:sp>
        <p:nvSpPr>
          <p:cNvPr id="12" name="Shape 8"/>
          <p:cNvSpPr/>
          <p:nvPr/>
        </p:nvSpPr>
        <p:spPr>
          <a:xfrm>
            <a:off x="1005078" y="3356961"/>
            <a:ext cx="3822954" cy="22098"/>
          </a:xfrm>
          <a:prstGeom prst="rect">
            <a:avLst/>
          </a:prstGeom>
          <a:solidFill>
            <a:srgbClr val="F3F2F2">
              <a:alpha val="35000"/>
            </a:srgbClr>
          </a:solidFill>
          <a:ln/>
        </p:spPr>
      </p:sp>
      <p:sp>
        <p:nvSpPr>
          <p:cNvPr id="13" name="Shape 9"/>
          <p:cNvSpPr/>
          <p:nvPr/>
        </p:nvSpPr>
        <p:spPr>
          <a:xfrm>
            <a:off x="2268289" y="2353574"/>
            <a:ext cx="11049" cy="1003387"/>
          </a:xfrm>
          <a:prstGeom prst="rect">
            <a:avLst/>
          </a:prstGeom>
          <a:solidFill>
            <a:srgbClr val="F3F2F2">
              <a:alpha val="15000"/>
            </a:srgbClr>
          </a:solidFill>
          <a:ln/>
        </p:spPr>
      </p:sp>
      <p:sp>
        <p:nvSpPr>
          <p:cNvPr id="14" name="Text 10"/>
          <p:cNvSpPr/>
          <p:nvPr/>
        </p:nvSpPr>
        <p:spPr>
          <a:xfrm>
            <a:off x="1005078" y="2508260"/>
            <a:ext cx="1206824"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9B9797"/>
                </a:solidFill>
                <a:latin typeface="Archivo" pitchFamily="34" charset="0"/>
                <a:ea typeface="Archivo" pitchFamily="34" charset="-122"/>
                <a:cs typeface="Archivo" pitchFamily="34" charset="-120"/>
              </a:rPr>
              <a:t>DISTANCE</a:t>
            </a:r>
            <a:endParaRPr lang="en-US" sz="827" dirty="0"/>
          </a:p>
        </p:txBody>
      </p:sp>
      <p:sp>
        <p:nvSpPr>
          <p:cNvPr id="15" name="Text 11"/>
          <p:cNvSpPr/>
          <p:nvPr/>
        </p:nvSpPr>
        <p:spPr>
          <a:xfrm>
            <a:off x="1005078" y="2670888"/>
            <a:ext cx="1206824"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F3F2F2"/>
                </a:solidFill>
                <a:latin typeface="Archivo" pitchFamily="34" charset="0"/>
                <a:ea typeface="Archivo" pitchFamily="34" charset="-122"/>
                <a:cs typeface="Archivo" pitchFamily="34" charset="-120"/>
              </a:rPr>
              <a:t>5.34</a:t>
            </a:r>
            <a:endParaRPr lang="en-US" sz="2349" dirty="0"/>
          </a:p>
        </p:txBody>
      </p:sp>
      <p:sp>
        <p:nvSpPr>
          <p:cNvPr id="16" name="Text 12"/>
          <p:cNvSpPr/>
          <p:nvPr/>
        </p:nvSpPr>
        <p:spPr>
          <a:xfrm>
            <a:off x="1005078" y="3013924"/>
            <a:ext cx="1206824"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9B9797"/>
                </a:solidFill>
                <a:latin typeface="Archivo" pitchFamily="34" charset="0"/>
                <a:ea typeface="Archivo" pitchFamily="34" charset="-122"/>
                <a:cs typeface="Archivo" pitchFamily="34" charset="-120"/>
              </a:rPr>
              <a:t>km</a:t>
            </a:r>
            <a:endParaRPr lang="en-US" sz="957" dirty="0"/>
          </a:p>
        </p:txBody>
      </p:sp>
      <p:sp>
        <p:nvSpPr>
          <p:cNvPr id="17" name="Shape 13"/>
          <p:cNvSpPr/>
          <p:nvPr/>
        </p:nvSpPr>
        <p:spPr>
          <a:xfrm>
            <a:off x="3542636" y="2353574"/>
            <a:ext cx="11049" cy="1003387"/>
          </a:xfrm>
          <a:prstGeom prst="rect">
            <a:avLst/>
          </a:prstGeom>
          <a:solidFill>
            <a:srgbClr val="F3F2F2">
              <a:alpha val="15000"/>
            </a:srgbClr>
          </a:solidFill>
          <a:ln/>
        </p:spPr>
      </p:sp>
      <p:sp>
        <p:nvSpPr>
          <p:cNvPr id="18" name="Text 14"/>
          <p:cNvSpPr/>
          <p:nvPr/>
        </p:nvSpPr>
        <p:spPr>
          <a:xfrm>
            <a:off x="2411926" y="2508260"/>
            <a:ext cx="1074322"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9B9797"/>
                </a:solidFill>
                <a:latin typeface="Archivo" pitchFamily="34" charset="0"/>
                <a:ea typeface="Archivo" pitchFamily="34" charset="-122"/>
                <a:cs typeface="Archivo" pitchFamily="34" charset="-120"/>
              </a:rPr>
              <a:t>DURATION</a:t>
            </a:r>
            <a:endParaRPr lang="en-US" sz="827" dirty="0"/>
          </a:p>
        </p:txBody>
      </p:sp>
      <p:sp>
        <p:nvSpPr>
          <p:cNvPr id="19" name="Text 15"/>
          <p:cNvSpPr/>
          <p:nvPr/>
        </p:nvSpPr>
        <p:spPr>
          <a:xfrm>
            <a:off x="2411926" y="2670888"/>
            <a:ext cx="1074322"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F3F2F2"/>
                </a:solidFill>
                <a:latin typeface="Archivo" pitchFamily="34" charset="0"/>
                <a:ea typeface="Archivo" pitchFamily="34" charset="-122"/>
                <a:cs typeface="Archivo" pitchFamily="34" charset="-120"/>
              </a:rPr>
              <a:t>30:16</a:t>
            </a:r>
            <a:endParaRPr lang="en-US" sz="2349" dirty="0"/>
          </a:p>
        </p:txBody>
      </p:sp>
      <p:sp>
        <p:nvSpPr>
          <p:cNvPr id="20" name="Text 16"/>
          <p:cNvSpPr/>
          <p:nvPr/>
        </p:nvSpPr>
        <p:spPr>
          <a:xfrm>
            <a:off x="2411926" y="3013924"/>
            <a:ext cx="1074322"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9B9797"/>
                </a:solidFill>
                <a:latin typeface="Archivo" pitchFamily="34" charset="0"/>
                <a:ea typeface="Archivo" pitchFamily="34" charset="-122"/>
                <a:cs typeface="Archivo" pitchFamily="34" charset="-120"/>
              </a:rPr>
              <a:t>mm:ss</a:t>
            </a:r>
            <a:endParaRPr lang="en-US" sz="957" dirty="0"/>
          </a:p>
        </p:txBody>
      </p:sp>
      <p:sp>
        <p:nvSpPr>
          <p:cNvPr id="21" name="Text 17"/>
          <p:cNvSpPr/>
          <p:nvPr/>
        </p:nvSpPr>
        <p:spPr>
          <a:xfrm>
            <a:off x="3686273" y="2508260"/>
            <a:ext cx="1217959"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9B9797"/>
                </a:solidFill>
                <a:latin typeface="Archivo" pitchFamily="34" charset="0"/>
                <a:ea typeface="Archivo" pitchFamily="34" charset="-122"/>
                <a:cs typeface="Archivo" pitchFamily="34" charset="-120"/>
              </a:rPr>
              <a:t>AVG PACE</a:t>
            </a:r>
            <a:endParaRPr lang="en-US" sz="827" dirty="0"/>
          </a:p>
        </p:txBody>
      </p:sp>
      <p:sp>
        <p:nvSpPr>
          <p:cNvPr id="22" name="Text 18"/>
          <p:cNvSpPr/>
          <p:nvPr/>
        </p:nvSpPr>
        <p:spPr>
          <a:xfrm>
            <a:off x="3686273" y="2670888"/>
            <a:ext cx="1217959" cy="381137"/>
          </a:xfrm>
          <a:prstGeom prst="rect">
            <a:avLst/>
          </a:prstGeom>
          <a:noFill/>
          <a:ln/>
        </p:spPr>
        <p:txBody>
          <a:bodyPr wrap="square" lIns="25400" tIns="25400" rIns="25400" bIns="25400" rtlCol="0" anchor="t">
            <a:normAutofit/>
          </a:bodyPr>
          <a:lstStyle/>
          <a:p>
            <a:pPr algn="l" indent="0" marL="0">
              <a:lnSpc>
                <a:spcPct val="107069"/>
              </a:lnSpc>
              <a:buNone/>
            </a:pPr>
            <a:r>
              <a:rPr lang="en-US" sz="2349" b="1" spc="-59" kern="0" dirty="0">
                <a:solidFill>
                  <a:srgbClr val="F3F2F2"/>
                </a:solidFill>
                <a:latin typeface="Archivo" pitchFamily="34" charset="0"/>
                <a:ea typeface="Archivo" pitchFamily="34" charset="-122"/>
                <a:cs typeface="Archivo" pitchFamily="34" charset="-120"/>
              </a:rPr>
              <a:t>5:40</a:t>
            </a:r>
            <a:endParaRPr lang="en-US" sz="2349" dirty="0"/>
          </a:p>
        </p:txBody>
      </p:sp>
      <p:sp>
        <p:nvSpPr>
          <p:cNvPr id="23" name="Text 19"/>
          <p:cNvSpPr/>
          <p:nvPr/>
        </p:nvSpPr>
        <p:spPr>
          <a:xfrm>
            <a:off x="3686273" y="3013924"/>
            <a:ext cx="1217959"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dirty="0">
                <a:solidFill>
                  <a:srgbClr val="9B9797"/>
                </a:solidFill>
                <a:latin typeface="Archivo" pitchFamily="34" charset="0"/>
                <a:ea typeface="Archivo" pitchFamily="34" charset="-122"/>
                <a:cs typeface="Archivo" pitchFamily="34" charset="-120"/>
              </a:rPr>
              <a:t>/km</a:t>
            </a:r>
            <a:endParaRPr lang="en-US" sz="957" dirty="0"/>
          </a:p>
        </p:txBody>
      </p:sp>
      <p:sp>
        <p:nvSpPr>
          <p:cNvPr id="24" name="Text 20"/>
          <p:cNvSpPr/>
          <p:nvPr/>
        </p:nvSpPr>
        <p:spPr>
          <a:xfrm>
            <a:off x="1005078" y="3555843"/>
            <a:ext cx="1540887"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F3F2F2"/>
                </a:solidFill>
                <a:latin typeface="Archivo" pitchFamily="34" charset="0"/>
                <a:ea typeface="Archivo" pitchFamily="34" charset="-122"/>
                <a:cs typeface="Archivo" pitchFamily="34" charset="-120"/>
              </a:rPr>
              <a:t>HEART RATE ZONES</a:t>
            </a:r>
            <a:endParaRPr lang="en-US" sz="914" dirty="0"/>
          </a:p>
        </p:txBody>
      </p:sp>
      <p:sp>
        <p:nvSpPr>
          <p:cNvPr id="25" name="Text 21"/>
          <p:cNvSpPr/>
          <p:nvPr/>
        </p:nvSpPr>
        <p:spPr>
          <a:xfrm>
            <a:off x="3518639" y="3544794"/>
            <a:ext cx="1440332" cy="234997"/>
          </a:xfrm>
          <a:prstGeom prst="rect">
            <a:avLst/>
          </a:prstGeom>
          <a:noFill/>
          <a:ln/>
        </p:spPr>
        <p:txBody>
          <a:bodyPr wrap="square" lIns="25400" tIns="25400" rIns="25400" bIns="25400" rtlCol="0" anchor="t">
            <a:normAutofit/>
          </a:bodyPr>
          <a:lstStyle/>
          <a:p>
            <a:pPr algn="l" indent="0" marL="0">
              <a:lnSpc>
                <a:spcPct val="142600"/>
              </a:lnSpc>
              <a:buNone/>
            </a:pPr>
            <a:r>
              <a:rPr lang="en-US" sz="1000" dirty="0">
                <a:solidFill>
                  <a:srgbClr val="9B9797"/>
                </a:solidFill>
                <a:latin typeface="Archivo" pitchFamily="34" charset="0"/>
                <a:ea typeface="Archivo" pitchFamily="34" charset="-122"/>
                <a:cs typeface="Archivo" pitchFamily="34" charset="-120"/>
              </a:rPr>
              <a:t>avg 175 · max 188 bpm</a:t>
            </a:r>
            <a:endParaRPr lang="en-US" sz="1000" dirty="0"/>
          </a:p>
        </p:txBody>
      </p:sp>
      <p:sp>
        <p:nvSpPr>
          <p:cNvPr id="26" name="Text 22"/>
          <p:cNvSpPr/>
          <p:nvPr/>
        </p:nvSpPr>
        <p:spPr>
          <a:xfrm>
            <a:off x="1005078" y="3824299"/>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9B9797"/>
                </a:solidFill>
                <a:latin typeface="Archivo" pitchFamily="34" charset="0"/>
                <a:ea typeface="Archivo" pitchFamily="34" charset="-122"/>
                <a:cs typeface="Archivo" pitchFamily="34" charset="-120"/>
              </a:rPr>
              <a:t>Z1</a:t>
            </a:r>
            <a:endParaRPr lang="en-US" sz="957" dirty="0"/>
          </a:p>
        </p:txBody>
      </p:sp>
      <p:sp>
        <p:nvSpPr>
          <p:cNvPr id="27" name="Shape 23"/>
          <p:cNvSpPr/>
          <p:nvPr/>
        </p:nvSpPr>
        <p:spPr>
          <a:xfrm>
            <a:off x="1336548" y="3819034"/>
            <a:ext cx="2828544" cy="198882"/>
          </a:xfrm>
          <a:prstGeom prst="rect">
            <a:avLst/>
          </a:prstGeom>
          <a:solidFill>
            <a:srgbClr val="F3F2F2">
              <a:alpha val="9000"/>
            </a:srgbClr>
          </a:solidFill>
          <a:ln/>
        </p:spPr>
      </p:sp>
      <p:sp>
        <p:nvSpPr>
          <p:cNvPr id="28" name="Shape 24"/>
          <p:cNvSpPr/>
          <p:nvPr/>
        </p:nvSpPr>
        <p:spPr>
          <a:xfrm>
            <a:off x="1336548" y="3819034"/>
            <a:ext cx="39535" cy="198882"/>
          </a:xfrm>
          <a:prstGeom prst="rect">
            <a:avLst/>
          </a:prstGeom>
          <a:solidFill>
            <a:srgbClr val="605D5D"/>
          </a:solidFill>
          <a:ln/>
        </p:spPr>
      </p:sp>
      <p:sp>
        <p:nvSpPr>
          <p:cNvPr id="29" name="Text 25"/>
          <p:cNvSpPr/>
          <p:nvPr/>
        </p:nvSpPr>
        <p:spPr>
          <a:xfrm>
            <a:off x="4199382" y="3819983"/>
            <a:ext cx="628650" cy="234996"/>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BAB6B6"/>
                </a:solidFill>
                <a:latin typeface="Archivo" pitchFamily="34" charset="0"/>
                <a:ea typeface="Archivo" pitchFamily="34" charset="-122"/>
                <a:cs typeface="Archivo" pitchFamily="34" charset="-120"/>
              </a:rPr>
              <a:t>0:20</a:t>
            </a:r>
            <a:endParaRPr lang="en-US" sz="1000" dirty="0"/>
          </a:p>
        </p:txBody>
      </p:sp>
      <p:sp>
        <p:nvSpPr>
          <p:cNvPr id="30" name="Text 26"/>
          <p:cNvSpPr/>
          <p:nvPr/>
        </p:nvSpPr>
        <p:spPr>
          <a:xfrm>
            <a:off x="1005078" y="4100524"/>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9B9797"/>
                </a:solidFill>
                <a:latin typeface="Archivo" pitchFamily="34" charset="0"/>
                <a:ea typeface="Archivo" pitchFamily="34" charset="-122"/>
                <a:cs typeface="Archivo" pitchFamily="34" charset="-120"/>
              </a:rPr>
              <a:t>Z2</a:t>
            </a:r>
            <a:endParaRPr lang="en-US" sz="957" dirty="0"/>
          </a:p>
        </p:txBody>
      </p:sp>
      <p:sp>
        <p:nvSpPr>
          <p:cNvPr id="31" name="Shape 27"/>
          <p:cNvSpPr/>
          <p:nvPr/>
        </p:nvSpPr>
        <p:spPr>
          <a:xfrm>
            <a:off x="1336548" y="4095259"/>
            <a:ext cx="2828544" cy="198882"/>
          </a:xfrm>
          <a:prstGeom prst="rect">
            <a:avLst/>
          </a:prstGeom>
          <a:solidFill>
            <a:srgbClr val="F3F2F2">
              <a:alpha val="9000"/>
            </a:srgbClr>
          </a:solidFill>
          <a:ln/>
        </p:spPr>
      </p:sp>
      <p:sp>
        <p:nvSpPr>
          <p:cNvPr id="32" name="Shape 28"/>
          <p:cNvSpPr/>
          <p:nvPr/>
        </p:nvSpPr>
        <p:spPr>
          <a:xfrm>
            <a:off x="1336548" y="4095259"/>
            <a:ext cx="84853" cy="198882"/>
          </a:xfrm>
          <a:prstGeom prst="rect">
            <a:avLst/>
          </a:prstGeom>
          <a:solidFill>
            <a:srgbClr val="9B9797"/>
          </a:solidFill>
          <a:ln/>
        </p:spPr>
      </p:sp>
      <p:sp>
        <p:nvSpPr>
          <p:cNvPr id="33" name="Text 29"/>
          <p:cNvSpPr/>
          <p:nvPr/>
        </p:nvSpPr>
        <p:spPr>
          <a:xfrm>
            <a:off x="4199382" y="4096208"/>
            <a:ext cx="628650" cy="234996"/>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BAB6B6"/>
                </a:solidFill>
                <a:latin typeface="Archivo" pitchFamily="34" charset="0"/>
                <a:ea typeface="Archivo" pitchFamily="34" charset="-122"/>
                <a:cs typeface="Archivo" pitchFamily="34" charset="-120"/>
              </a:rPr>
              <a:t>0:44</a:t>
            </a:r>
            <a:endParaRPr lang="en-US" sz="1000" dirty="0"/>
          </a:p>
        </p:txBody>
      </p:sp>
      <p:sp>
        <p:nvSpPr>
          <p:cNvPr id="34" name="Text 30"/>
          <p:cNvSpPr/>
          <p:nvPr/>
        </p:nvSpPr>
        <p:spPr>
          <a:xfrm>
            <a:off x="1005078" y="4376749"/>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9B9797"/>
                </a:solidFill>
                <a:latin typeface="Archivo" pitchFamily="34" charset="0"/>
                <a:ea typeface="Archivo" pitchFamily="34" charset="-122"/>
                <a:cs typeface="Archivo" pitchFamily="34" charset="-120"/>
              </a:rPr>
              <a:t>Z3</a:t>
            </a:r>
            <a:endParaRPr lang="en-US" sz="957" dirty="0"/>
          </a:p>
        </p:txBody>
      </p:sp>
      <p:sp>
        <p:nvSpPr>
          <p:cNvPr id="35" name="Shape 31"/>
          <p:cNvSpPr/>
          <p:nvPr/>
        </p:nvSpPr>
        <p:spPr>
          <a:xfrm>
            <a:off x="1336548" y="4371484"/>
            <a:ext cx="2828544" cy="198882"/>
          </a:xfrm>
          <a:prstGeom prst="rect">
            <a:avLst/>
          </a:prstGeom>
          <a:solidFill>
            <a:srgbClr val="F3F2F2">
              <a:alpha val="9000"/>
            </a:srgbClr>
          </a:solidFill>
          <a:ln/>
        </p:spPr>
      </p:sp>
      <p:sp>
        <p:nvSpPr>
          <p:cNvPr id="36" name="Shape 32"/>
          <p:cNvSpPr/>
          <p:nvPr/>
        </p:nvSpPr>
        <p:spPr>
          <a:xfrm>
            <a:off x="1336548" y="4371484"/>
            <a:ext cx="509117" cy="198882"/>
          </a:xfrm>
          <a:prstGeom prst="rect">
            <a:avLst/>
          </a:prstGeom>
          <a:solidFill>
            <a:srgbClr val="FF9783"/>
          </a:solidFill>
          <a:ln/>
        </p:spPr>
      </p:sp>
      <p:sp>
        <p:nvSpPr>
          <p:cNvPr id="37" name="Text 33"/>
          <p:cNvSpPr/>
          <p:nvPr/>
        </p:nvSpPr>
        <p:spPr>
          <a:xfrm>
            <a:off x="4199382" y="4372433"/>
            <a:ext cx="628650" cy="234996"/>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BAB6B6"/>
                </a:solidFill>
                <a:latin typeface="Archivo" pitchFamily="34" charset="0"/>
                <a:ea typeface="Archivo" pitchFamily="34" charset="-122"/>
                <a:cs typeface="Archivo" pitchFamily="34" charset="-120"/>
              </a:rPr>
              <a:t>4:25</a:t>
            </a:r>
            <a:endParaRPr lang="en-US" sz="1000" dirty="0"/>
          </a:p>
        </p:txBody>
      </p:sp>
      <p:sp>
        <p:nvSpPr>
          <p:cNvPr id="38" name="Text 34"/>
          <p:cNvSpPr/>
          <p:nvPr/>
        </p:nvSpPr>
        <p:spPr>
          <a:xfrm>
            <a:off x="1005078" y="4652974"/>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9B9797"/>
                </a:solidFill>
                <a:latin typeface="Archivo" pitchFamily="34" charset="0"/>
                <a:ea typeface="Archivo" pitchFamily="34" charset="-122"/>
                <a:cs typeface="Archivo" pitchFamily="34" charset="-120"/>
              </a:rPr>
              <a:t>Z4</a:t>
            </a:r>
            <a:endParaRPr lang="en-US" sz="957" dirty="0"/>
          </a:p>
        </p:txBody>
      </p:sp>
      <p:sp>
        <p:nvSpPr>
          <p:cNvPr id="39" name="Shape 35"/>
          <p:cNvSpPr/>
          <p:nvPr/>
        </p:nvSpPr>
        <p:spPr>
          <a:xfrm>
            <a:off x="1336548" y="4647709"/>
            <a:ext cx="2828544" cy="198882"/>
          </a:xfrm>
          <a:prstGeom prst="rect">
            <a:avLst/>
          </a:prstGeom>
          <a:solidFill>
            <a:srgbClr val="F3F2F2">
              <a:alpha val="9000"/>
            </a:srgbClr>
          </a:solidFill>
          <a:ln/>
        </p:spPr>
      </p:sp>
      <p:sp>
        <p:nvSpPr>
          <p:cNvPr id="40" name="Shape 36"/>
          <p:cNvSpPr/>
          <p:nvPr/>
        </p:nvSpPr>
        <p:spPr>
          <a:xfrm>
            <a:off x="1336548" y="4647709"/>
            <a:ext cx="28227" cy="198882"/>
          </a:xfrm>
          <a:prstGeom prst="rect">
            <a:avLst/>
          </a:prstGeom>
          <a:solidFill>
            <a:srgbClr val="FF563C"/>
          </a:solidFill>
          <a:ln/>
        </p:spPr>
      </p:sp>
      <p:sp>
        <p:nvSpPr>
          <p:cNvPr id="41" name="Text 37"/>
          <p:cNvSpPr/>
          <p:nvPr/>
        </p:nvSpPr>
        <p:spPr>
          <a:xfrm>
            <a:off x="4199382" y="4648658"/>
            <a:ext cx="628650" cy="234996"/>
          </a:xfrm>
          <a:prstGeom prst="rect">
            <a:avLst/>
          </a:prstGeom>
          <a:noFill/>
          <a:ln/>
        </p:spPr>
        <p:txBody>
          <a:bodyPr wrap="square" lIns="25400" tIns="25400" rIns="25400" bIns="25400" rtlCol="0" anchor="t">
            <a:normAutofit/>
          </a:bodyPr>
          <a:lstStyle/>
          <a:p>
            <a:pPr algn="r" indent="0" marL="0">
              <a:lnSpc>
                <a:spcPct val="142600"/>
              </a:lnSpc>
              <a:buNone/>
            </a:pPr>
            <a:r>
              <a:rPr lang="en-US" sz="1000" dirty="0">
                <a:solidFill>
                  <a:srgbClr val="BAB6B6"/>
                </a:solidFill>
                <a:latin typeface="Archivo" pitchFamily="34" charset="0"/>
                <a:ea typeface="Archivo" pitchFamily="34" charset="-122"/>
                <a:cs typeface="Archivo" pitchFamily="34" charset="-120"/>
              </a:rPr>
              <a:t>0:15</a:t>
            </a:r>
            <a:endParaRPr lang="en-US" sz="1000" dirty="0"/>
          </a:p>
        </p:txBody>
      </p:sp>
      <p:sp>
        <p:nvSpPr>
          <p:cNvPr id="42" name="Text 38"/>
          <p:cNvSpPr/>
          <p:nvPr/>
        </p:nvSpPr>
        <p:spPr>
          <a:xfrm>
            <a:off x="1005078" y="4929199"/>
            <a:ext cx="297180"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dirty="0">
                <a:solidFill>
                  <a:srgbClr val="F3F2F2"/>
                </a:solidFill>
                <a:latin typeface="Archivo" pitchFamily="34" charset="0"/>
                <a:ea typeface="Archivo" pitchFamily="34" charset="-122"/>
                <a:cs typeface="Archivo" pitchFamily="34" charset="-120"/>
              </a:rPr>
              <a:t>Z5</a:t>
            </a:r>
            <a:endParaRPr lang="en-US" sz="957" dirty="0"/>
          </a:p>
        </p:txBody>
      </p:sp>
      <p:sp>
        <p:nvSpPr>
          <p:cNvPr id="43" name="Shape 39"/>
          <p:cNvSpPr/>
          <p:nvPr/>
        </p:nvSpPr>
        <p:spPr>
          <a:xfrm>
            <a:off x="1336548" y="4923934"/>
            <a:ext cx="2828544" cy="198882"/>
          </a:xfrm>
          <a:prstGeom prst="rect">
            <a:avLst/>
          </a:prstGeom>
          <a:solidFill>
            <a:srgbClr val="F3F2F2">
              <a:alpha val="9000"/>
            </a:srgbClr>
          </a:solidFill>
          <a:ln/>
        </p:spPr>
      </p:sp>
      <p:sp>
        <p:nvSpPr>
          <p:cNvPr id="44" name="Shape 40"/>
          <p:cNvSpPr/>
          <p:nvPr/>
        </p:nvSpPr>
        <p:spPr>
          <a:xfrm>
            <a:off x="1336548" y="4923934"/>
            <a:ext cx="2828544" cy="198882"/>
          </a:xfrm>
          <a:prstGeom prst="rect">
            <a:avLst/>
          </a:prstGeom>
          <a:solidFill>
            <a:srgbClr val="DD2B0F"/>
          </a:solidFill>
          <a:ln/>
        </p:spPr>
      </p:sp>
      <p:sp>
        <p:nvSpPr>
          <p:cNvPr id="45" name="Text 41"/>
          <p:cNvSpPr/>
          <p:nvPr/>
        </p:nvSpPr>
        <p:spPr>
          <a:xfrm>
            <a:off x="4199382" y="4924883"/>
            <a:ext cx="628650" cy="234997"/>
          </a:xfrm>
          <a:prstGeom prst="rect">
            <a:avLst/>
          </a:prstGeom>
          <a:noFill/>
          <a:ln/>
        </p:spPr>
        <p:txBody>
          <a:bodyPr wrap="square" lIns="25400" tIns="25400" rIns="25400" bIns="25400" rtlCol="0" anchor="t">
            <a:normAutofit/>
          </a:bodyPr>
          <a:lstStyle/>
          <a:p>
            <a:pPr algn="r" indent="0" marL="0">
              <a:lnSpc>
                <a:spcPct val="142600"/>
              </a:lnSpc>
              <a:buNone/>
            </a:pPr>
            <a:r>
              <a:rPr lang="en-US" sz="1000" b="1" dirty="0">
                <a:solidFill>
                  <a:srgbClr val="F3F2F2"/>
                </a:solidFill>
                <a:latin typeface="Archivo" pitchFamily="34" charset="0"/>
                <a:ea typeface="Archivo" pitchFamily="34" charset="-122"/>
                <a:cs typeface="Archivo" pitchFamily="34" charset="-120"/>
              </a:rPr>
              <a:t>24:32</a:t>
            </a:r>
            <a:endParaRPr lang="en-US" sz="1000" dirty="0"/>
          </a:p>
        </p:txBody>
      </p:sp>
      <p:sp>
        <p:nvSpPr>
          <p:cNvPr id="46" name="Shape 42"/>
          <p:cNvSpPr/>
          <p:nvPr/>
        </p:nvSpPr>
        <p:spPr>
          <a:xfrm>
            <a:off x="1005078" y="5277502"/>
            <a:ext cx="3822954" cy="22098"/>
          </a:xfrm>
          <a:prstGeom prst="rect">
            <a:avLst/>
          </a:prstGeom>
          <a:solidFill>
            <a:srgbClr val="F3F2F2">
              <a:alpha val="35000"/>
            </a:srgbClr>
          </a:solidFill>
          <a:ln/>
        </p:spPr>
      </p:sp>
      <p:sp>
        <p:nvSpPr>
          <p:cNvPr id="47" name="Shape 43"/>
          <p:cNvSpPr/>
          <p:nvPr/>
        </p:nvSpPr>
        <p:spPr>
          <a:xfrm>
            <a:off x="1005078" y="6143381"/>
            <a:ext cx="3822954" cy="22098"/>
          </a:xfrm>
          <a:prstGeom prst="rect">
            <a:avLst/>
          </a:prstGeom>
          <a:solidFill>
            <a:srgbClr val="F3F2F2">
              <a:alpha val="35000"/>
            </a:srgbClr>
          </a:solidFill>
          <a:ln/>
        </p:spPr>
      </p:sp>
      <p:sp>
        <p:nvSpPr>
          <p:cNvPr id="48" name="Shape 44"/>
          <p:cNvSpPr/>
          <p:nvPr/>
        </p:nvSpPr>
        <p:spPr>
          <a:xfrm>
            <a:off x="3734181" y="5299600"/>
            <a:ext cx="11049" cy="843781"/>
          </a:xfrm>
          <a:prstGeom prst="rect">
            <a:avLst/>
          </a:prstGeom>
          <a:solidFill>
            <a:srgbClr val="F3F2F2">
              <a:alpha val="15000"/>
            </a:srgbClr>
          </a:solidFill>
          <a:ln/>
        </p:spPr>
      </p:sp>
      <p:sp>
        <p:nvSpPr>
          <p:cNvPr id="49" name="Text 45"/>
          <p:cNvSpPr/>
          <p:nvPr/>
        </p:nvSpPr>
        <p:spPr>
          <a:xfrm>
            <a:off x="1005078" y="5443236"/>
            <a:ext cx="2856167"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9B9797"/>
                </a:solidFill>
                <a:latin typeface="Archivo" pitchFamily="34" charset="0"/>
                <a:ea typeface="Archivo" pitchFamily="34" charset="-122"/>
                <a:cs typeface="Archivo" pitchFamily="34" charset="-120"/>
              </a:rPr>
              <a:t>TRAINING EFFECT</a:t>
            </a:r>
            <a:endParaRPr lang="en-US" sz="827" dirty="0"/>
          </a:p>
        </p:txBody>
      </p:sp>
      <p:sp>
        <p:nvSpPr>
          <p:cNvPr id="50" name="Text 46"/>
          <p:cNvSpPr/>
          <p:nvPr/>
        </p:nvSpPr>
        <p:spPr>
          <a:xfrm>
            <a:off x="1005078" y="5605864"/>
            <a:ext cx="459807" cy="431979"/>
          </a:xfrm>
          <a:prstGeom prst="rect">
            <a:avLst/>
          </a:prstGeom>
          <a:noFill/>
          <a:ln/>
        </p:spPr>
        <p:txBody>
          <a:bodyPr wrap="square" lIns="25400" tIns="25400" rIns="25400" bIns="25400" rtlCol="0" anchor="t">
            <a:normAutofit/>
          </a:bodyPr>
          <a:lstStyle/>
          <a:p>
            <a:pPr algn="l" indent="0" marL="0">
              <a:lnSpc>
                <a:spcPct val="142600"/>
              </a:lnSpc>
              <a:buNone/>
            </a:pPr>
            <a:r>
              <a:rPr lang="en-US" sz="2001" b="1" spc="-40" kern="0" dirty="0">
                <a:solidFill>
                  <a:srgbClr val="F3F2F2"/>
                </a:solidFill>
                <a:latin typeface="Archivo" pitchFamily="34" charset="0"/>
                <a:ea typeface="Archivo" pitchFamily="34" charset="-122"/>
                <a:cs typeface="Archivo" pitchFamily="34" charset="-120"/>
              </a:rPr>
              <a:t>4.7</a:t>
            </a:r>
            <a:endParaRPr lang="en-US" sz="2001" dirty="0"/>
          </a:p>
        </p:txBody>
      </p:sp>
      <p:sp>
        <p:nvSpPr>
          <p:cNvPr id="51" name="Text 47"/>
          <p:cNvSpPr/>
          <p:nvPr/>
        </p:nvSpPr>
        <p:spPr>
          <a:xfrm>
            <a:off x="1477077" y="5749501"/>
            <a:ext cx="661452" cy="226451"/>
          </a:xfrm>
          <a:prstGeom prst="rect">
            <a:avLst/>
          </a:prstGeom>
          <a:noFill/>
          <a:ln/>
        </p:spPr>
        <p:txBody>
          <a:bodyPr wrap="square" lIns="25400" tIns="25400" rIns="25400" bIns="25400" rtlCol="0" anchor="t">
            <a:normAutofit/>
          </a:bodyPr>
          <a:lstStyle/>
          <a:p>
            <a:pPr algn="l" indent="0" marL="0">
              <a:lnSpc>
                <a:spcPct val="142083"/>
              </a:lnSpc>
              <a:buNone/>
            </a:pPr>
            <a:r>
              <a:rPr lang="en-US" sz="957" b="1" spc="48" kern="0" dirty="0">
                <a:solidFill>
                  <a:srgbClr val="FF9783"/>
                </a:solidFill>
                <a:latin typeface="Archivo" pitchFamily="34" charset="0"/>
                <a:ea typeface="Archivo" pitchFamily="34" charset="-122"/>
                <a:cs typeface="Archivo" pitchFamily="34" charset="-120"/>
              </a:rPr>
              <a:t>VO2MAX</a:t>
            </a:r>
            <a:endParaRPr lang="en-US" sz="957" dirty="0"/>
          </a:p>
        </p:txBody>
      </p:sp>
      <p:sp>
        <p:nvSpPr>
          <p:cNvPr id="52" name="Text 48"/>
          <p:cNvSpPr/>
          <p:nvPr/>
        </p:nvSpPr>
        <p:spPr>
          <a:xfrm>
            <a:off x="3877818" y="5443236"/>
            <a:ext cx="1026414" cy="200728"/>
          </a:xfrm>
          <a:prstGeom prst="rect">
            <a:avLst/>
          </a:prstGeom>
          <a:noFill/>
          <a:ln/>
        </p:spPr>
        <p:txBody>
          <a:bodyPr wrap="square" lIns="25400" tIns="25400" rIns="25400" bIns="25400" rtlCol="0" anchor="t">
            <a:normAutofit/>
          </a:bodyPr>
          <a:lstStyle/>
          <a:p>
            <a:pPr algn="l" indent="0" marL="0">
              <a:lnSpc>
                <a:spcPct val="140238"/>
              </a:lnSpc>
              <a:buNone/>
            </a:pPr>
            <a:r>
              <a:rPr lang="en-US" sz="827" b="1" spc="83" kern="0" dirty="0">
                <a:solidFill>
                  <a:srgbClr val="9B9797"/>
                </a:solidFill>
                <a:latin typeface="Archivo" pitchFamily="34" charset="0"/>
                <a:ea typeface="Archivo" pitchFamily="34" charset="-122"/>
                <a:cs typeface="Archivo" pitchFamily="34" charset="-120"/>
              </a:rPr>
              <a:t>ANAEROBIC</a:t>
            </a:r>
            <a:endParaRPr lang="en-US" sz="827" dirty="0"/>
          </a:p>
        </p:txBody>
      </p:sp>
      <p:sp>
        <p:nvSpPr>
          <p:cNvPr id="53" name="Text 49"/>
          <p:cNvSpPr/>
          <p:nvPr/>
        </p:nvSpPr>
        <p:spPr>
          <a:xfrm>
            <a:off x="3877818" y="5605864"/>
            <a:ext cx="1026414" cy="431979"/>
          </a:xfrm>
          <a:prstGeom prst="rect">
            <a:avLst/>
          </a:prstGeom>
          <a:noFill/>
          <a:ln/>
        </p:spPr>
        <p:txBody>
          <a:bodyPr wrap="square" lIns="25400" tIns="25400" rIns="25400" bIns="25400" rtlCol="0" anchor="t">
            <a:normAutofit/>
          </a:bodyPr>
          <a:lstStyle/>
          <a:p>
            <a:pPr algn="l" indent="0" marL="0">
              <a:lnSpc>
                <a:spcPct val="142600"/>
              </a:lnSpc>
              <a:buNone/>
            </a:pPr>
            <a:r>
              <a:rPr lang="en-US" sz="2001" b="1" spc="-40" kern="0" dirty="0">
                <a:solidFill>
                  <a:srgbClr val="F3F2F2"/>
                </a:solidFill>
                <a:latin typeface="Archivo" pitchFamily="34" charset="0"/>
                <a:ea typeface="Archivo" pitchFamily="34" charset="-122"/>
                <a:cs typeface="Archivo" pitchFamily="34" charset="-120"/>
              </a:rPr>
              <a:t>0.3</a:t>
            </a:r>
            <a:endParaRPr lang="en-US" sz="2001" dirty="0"/>
          </a:p>
        </p:txBody>
      </p:sp>
      <p:sp>
        <p:nvSpPr>
          <p:cNvPr id="54" name="Text 50"/>
          <p:cNvSpPr/>
          <p:nvPr/>
        </p:nvSpPr>
        <p:spPr>
          <a:xfrm>
            <a:off x="1005078" y="6331214"/>
            <a:ext cx="3937642" cy="217905"/>
          </a:xfrm>
          <a:prstGeom prst="rect">
            <a:avLst/>
          </a:prstGeom>
          <a:noFill/>
          <a:ln/>
        </p:spPr>
        <p:txBody>
          <a:bodyPr wrap="square" lIns="25400" tIns="25400" rIns="25400" bIns="25400" rtlCol="0" anchor="t">
            <a:normAutofit/>
          </a:bodyPr>
          <a:lstStyle/>
          <a:p>
            <a:pPr algn="l" indent="0" marL="0">
              <a:lnSpc>
                <a:spcPct val="147955"/>
              </a:lnSpc>
              <a:buNone/>
            </a:pPr>
            <a:r>
              <a:rPr lang="en-US" sz="914" b="1" spc="91" kern="0" dirty="0">
                <a:solidFill>
                  <a:srgbClr val="F3F2F2"/>
                </a:solidFill>
                <a:latin typeface="Archivo" pitchFamily="34" charset="0"/>
                <a:ea typeface="Archivo" pitchFamily="34" charset="-122"/>
                <a:cs typeface="Archivo" pitchFamily="34" charset="-120"/>
              </a:rPr>
              <a:t>RUNNING DYNAMICS</a:t>
            </a:r>
            <a:endParaRPr lang="en-US" sz="914" dirty="0"/>
          </a:p>
        </p:txBody>
      </p:sp>
      <p:sp>
        <p:nvSpPr>
          <p:cNvPr id="55" name="Shape 51"/>
          <p:cNvSpPr/>
          <p:nvPr/>
        </p:nvSpPr>
        <p:spPr>
          <a:xfrm>
            <a:off x="1005078" y="7055182"/>
            <a:ext cx="1911477" cy="11049"/>
          </a:xfrm>
          <a:prstGeom prst="rect">
            <a:avLst/>
          </a:prstGeom>
          <a:solidFill>
            <a:srgbClr val="F3F2F2">
              <a:alpha val="15000"/>
            </a:srgbClr>
          </a:solidFill>
          <a:ln/>
        </p:spPr>
      </p:sp>
      <p:sp>
        <p:nvSpPr>
          <p:cNvPr id="56" name="Shape 52"/>
          <p:cNvSpPr/>
          <p:nvPr/>
        </p:nvSpPr>
        <p:spPr>
          <a:xfrm>
            <a:off x="2905506" y="6577313"/>
            <a:ext cx="11049" cy="488918"/>
          </a:xfrm>
          <a:prstGeom prst="rect">
            <a:avLst/>
          </a:prstGeom>
          <a:solidFill>
            <a:srgbClr val="F3F2F2">
              <a:alpha val="15000"/>
            </a:srgbClr>
          </a:solidFill>
          <a:ln/>
        </p:spPr>
      </p:sp>
      <p:sp>
        <p:nvSpPr>
          <p:cNvPr id="57" name="Text 53"/>
          <p:cNvSpPr/>
          <p:nvPr/>
        </p:nvSpPr>
        <p:spPr>
          <a:xfrm>
            <a:off x="1005078" y="6726474"/>
            <a:ext cx="608796" cy="243543"/>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BAB6B6"/>
                </a:solidFill>
                <a:latin typeface="Archivo" pitchFamily="34" charset="0"/>
                <a:ea typeface="Archivo" pitchFamily="34" charset="-122"/>
                <a:cs typeface="Archivo" pitchFamily="34" charset="-120"/>
              </a:rPr>
              <a:t>Cadence</a:t>
            </a:r>
            <a:endParaRPr lang="en-US" sz="1044" dirty="0"/>
          </a:p>
        </p:txBody>
      </p:sp>
      <p:sp>
        <p:nvSpPr>
          <p:cNvPr id="58" name="Text 54"/>
          <p:cNvSpPr/>
          <p:nvPr/>
        </p:nvSpPr>
        <p:spPr>
          <a:xfrm>
            <a:off x="2461215" y="6687803"/>
            <a:ext cx="387902" cy="294990"/>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F3F2F2"/>
                </a:solidFill>
                <a:latin typeface="Archivo" pitchFamily="34" charset="0"/>
                <a:ea typeface="Archivo" pitchFamily="34" charset="-122"/>
                <a:cs typeface="Archivo" pitchFamily="34" charset="-120"/>
              </a:rPr>
              <a:t>155</a:t>
            </a:r>
            <a:endParaRPr lang="en-US" sz="1305" dirty="0"/>
          </a:p>
        </p:txBody>
      </p:sp>
      <p:sp>
        <p:nvSpPr>
          <p:cNvPr id="59" name="Shape 55"/>
          <p:cNvSpPr/>
          <p:nvPr/>
        </p:nvSpPr>
        <p:spPr>
          <a:xfrm>
            <a:off x="2916555" y="7055182"/>
            <a:ext cx="1911477" cy="11049"/>
          </a:xfrm>
          <a:prstGeom prst="rect">
            <a:avLst/>
          </a:prstGeom>
          <a:solidFill>
            <a:srgbClr val="F3F2F2">
              <a:alpha val="15000"/>
            </a:srgbClr>
          </a:solidFill>
          <a:ln/>
        </p:spPr>
      </p:sp>
      <p:sp>
        <p:nvSpPr>
          <p:cNvPr id="60" name="Text 56"/>
          <p:cNvSpPr/>
          <p:nvPr/>
        </p:nvSpPr>
        <p:spPr>
          <a:xfrm>
            <a:off x="3049143" y="6726474"/>
            <a:ext cx="426402" cy="243543"/>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BAB6B6"/>
                </a:solidFill>
                <a:latin typeface="Archivo" pitchFamily="34" charset="0"/>
                <a:ea typeface="Archivo" pitchFamily="34" charset="-122"/>
                <a:cs typeface="Archivo" pitchFamily="34" charset="-120"/>
              </a:rPr>
              <a:t>Stride</a:t>
            </a:r>
            <a:endParaRPr lang="en-US" sz="1044" dirty="0"/>
          </a:p>
        </p:txBody>
      </p:sp>
      <p:sp>
        <p:nvSpPr>
          <p:cNvPr id="61" name="Text 57"/>
          <p:cNvSpPr/>
          <p:nvPr/>
        </p:nvSpPr>
        <p:spPr>
          <a:xfrm>
            <a:off x="4277049" y="6687803"/>
            <a:ext cx="627182" cy="294990"/>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F3F2F2"/>
                </a:solidFill>
                <a:latin typeface="Archivo" pitchFamily="34" charset="0"/>
                <a:ea typeface="Archivo" pitchFamily="34" charset="-122"/>
                <a:cs typeface="Archivo" pitchFamily="34" charset="-120"/>
              </a:rPr>
              <a:t>1.13 m</a:t>
            </a:r>
            <a:endParaRPr lang="en-US" sz="1305" dirty="0"/>
          </a:p>
        </p:txBody>
      </p:sp>
      <p:sp>
        <p:nvSpPr>
          <p:cNvPr id="62" name="Shape 58"/>
          <p:cNvSpPr/>
          <p:nvPr/>
        </p:nvSpPr>
        <p:spPr>
          <a:xfrm>
            <a:off x="2905506" y="7066231"/>
            <a:ext cx="11049" cy="477869"/>
          </a:xfrm>
          <a:prstGeom prst="rect">
            <a:avLst/>
          </a:prstGeom>
          <a:solidFill>
            <a:srgbClr val="F3F2F2">
              <a:alpha val="15000"/>
            </a:srgbClr>
          </a:solidFill>
          <a:ln/>
        </p:spPr>
      </p:sp>
      <p:sp>
        <p:nvSpPr>
          <p:cNvPr id="63" name="Text 59"/>
          <p:cNvSpPr/>
          <p:nvPr/>
        </p:nvSpPr>
        <p:spPr>
          <a:xfrm>
            <a:off x="1005078" y="7215393"/>
            <a:ext cx="625111"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BAB6B6"/>
                </a:solidFill>
                <a:latin typeface="Archivo" pitchFamily="34" charset="0"/>
                <a:ea typeface="Archivo" pitchFamily="34" charset="-122"/>
                <a:cs typeface="Archivo" pitchFamily="34" charset="-120"/>
              </a:rPr>
              <a:t>Vert. osc.</a:t>
            </a:r>
            <a:endParaRPr lang="en-US" sz="1044" dirty="0"/>
          </a:p>
        </p:txBody>
      </p:sp>
      <p:sp>
        <p:nvSpPr>
          <p:cNvPr id="64" name="Text 60"/>
          <p:cNvSpPr/>
          <p:nvPr/>
        </p:nvSpPr>
        <p:spPr>
          <a:xfrm>
            <a:off x="2120509" y="7176721"/>
            <a:ext cx="728609"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F3F2F2"/>
                </a:solidFill>
                <a:latin typeface="Archivo" pitchFamily="34" charset="0"/>
                <a:ea typeface="Archivo" pitchFamily="34" charset="-122"/>
                <a:cs typeface="Archivo" pitchFamily="34" charset="-120"/>
              </a:rPr>
              <a:t>10.4 cm</a:t>
            </a:r>
            <a:endParaRPr lang="en-US" sz="1305" dirty="0"/>
          </a:p>
        </p:txBody>
      </p:sp>
      <p:sp>
        <p:nvSpPr>
          <p:cNvPr id="65" name="Text 61"/>
          <p:cNvSpPr/>
          <p:nvPr/>
        </p:nvSpPr>
        <p:spPr>
          <a:xfrm>
            <a:off x="3049143" y="7215393"/>
            <a:ext cx="696843" cy="243542"/>
          </a:xfrm>
          <a:prstGeom prst="rect">
            <a:avLst/>
          </a:prstGeom>
          <a:noFill/>
          <a:ln/>
        </p:spPr>
        <p:txBody>
          <a:bodyPr wrap="square" lIns="25400" tIns="25400" rIns="25400" bIns="25400" rtlCol="0" anchor="t">
            <a:normAutofit/>
          </a:bodyPr>
          <a:lstStyle/>
          <a:p>
            <a:pPr algn="l" indent="0" marL="0">
              <a:lnSpc>
                <a:spcPct val="143077"/>
              </a:lnSpc>
              <a:buNone/>
            </a:pPr>
            <a:r>
              <a:rPr lang="en-US" sz="1044" dirty="0">
                <a:solidFill>
                  <a:srgbClr val="BAB6B6"/>
                </a:solidFill>
                <a:latin typeface="Archivo" pitchFamily="34" charset="0"/>
                <a:ea typeface="Archivo" pitchFamily="34" charset="-122"/>
                <a:cs typeface="Archivo" pitchFamily="34" charset="-120"/>
              </a:rPr>
              <a:t>Ground ct.</a:t>
            </a:r>
            <a:endParaRPr lang="en-US" sz="1044" dirty="0"/>
          </a:p>
        </p:txBody>
      </p:sp>
      <p:sp>
        <p:nvSpPr>
          <p:cNvPr id="66" name="Text 62"/>
          <p:cNvSpPr/>
          <p:nvPr/>
        </p:nvSpPr>
        <p:spPr>
          <a:xfrm>
            <a:off x="4233803" y="7176721"/>
            <a:ext cx="670429" cy="294989"/>
          </a:xfrm>
          <a:prstGeom prst="rect">
            <a:avLst/>
          </a:prstGeom>
          <a:noFill/>
          <a:ln/>
        </p:spPr>
        <p:txBody>
          <a:bodyPr wrap="square" lIns="25400" tIns="25400" rIns="25400" bIns="25400" rtlCol="0" anchor="t">
            <a:normAutofit/>
          </a:bodyPr>
          <a:lstStyle/>
          <a:p>
            <a:pPr algn="l" indent="0" marL="0">
              <a:lnSpc>
                <a:spcPct val="145313"/>
              </a:lnSpc>
              <a:buNone/>
            </a:pPr>
            <a:r>
              <a:rPr lang="en-US" sz="1305" b="1" dirty="0">
                <a:solidFill>
                  <a:srgbClr val="F3F2F2"/>
                </a:solidFill>
                <a:latin typeface="Archivo" pitchFamily="34" charset="0"/>
                <a:ea typeface="Archivo" pitchFamily="34" charset="-122"/>
                <a:cs typeface="Archivo" pitchFamily="34" charset="-120"/>
              </a:rPr>
              <a:t>280 ms</a:t>
            </a:r>
            <a:endParaRPr lang="en-US" sz="1305" dirty="0"/>
          </a:p>
        </p:txBody>
      </p:sp>
      <p:sp>
        <p:nvSpPr>
          <p:cNvPr id="67" name="Shape 63"/>
          <p:cNvSpPr/>
          <p:nvPr/>
        </p:nvSpPr>
        <p:spPr>
          <a:xfrm>
            <a:off x="1005078" y="8099917"/>
            <a:ext cx="3822954" cy="540538"/>
          </a:xfrm>
          <a:prstGeom prst="rect">
            <a:avLst/>
          </a:prstGeom>
          <a:solidFill>
            <a:srgbClr val="F3F2F2"/>
          </a:solidFill>
          <a:ln/>
        </p:spPr>
      </p:sp>
      <p:pic>
        <p:nvPicPr>
          <p:cNvPr id="6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81862" y="8265221"/>
            <a:ext cx="209931" cy="209931"/>
          </a:xfrm>
          <a:prstGeom prst="rect">
            <a:avLst/>
          </a:prstGeom>
        </p:spPr>
      </p:pic>
      <p:sp>
        <p:nvSpPr>
          <p:cNvPr id="69" name="Text 64"/>
          <p:cNvSpPr/>
          <p:nvPr/>
        </p:nvSpPr>
        <p:spPr>
          <a:xfrm>
            <a:off x="1502283" y="8254603"/>
            <a:ext cx="2250845" cy="269266"/>
          </a:xfrm>
          <a:prstGeom prst="rect">
            <a:avLst/>
          </a:prstGeom>
          <a:noFill/>
          <a:ln/>
        </p:spPr>
        <p:txBody>
          <a:bodyPr wrap="square" lIns="25400" tIns="25400" rIns="25400" bIns="25400" rtlCol="0" anchor="t">
            <a:normAutofit/>
          </a:bodyPr>
          <a:lstStyle/>
          <a:p>
            <a:pPr algn="l" indent="0" marL="0">
              <a:lnSpc>
                <a:spcPct val="139500"/>
              </a:lnSpc>
              <a:buNone/>
            </a:pPr>
            <a:r>
              <a:rPr lang="en-US" sz="1175" b="1" dirty="0">
                <a:solidFill>
                  <a:srgbClr val="201E1D"/>
                </a:solidFill>
                <a:latin typeface="Archivo" pitchFamily="34" charset="0"/>
                <a:ea typeface="Archivo" pitchFamily="34" charset="-122"/>
                <a:cs typeface="Archivo" pitchFamily="34" charset="-120"/>
              </a:rPr>
              <a:t>Copied · 692 B of Markdown</a:t>
            </a:r>
            <a:endParaRPr lang="en-US" sz="1175" dirty="0"/>
          </a:p>
        </p:txBody>
      </p:sp>
      <p:sp>
        <p:nvSpPr>
          <p:cNvPr id="70" name="Shape 65"/>
          <p:cNvSpPr/>
          <p:nvPr/>
        </p:nvSpPr>
        <p:spPr>
          <a:xfrm>
            <a:off x="784098" y="8795140"/>
            <a:ext cx="4264914" cy="950214"/>
          </a:xfrm>
          <a:prstGeom prst="rect">
            <a:avLst/>
          </a:prstGeom>
          <a:solidFill>
            <a:srgbClr val="161514"/>
          </a:solidFill>
          <a:ln/>
        </p:spPr>
      </p:sp>
      <p:sp>
        <p:nvSpPr>
          <p:cNvPr id="71" name="Shape 66"/>
          <p:cNvSpPr/>
          <p:nvPr/>
        </p:nvSpPr>
        <p:spPr>
          <a:xfrm>
            <a:off x="784098" y="8795140"/>
            <a:ext cx="4264914" cy="22098"/>
          </a:xfrm>
          <a:prstGeom prst="rect">
            <a:avLst/>
          </a:prstGeom>
          <a:solidFill>
            <a:srgbClr val="F3F2F2">
              <a:alpha val="35000"/>
            </a:srgbClr>
          </a:solidFill>
          <a:ln/>
        </p:spPr>
      </p:sp>
      <p:sp>
        <p:nvSpPr>
          <p:cNvPr id="72" name="Shape 67"/>
          <p:cNvSpPr/>
          <p:nvPr/>
        </p:nvSpPr>
        <p:spPr>
          <a:xfrm>
            <a:off x="1005078" y="8949827"/>
            <a:ext cx="3093720" cy="574547"/>
          </a:xfrm>
          <a:prstGeom prst="rect">
            <a:avLst/>
          </a:prstGeom>
          <a:solidFill>
            <a:srgbClr val="201E1D"/>
          </a:solidFill>
          <a:ln w="11049">
            <a:solidFill>
              <a:srgbClr val="FF563C"/>
            </a:solidFill>
            <a:prstDash val="solid"/>
          </a:ln>
        </p:spPr>
      </p:sp>
      <p:pic>
        <p:nvPicPr>
          <p:cNvPr id="7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2911" y="9137660"/>
            <a:ext cx="198882" cy="198882"/>
          </a:xfrm>
          <a:prstGeom prst="rect">
            <a:avLst/>
          </a:prstGeom>
        </p:spPr>
      </p:pic>
      <p:sp>
        <p:nvSpPr>
          <p:cNvPr id="74" name="Text 68"/>
          <p:cNvSpPr/>
          <p:nvPr/>
        </p:nvSpPr>
        <p:spPr>
          <a:xfrm>
            <a:off x="1491234" y="9151471"/>
            <a:ext cx="646605" cy="209359"/>
          </a:xfrm>
          <a:prstGeom prst="rect">
            <a:avLst/>
          </a:prstGeom>
          <a:noFill/>
          <a:ln/>
        </p:spPr>
        <p:txBody>
          <a:bodyPr wrap="square" lIns="0" tIns="0" rIns="0" bIns="0" rtlCol="0" anchor="t">
            <a:normAutofit/>
          </a:bodyPr>
          <a:lstStyle/>
          <a:p>
            <a:pPr algn="ctr" indent="0" marL="0">
              <a:buNone/>
            </a:pPr>
            <a:r>
              <a:rPr lang="en-US" sz="1262" b="1" dirty="0">
                <a:solidFill>
                  <a:srgbClr val="F3F2F2"/>
                </a:solidFill>
                <a:latin typeface="Archivo" pitchFamily="34" charset="0"/>
                <a:ea typeface="Archivo" pitchFamily="34" charset="-122"/>
                <a:cs typeface="Archivo" pitchFamily="34" charset="-120"/>
              </a:rPr>
              <a:t>Copied</a:t>
            </a:r>
            <a:endParaRPr lang="en-US" sz="1262" dirty="0"/>
          </a:p>
        </p:txBody>
      </p:sp>
      <p:sp>
        <p:nvSpPr>
          <p:cNvPr id="75" name="Shape 69"/>
          <p:cNvSpPr/>
          <p:nvPr/>
        </p:nvSpPr>
        <p:spPr>
          <a:xfrm>
            <a:off x="4209288" y="8949827"/>
            <a:ext cx="618744" cy="574547"/>
          </a:xfrm>
          <a:prstGeom prst="rect">
            <a:avLst/>
          </a:prstGeom>
          <a:ln w="11049">
            <a:solidFill>
              <a:srgbClr val="F3F2F2">
                <a:alpha val="35000"/>
              </a:srgbClr>
            </a:solidFill>
            <a:prstDash val="solid"/>
          </a:ln>
        </p:spPr>
      </p:sp>
      <p:pic>
        <p:nvPicPr>
          <p:cNvPr id="7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08170" y="9126611"/>
            <a:ext cx="220980" cy="220980"/>
          </a:xfrm>
          <a:prstGeom prst="rect">
            <a:avLst/>
          </a:prstGeom>
        </p:spPr>
      </p:pic>
      <p:sp>
        <p:nvSpPr>
          <p:cNvPr id="77" name="Text 70"/>
          <p:cNvSpPr/>
          <p:nvPr/>
        </p:nvSpPr>
        <p:spPr>
          <a:xfrm>
            <a:off x="6000750" y="2160984"/>
            <a:ext cx="12677775"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SCREEN 03</a:t>
            </a:r>
            <a:endParaRPr lang="en-US" sz="1800" dirty="0"/>
          </a:p>
        </p:txBody>
      </p:sp>
      <p:sp>
        <p:nvSpPr>
          <p:cNvPr id="78" name="Text 71"/>
          <p:cNvSpPr/>
          <p:nvPr/>
        </p:nvSpPr>
        <p:spPr>
          <a:xfrm>
            <a:off x="6000750" y="2705770"/>
            <a:ext cx="11871008" cy="1543794"/>
          </a:xfrm>
          <a:prstGeom prst="rect">
            <a:avLst/>
          </a:prstGeom>
          <a:noFill/>
          <a:ln/>
        </p:spPr>
        <p:txBody>
          <a:bodyPr wrap="square" lIns="25400" tIns="25400" rIns="25400" bIns="25400" rtlCol="0" anchor="t">
            <a:normAutofit/>
          </a:bodyPr>
          <a:lstStyle/>
          <a:p>
            <a:pPr algn="l" indent="0" marL="0">
              <a:lnSpc>
                <a:spcPct val="95806"/>
              </a:lnSpc>
              <a:buNone/>
            </a:pPr>
            <a:r>
              <a:rPr lang="en-US" sz="5700" b="1" spc="-171" kern="0" dirty="0">
                <a:solidFill>
                  <a:srgbClr val="201E1D"/>
                </a:solidFill>
                <a:latin typeface="Archivo" pitchFamily="34" charset="0"/>
                <a:ea typeface="Archivo" pitchFamily="34" charset="-122"/>
                <a:cs typeface="Archivo" pitchFamily="34" charset="-120"/>
              </a:rPr>
              <a:t>Dark mode and the copy confirmation</a:t>
            </a:r>
            <a:endParaRPr lang="en-US" sz="5700" dirty="0"/>
          </a:p>
        </p:txBody>
      </p:sp>
      <p:sp>
        <p:nvSpPr>
          <p:cNvPr id="79" name="Shape 72"/>
          <p:cNvSpPr/>
          <p:nvPr/>
        </p:nvSpPr>
        <p:spPr>
          <a:xfrm>
            <a:off x="6000750" y="4630564"/>
            <a:ext cx="11525250" cy="19050"/>
          </a:xfrm>
          <a:prstGeom prst="rect">
            <a:avLst/>
          </a:prstGeom>
          <a:solidFill>
            <a:srgbClr val="201E1D">
              <a:alpha val="25000"/>
            </a:srgbClr>
          </a:solidFill>
          <a:ln/>
        </p:spPr>
      </p:sp>
      <p:sp>
        <p:nvSpPr>
          <p:cNvPr id="80" name="Text 73"/>
          <p:cNvSpPr/>
          <p:nvPr/>
        </p:nvSpPr>
        <p:spPr>
          <a:xfrm>
            <a:off x="6000750" y="4897264"/>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GROUND</a:t>
            </a:r>
            <a:endParaRPr lang="en-US" sz="1650" dirty="0"/>
          </a:p>
        </p:txBody>
      </p:sp>
      <p:sp>
        <p:nvSpPr>
          <p:cNvPr id="81" name="Text 74"/>
          <p:cNvSpPr/>
          <p:nvPr/>
        </p:nvSpPr>
        <p:spPr>
          <a:xfrm>
            <a:off x="8401050" y="4897264"/>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#161514 with the rules at 35% white. Sport hues step one lighter so they hold on the dark ground.</a:t>
            </a:r>
            <a:endParaRPr lang="en-US" sz="2100" dirty="0"/>
          </a:p>
        </p:txBody>
      </p:sp>
      <p:sp>
        <p:nvSpPr>
          <p:cNvPr id="82" name="Shape 75"/>
          <p:cNvSpPr/>
          <p:nvPr/>
        </p:nvSpPr>
        <p:spPr>
          <a:xfrm>
            <a:off x="6000750" y="5918225"/>
            <a:ext cx="11525250" cy="19050"/>
          </a:xfrm>
          <a:prstGeom prst="rect">
            <a:avLst/>
          </a:prstGeom>
          <a:solidFill>
            <a:srgbClr val="201E1D">
              <a:alpha val="25000"/>
            </a:srgbClr>
          </a:solidFill>
          <a:ln/>
        </p:spPr>
      </p:sp>
      <p:sp>
        <p:nvSpPr>
          <p:cNvPr id="83" name="Text 76"/>
          <p:cNvSpPr/>
          <p:nvPr/>
        </p:nvSpPr>
        <p:spPr>
          <a:xfrm>
            <a:off x="6000750" y="6184925"/>
            <a:ext cx="2171700" cy="811411"/>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CONFIRMATION</a:t>
            </a:r>
            <a:endParaRPr lang="en-US" sz="1650" dirty="0"/>
          </a:p>
        </p:txBody>
      </p:sp>
      <p:sp>
        <p:nvSpPr>
          <p:cNvPr id="84" name="Text 77"/>
          <p:cNvSpPr/>
          <p:nvPr/>
        </p:nvSpPr>
        <p:spPr>
          <a:xfrm>
            <a:off x="8401050" y="6184925"/>
            <a:ext cx="9398698" cy="811411"/>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Two feedbacks, two seconds: a toast above the bar, and the button itself flips to a check — visible under the thumb.</a:t>
            </a:r>
            <a:endParaRPr lang="en-US" sz="2100" dirty="0"/>
          </a:p>
        </p:txBody>
      </p:sp>
      <p:sp>
        <p:nvSpPr>
          <p:cNvPr id="85" name="Shape 78"/>
          <p:cNvSpPr/>
          <p:nvPr/>
        </p:nvSpPr>
        <p:spPr>
          <a:xfrm>
            <a:off x="6000750" y="8106891"/>
            <a:ext cx="11525250" cy="19050"/>
          </a:xfrm>
          <a:prstGeom prst="rect">
            <a:avLst/>
          </a:prstGeom>
          <a:solidFill>
            <a:srgbClr val="201E1D">
              <a:alpha val="25000"/>
            </a:srgbClr>
          </a:solidFill>
          <a:ln/>
        </p:spPr>
      </p:sp>
      <p:sp>
        <p:nvSpPr>
          <p:cNvPr id="86" name="Shape 79"/>
          <p:cNvSpPr/>
          <p:nvPr/>
        </p:nvSpPr>
        <p:spPr>
          <a:xfrm>
            <a:off x="6000750" y="7205886"/>
            <a:ext cx="11525250" cy="19050"/>
          </a:xfrm>
          <a:prstGeom prst="rect">
            <a:avLst/>
          </a:prstGeom>
          <a:solidFill>
            <a:srgbClr val="201E1D">
              <a:alpha val="25000"/>
            </a:srgbClr>
          </a:solidFill>
          <a:ln/>
        </p:spPr>
      </p:sp>
      <p:sp>
        <p:nvSpPr>
          <p:cNvPr id="87" name="Text 80"/>
          <p:cNvSpPr/>
          <p:nvPr/>
        </p:nvSpPr>
        <p:spPr>
          <a:xfrm>
            <a:off x="6000750" y="7472586"/>
            <a:ext cx="2171700" cy="424755"/>
          </a:xfrm>
          <a:prstGeom prst="rect">
            <a:avLst/>
          </a:prstGeom>
          <a:noFill/>
          <a:ln/>
        </p:spPr>
        <p:txBody>
          <a:bodyPr wrap="square" lIns="25400" tIns="25400" rIns="25400" bIns="25400" rtlCol="0" anchor="t">
            <a:normAutofit/>
          </a:bodyPr>
          <a:lstStyle/>
          <a:p>
            <a:pPr algn="l" indent="0" marL="0">
              <a:lnSpc>
                <a:spcPct val="142083"/>
              </a:lnSpc>
              <a:buNone/>
            </a:pPr>
            <a:r>
              <a:rPr lang="en-US" sz="1650" b="1" spc="165" kern="0" dirty="0">
                <a:solidFill>
                  <a:srgbClr val="AE1800"/>
                </a:solidFill>
                <a:latin typeface="Archivo" pitchFamily="34" charset="0"/>
                <a:ea typeface="Archivo" pitchFamily="34" charset="-122"/>
                <a:cs typeface="Archivo" pitchFamily="34" charset="-120"/>
              </a:rPr>
              <a:t>DEFAULT</a:t>
            </a:r>
            <a:endParaRPr lang="en-US" sz="1650" dirty="0"/>
          </a:p>
        </p:txBody>
      </p:sp>
      <p:sp>
        <p:nvSpPr>
          <p:cNvPr id="88" name="Text 81"/>
          <p:cNvSpPr/>
          <p:nvPr/>
        </p:nvSpPr>
        <p:spPr>
          <a:xfrm>
            <a:off x="8401050" y="7472586"/>
            <a:ext cx="9676708" cy="424755"/>
          </a:xfrm>
          <a:prstGeom prst="rect">
            <a:avLst/>
          </a:prstGeom>
          <a:noFill/>
          <a:ln/>
        </p:spPr>
        <p:txBody>
          <a:bodyPr wrap="square" lIns="25400" tIns="25400" rIns="25400" bIns="25400" rtlCol="0" anchor="t">
            <a:normAutofit/>
          </a:bodyPr>
          <a:lstStyle/>
          <a:p>
            <a:pPr algn="l" indent="0" marL="0">
              <a:lnSpc>
                <a:spcPct val="133115"/>
              </a:lnSpc>
              <a:buNone/>
            </a:pPr>
            <a:r>
              <a:rPr lang="en-US" sz="2100" dirty="0">
                <a:solidFill>
                  <a:srgbClr val="201E1D"/>
                </a:solidFill>
                <a:latin typeface="Archivo" pitchFamily="34" charset="0"/>
                <a:ea typeface="Archivo" pitchFamily="34" charset="-122"/>
                <a:cs typeface="Archivo" pitchFamily="34" charset="-120"/>
              </a:rPr>
              <a:t>Follows the system preference, with a manual override kept in localStorage.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762000" y="685800"/>
            <a:ext cx="6945764"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SCREEN 04</a:t>
            </a:r>
            <a:endParaRPr lang="en-US" sz="1800" dirty="0"/>
          </a:p>
        </p:txBody>
      </p:sp>
      <p:sp>
        <p:nvSpPr>
          <p:cNvPr id="3" name="Text 1"/>
          <p:cNvSpPr/>
          <p:nvPr/>
        </p:nvSpPr>
        <p:spPr>
          <a:xfrm>
            <a:off x="762000" y="1173435"/>
            <a:ext cx="6945764" cy="711696"/>
          </a:xfrm>
          <a:prstGeom prst="rect">
            <a:avLst/>
          </a:prstGeom>
          <a:noFill/>
          <a:ln/>
        </p:spPr>
        <p:txBody>
          <a:bodyPr wrap="square" lIns="25400" tIns="25400" rIns="25400" bIns="25400" rtlCol="0" anchor="t">
            <a:normAutofit/>
          </a:bodyPr>
          <a:lstStyle/>
          <a:p>
            <a:pPr algn="l" indent="0" marL="0">
              <a:lnSpc>
                <a:spcPct val="95568"/>
              </a:lnSpc>
              <a:buNone/>
            </a:pPr>
            <a:r>
              <a:rPr lang="en-US" sz="5100" b="1" spc="-153" kern="0" dirty="0">
                <a:solidFill>
                  <a:srgbClr val="201E1D"/>
                </a:solidFill>
                <a:latin typeface="Archivo" pitchFamily="34" charset="0"/>
                <a:ea typeface="Archivo" pitchFamily="34" charset="-122"/>
                <a:cs typeface="Archivo" pitchFamily="34" charset="-120"/>
              </a:rPr>
              <a:t>Desktop, from 900px</a:t>
            </a:r>
            <a:endParaRPr lang="en-US" sz="5100" dirty="0"/>
          </a:p>
        </p:txBody>
      </p:sp>
      <p:sp>
        <p:nvSpPr>
          <p:cNvPr id="4" name="Text 2"/>
          <p:cNvSpPr/>
          <p:nvPr/>
        </p:nvSpPr>
        <p:spPr>
          <a:xfrm>
            <a:off x="9278094" y="728365"/>
            <a:ext cx="8495343" cy="1156767"/>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444141"/>
                </a:solidFill>
                <a:latin typeface="Archivo" pitchFamily="34" charset="0"/>
                <a:ea typeface="Archivo" pitchFamily="34" charset="-122"/>
                <a:cs typeface="Archivo" pitchFamily="34" charset="-120"/>
              </a:rPr>
              <a:t>The phone list becomes a 372px column and the detail fills the rest. Two more stat cells appear, the dynamics grid unfolds into full rows, and the copy action moves up beside the title. No new components.</a:t>
            </a:r>
            <a:endParaRPr lang="en-US" sz="2025" dirty="0"/>
          </a:p>
        </p:txBody>
      </p:sp>
      <p:sp>
        <p:nvSpPr>
          <p:cNvPr id="5" name="Shape 3"/>
          <p:cNvSpPr/>
          <p:nvPr/>
        </p:nvSpPr>
        <p:spPr>
          <a:xfrm>
            <a:off x="762000" y="2228031"/>
            <a:ext cx="16764000" cy="28575"/>
          </a:xfrm>
          <a:prstGeom prst="rect">
            <a:avLst/>
          </a:prstGeom>
          <a:solidFill>
            <a:srgbClr val="201E1D">
              <a:alpha val="40000"/>
            </a:srgbClr>
          </a:solidFill>
          <a:ln/>
        </p:spPr>
      </p:sp>
      <p:sp>
        <p:nvSpPr>
          <p:cNvPr id="6" name="Text 4"/>
          <p:cNvSpPr/>
          <p:nvPr/>
        </p:nvSpPr>
        <p:spPr>
          <a:xfrm>
            <a:off x="762000" y="2637606"/>
            <a:ext cx="18448781" cy="268668"/>
          </a:xfrm>
          <a:prstGeom prst="rect">
            <a:avLst/>
          </a:prstGeom>
          <a:noFill/>
          <a:ln/>
        </p:spPr>
        <p:txBody>
          <a:bodyPr wrap="square" lIns="25400" tIns="25400" rIns="25400" bIns="25400" rtlCol="0" anchor="t">
            <a:normAutofit/>
          </a:bodyPr>
          <a:lstStyle/>
          <a:p>
            <a:pPr algn="l" indent="0" marL="0">
              <a:lnSpc>
                <a:spcPct val="142083"/>
              </a:lnSpc>
              <a:buNone/>
            </a:pPr>
            <a:r>
              <a:rPr lang="en-US" sz="1172" b="1" spc="117" kern="0" dirty="0">
                <a:solidFill>
                  <a:srgbClr val="7D7979"/>
                </a:solidFill>
                <a:latin typeface="Archivo" pitchFamily="34" charset="0"/>
                <a:ea typeface="Archivo" pitchFamily="34" charset="-122"/>
                <a:cs typeface="Archivo" pitchFamily="34" charset="-120"/>
              </a:rPr>
              <a:t>DESKTOP ≥900PX · THE PHONE LIST PROMOTED TO A COLUMN, NOTHING NEW INVENTED</a:t>
            </a:r>
            <a:endParaRPr lang="en-US" sz="1172" dirty="0"/>
          </a:p>
        </p:txBody>
      </p:sp>
      <p:sp>
        <p:nvSpPr>
          <p:cNvPr id="7" name="Shape 5"/>
          <p:cNvSpPr/>
          <p:nvPr/>
        </p:nvSpPr>
        <p:spPr>
          <a:xfrm>
            <a:off x="762000" y="3003429"/>
            <a:ext cx="16771619" cy="8656320"/>
          </a:xfrm>
          <a:prstGeom prst="rect">
            <a:avLst/>
          </a:prstGeom>
          <a:solidFill>
            <a:srgbClr val="F3F2F2"/>
          </a:solidFill>
          <a:ln w="27051">
            <a:solidFill>
              <a:srgbClr val="201E1D"/>
            </a:solidFill>
            <a:prstDash val="solid"/>
          </a:ln>
        </p:spPr>
      </p:sp>
      <p:sp>
        <p:nvSpPr>
          <p:cNvPr id="8" name="Shape 6"/>
          <p:cNvSpPr/>
          <p:nvPr/>
        </p:nvSpPr>
        <p:spPr>
          <a:xfrm>
            <a:off x="5793486" y="3030480"/>
            <a:ext cx="27051" cy="8602217"/>
          </a:xfrm>
          <a:prstGeom prst="rect">
            <a:avLst/>
          </a:prstGeom>
          <a:solidFill>
            <a:srgbClr val="201E1D">
              <a:alpha val="40000"/>
            </a:srgbClr>
          </a:solidFill>
          <a:ln/>
        </p:spPr>
      </p:sp>
      <p:sp>
        <p:nvSpPr>
          <p:cNvPr id="9" name="Shape 7"/>
          <p:cNvSpPr/>
          <p:nvPr/>
        </p:nvSpPr>
        <p:spPr>
          <a:xfrm>
            <a:off x="789051" y="4109456"/>
            <a:ext cx="5004435" cy="27051"/>
          </a:xfrm>
          <a:prstGeom prst="rect">
            <a:avLst/>
          </a:prstGeom>
          <a:solidFill>
            <a:srgbClr val="201E1D">
              <a:alpha val="40000"/>
            </a:srgbClr>
          </a:solidFill>
          <a:ln/>
        </p:spPr>
      </p:sp>
      <p:sp>
        <p:nvSpPr>
          <p:cNvPr id="10" name="Text 8"/>
          <p:cNvSpPr/>
          <p:nvPr/>
        </p:nvSpPr>
        <p:spPr>
          <a:xfrm>
            <a:off x="1059561" y="3273939"/>
            <a:ext cx="4909756" cy="258207"/>
          </a:xfrm>
          <a:prstGeom prst="rect">
            <a:avLst/>
          </a:prstGeom>
          <a:noFill/>
          <a:ln/>
        </p:spPr>
        <p:txBody>
          <a:bodyPr wrap="square" lIns="25400" tIns="25400" rIns="25400" bIns="25400" rtlCol="0" anchor="t">
            <a:normAutofit/>
          </a:bodyPr>
          <a:lstStyle/>
          <a:p>
            <a:pPr algn="l" indent="0" marL="0">
              <a:lnSpc>
                <a:spcPct val="147955"/>
              </a:lnSpc>
              <a:buNone/>
            </a:pPr>
            <a:r>
              <a:rPr lang="en-US" sz="1118" b="1" spc="112" kern="0" dirty="0">
                <a:solidFill>
                  <a:srgbClr val="7D7979"/>
                </a:solidFill>
                <a:latin typeface="Archivo" pitchFamily="34" charset="0"/>
                <a:ea typeface="Archivo" pitchFamily="34" charset="-122"/>
                <a:cs typeface="Archivo" pitchFamily="34" charset="-120"/>
              </a:rPr>
              <a:t>GARMIN-PARSE</a:t>
            </a:r>
            <a:endParaRPr lang="en-US" sz="1118" dirty="0"/>
          </a:p>
        </p:txBody>
      </p:sp>
      <p:sp>
        <p:nvSpPr>
          <p:cNvPr id="11" name="Text 9"/>
          <p:cNvSpPr/>
          <p:nvPr/>
        </p:nvSpPr>
        <p:spPr>
          <a:xfrm>
            <a:off x="1059561" y="3494045"/>
            <a:ext cx="4909756" cy="410051"/>
          </a:xfrm>
          <a:prstGeom prst="rect">
            <a:avLst/>
          </a:prstGeom>
          <a:noFill/>
          <a:ln/>
        </p:spPr>
        <p:txBody>
          <a:bodyPr wrap="square" lIns="25400" tIns="25400" rIns="25400" bIns="25400" rtlCol="0" anchor="t">
            <a:normAutofit/>
          </a:bodyPr>
          <a:lstStyle/>
          <a:p>
            <a:pPr algn="l" indent="0" marL="0">
              <a:lnSpc>
                <a:spcPct val="100000"/>
              </a:lnSpc>
              <a:buNone/>
            </a:pPr>
            <a:r>
              <a:rPr lang="en-US" sz="2663" b="1" spc="-53" kern="0" dirty="0">
                <a:solidFill>
                  <a:srgbClr val="201E1D"/>
                </a:solidFill>
                <a:latin typeface="Archivo" pitchFamily="34" charset="0"/>
                <a:ea typeface="Archivo" pitchFamily="34" charset="-122"/>
                <a:cs typeface="Archivo" pitchFamily="34" charset="-120"/>
              </a:rPr>
              <a:t>Activities</a:t>
            </a:r>
            <a:endParaRPr lang="en-US" sz="2663" dirty="0"/>
          </a:p>
        </p:txBody>
      </p:sp>
      <p:sp>
        <p:nvSpPr>
          <p:cNvPr id="12" name="Text 10"/>
          <p:cNvSpPr/>
          <p:nvPr/>
        </p:nvSpPr>
        <p:spPr>
          <a:xfrm>
            <a:off x="1059561" y="4319101"/>
            <a:ext cx="1031227" cy="258206"/>
          </a:xfrm>
          <a:prstGeom prst="rect">
            <a:avLst/>
          </a:prstGeom>
          <a:noFill/>
          <a:ln/>
        </p:spPr>
        <p:txBody>
          <a:bodyPr wrap="square" lIns="25400" tIns="25400" rIns="25400" bIns="25400" rtlCol="0" anchor="t">
            <a:normAutofit/>
          </a:bodyPr>
          <a:lstStyle/>
          <a:p>
            <a:pPr algn="l" indent="0" marL="0">
              <a:lnSpc>
                <a:spcPct val="147955"/>
              </a:lnSpc>
              <a:buNone/>
            </a:pPr>
            <a:r>
              <a:rPr lang="en-US" sz="1118" b="1" spc="112" kern="0" dirty="0">
                <a:solidFill>
                  <a:srgbClr val="201E1D"/>
                </a:solidFill>
                <a:latin typeface="Archivo" pitchFamily="34" charset="0"/>
                <a:ea typeface="Archivo" pitchFamily="34" charset="-122"/>
                <a:cs typeface="Archivo" pitchFamily="34" charset="-120"/>
              </a:rPr>
              <a:t>THIS WEEK</a:t>
            </a:r>
            <a:endParaRPr lang="en-US" sz="1118" dirty="0"/>
          </a:p>
        </p:txBody>
      </p:sp>
      <p:sp>
        <p:nvSpPr>
          <p:cNvPr id="13" name="Text 11"/>
          <p:cNvSpPr/>
          <p:nvPr/>
        </p:nvSpPr>
        <p:spPr>
          <a:xfrm>
            <a:off x="4711552" y="4312338"/>
            <a:ext cx="887624" cy="268668"/>
          </a:xfrm>
          <a:prstGeom prst="rect">
            <a:avLst/>
          </a:prstGeom>
          <a:noFill/>
          <a:ln/>
        </p:spPr>
        <p:txBody>
          <a:bodyPr wrap="square" lIns="25400" tIns="25400" rIns="25400" bIns="25400" rtlCol="0" anchor="t">
            <a:normAutofit/>
          </a:bodyPr>
          <a:lstStyle/>
          <a:p>
            <a:pPr algn="l" indent="0" marL="0">
              <a:lnSpc>
                <a:spcPct val="142083"/>
              </a:lnSpc>
              <a:buNone/>
            </a:pPr>
            <a:r>
              <a:rPr lang="en-US" sz="1172" dirty="0">
                <a:solidFill>
                  <a:srgbClr val="7D7979"/>
                </a:solidFill>
                <a:latin typeface="Archivo" pitchFamily="34" charset="0"/>
                <a:ea typeface="Archivo" pitchFamily="34" charset="-122"/>
                <a:cs typeface="Archivo" pitchFamily="34" charset="-120"/>
              </a:rPr>
              <a:t>6 · 13.11 km</a:t>
            </a:r>
            <a:endParaRPr lang="en-US" sz="1172" dirty="0"/>
          </a:p>
        </p:txBody>
      </p:sp>
      <p:sp>
        <p:nvSpPr>
          <p:cNvPr id="14" name="Shape 12"/>
          <p:cNvSpPr/>
          <p:nvPr/>
        </p:nvSpPr>
        <p:spPr>
          <a:xfrm>
            <a:off x="1059561" y="4637584"/>
            <a:ext cx="4463415" cy="27051"/>
          </a:xfrm>
          <a:prstGeom prst="rect">
            <a:avLst/>
          </a:prstGeom>
          <a:solidFill>
            <a:srgbClr val="201E1D">
              <a:alpha val="40000"/>
            </a:srgbClr>
          </a:solidFill>
          <a:ln/>
        </p:spPr>
      </p:sp>
      <p:sp>
        <p:nvSpPr>
          <p:cNvPr id="15" name="Shape 13"/>
          <p:cNvSpPr/>
          <p:nvPr/>
        </p:nvSpPr>
        <p:spPr>
          <a:xfrm>
            <a:off x="897255" y="4664635"/>
            <a:ext cx="4788027" cy="911598"/>
          </a:xfrm>
          <a:prstGeom prst="rect">
            <a:avLst/>
          </a:prstGeom>
          <a:solidFill>
            <a:srgbClr val="EAE9E9"/>
          </a:solidFill>
          <a:ln/>
        </p:spPr>
      </p:sp>
      <p:sp>
        <p:nvSpPr>
          <p:cNvPr id="16" name="Shape 14"/>
          <p:cNvSpPr/>
          <p:nvPr/>
        </p:nvSpPr>
        <p:spPr>
          <a:xfrm>
            <a:off x="897255" y="4664635"/>
            <a:ext cx="40577" cy="911598"/>
          </a:xfrm>
          <a:prstGeom prst="rect">
            <a:avLst/>
          </a:prstGeom>
          <a:solidFill>
            <a:srgbClr val="A8420C"/>
          </a:solidFill>
          <a:ln/>
        </p:spPr>
      </p:sp>
      <p:sp>
        <p:nvSpPr>
          <p:cNvPr id="17" name="Shape 15"/>
          <p:cNvSpPr/>
          <p:nvPr/>
        </p:nvSpPr>
        <p:spPr>
          <a:xfrm>
            <a:off x="1100138" y="4849871"/>
            <a:ext cx="541020" cy="541020"/>
          </a:xfrm>
          <a:prstGeom prst="rect">
            <a:avLst/>
          </a:prstGeom>
          <a:solidFill>
            <a:srgbClr val="A8420C"/>
          </a:solidFill>
          <a:ln/>
        </p:spPr>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35392" y="4985126"/>
            <a:ext cx="270510" cy="270510"/>
          </a:xfrm>
          <a:prstGeom prst="rect">
            <a:avLst/>
          </a:prstGeom>
        </p:spPr>
      </p:pic>
      <p:sp>
        <p:nvSpPr>
          <p:cNvPr id="19" name="Text 16"/>
          <p:cNvSpPr/>
          <p:nvPr/>
        </p:nvSpPr>
        <p:spPr>
          <a:xfrm>
            <a:off x="1803463" y="4826941"/>
            <a:ext cx="3616761"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A8420C"/>
                </a:solidFill>
                <a:latin typeface="Archivo" pitchFamily="34" charset="0"/>
                <a:ea typeface="Archivo" pitchFamily="34" charset="-122"/>
                <a:cs typeface="Archivo" pitchFamily="34" charset="-120"/>
              </a:rPr>
              <a:t>TRACK RUNNING</a:t>
            </a:r>
            <a:endParaRPr lang="en-US" sz="1065" dirty="0"/>
          </a:p>
        </p:txBody>
      </p:sp>
      <p:sp>
        <p:nvSpPr>
          <p:cNvPr id="20" name="Text 17"/>
          <p:cNvSpPr/>
          <p:nvPr/>
        </p:nvSpPr>
        <p:spPr>
          <a:xfrm>
            <a:off x="1803463" y="5036586"/>
            <a:ext cx="3616761" cy="415440"/>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5.06 km · 29:35</a:t>
            </a:r>
            <a:endParaRPr lang="en-US" sz="1917" dirty="0"/>
          </a:p>
        </p:txBody>
      </p:sp>
      <p:sp>
        <p:nvSpPr>
          <p:cNvPr id="21" name="Text 18"/>
          <p:cNvSpPr/>
          <p:nvPr/>
        </p:nvSpPr>
        <p:spPr>
          <a:xfrm>
            <a:off x="5253734" y="4999919"/>
            <a:ext cx="345442" cy="279129"/>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Thu</a:t>
            </a:r>
            <a:endParaRPr lang="en-US" sz="1225" dirty="0"/>
          </a:p>
        </p:txBody>
      </p:sp>
      <p:sp>
        <p:nvSpPr>
          <p:cNvPr id="22" name="Shape 19"/>
          <p:cNvSpPr/>
          <p:nvPr/>
        </p:nvSpPr>
        <p:spPr>
          <a:xfrm>
            <a:off x="1059561" y="6487830"/>
            <a:ext cx="4463415" cy="13526"/>
          </a:xfrm>
          <a:prstGeom prst="rect">
            <a:avLst/>
          </a:prstGeom>
          <a:solidFill>
            <a:srgbClr val="201E1D">
              <a:alpha val="18000"/>
            </a:srgbClr>
          </a:solidFill>
          <a:ln/>
        </p:spPr>
      </p:sp>
      <p:sp>
        <p:nvSpPr>
          <p:cNvPr id="23" name="Shape 20"/>
          <p:cNvSpPr/>
          <p:nvPr/>
        </p:nvSpPr>
        <p:spPr>
          <a:xfrm>
            <a:off x="1059561" y="5761468"/>
            <a:ext cx="541020" cy="541020"/>
          </a:xfrm>
          <a:prstGeom prst="rect">
            <a:avLst/>
          </a:prstGeom>
          <a:solidFill>
            <a:srgbClr val="8A6A12"/>
          </a:solidFill>
          <a:ln/>
        </p:spPr>
      </p:sp>
      <p:pic>
        <p:nvPicPr>
          <p:cNvPr id="2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4816" y="5896724"/>
            <a:ext cx="270510" cy="270510"/>
          </a:xfrm>
          <a:prstGeom prst="rect">
            <a:avLst/>
          </a:prstGeom>
        </p:spPr>
      </p:pic>
      <p:sp>
        <p:nvSpPr>
          <p:cNvPr id="25" name="Text 21"/>
          <p:cNvSpPr/>
          <p:nvPr/>
        </p:nvSpPr>
        <p:spPr>
          <a:xfrm>
            <a:off x="1762887" y="5738539"/>
            <a:ext cx="3675924"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8A6A12"/>
                </a:solidFill>
                <a:latin typeface="Archivo" pitchFamily="34" charset="0"/>
                <a:ea typeface="Archivo" pitchFamily="34" charset="-122"/>
                <a:cs typeface="Archivo" pitchFamily="34" charset="-120"/>
              </a:rPr>
              <a:t>TREADMILL RUNNING</a:t>
            </a:r>
            <a:endParaRPr lang="en-US" sz="1065" dirty="0"/>
          </a:p>
        </p:txBody>
      </p:sp>
      <p:sp>
        <p:nvSpPr>
          <p:cNvPr id="26" name="Text 22"/>
          <p:cNvSpPr/>
          <p:nvPr/>
        </p:nvSpPr>
        <p:spPr>
          <a:xfrm>
            <a:off x="1762887" y="5948183"/>
            <a:ext cx="3675924" cy="415441"/>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2.41 km · 18:31</a:t>
            </a:r>
            <a:endParaRPr lang="en-US" sz="1917" dirty="0"/>
          </a:p>
        </p:txBody>
      </p:sp>
      <p:sp>
        <p:nvSpPr>
          <p:cNvPr id="27" name="Text 23"/>
          <p:cNvSpPr/>
          <p:nvPr/>
        </p:nvSpPr>
        <p:spPr>
          <a:xfrm>
            <a:off x="5266942" y="5911517"/>
            <a:ext cx="332233" cy="279128"/>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Tue</a:t>
            </a:r>
            <a:endParaRPr lang="en-US" sz="1225" dirty="0"/>
          </a:p>
        </p:txBody>
      </p:sp>
      <p:sp>
        <p:nvSpPr>
          <p:cNvPr id="28" name="Shape 24"/>
          <p:cNvSpPr/>
          <p:nvPr/>
        </p:nvSpPr>
        <p:spPr>
          <a:xfrm>
            <a:off x="1059561" y="7412953"/>
            <a:ext cx="4463415" cy="13526"/>
          </a:xfrm>
          <a:prstGeom prst="rect">
            <a:avLst/>
          </a:prstGeom>
          <a:solidFill>
            <a:srgbClr val="201E1D">
              <a:alpha val="18000"/>
            </a:srgbClr>
          </a:solidFill>
          <a:ln/>
        </p:spPr>
      </p:sp>
      <p:sp>
        <p:nvSpPr>
          <p:cNvPr id="29" name="Shape 25"/>
          <p:cNvSpPr/>
          <p:nvPr/>
        </p:nvSpPr>
        <p:spPr>
          <a:xfrm>
            <a:off x="1059561" y="6686592"/>
            <a:ext cx="541020" cy="541019"/>
          </a:xfrm>
          <a:prstGeom prst="rect">
            <a:avLst/>
          </a:prstGeom>
          <a:solidFill>
            <a:srgbClr val="2B5C78"/>
          </a:solidFill>
          <a:ln/>
        </p:spPr>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4816" y="6821846"/>
            <a:ext cx="270510" cy="270510"/>
          </a:xfrm>
          <a:prstGeom prst="rect">
            <a:avLst/>
          </a:prstGeom>
        </p:spPr>
      </p:pic>
      <p:sp>
        <p:nvSpPr>
          <p:cNvPr id="31" name="Text 26"/>
          <p:cNvSpPr/>
          <p:nvPr/>
        </p:nvSpPr>
        <p:spPr>
          <a:xfrm>
            <a:off x="1762887" y="6663662"/>
            <a:ext cx="3618853"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2B5C78"/>
                </a:solidFill>
                <a:latin typeface="Archivo" pitchFamily="34" charset="0"/>
                <a:ea typeface="Archivo" pitchFamily="34" charset="-122"/>
                <a:cs typeface="Archivo" pitchFamily="34" charset="-120"/>
              </a:rPr>
              <a:t>INDOOR CYCLING</a:t>
            </a:r>
            <a:endParaRPr lang="en-US" sz="1065" dirty="0"/>
          </a:p>
        </p:txBody>
      </p:sp>
      <p:sp>
        <p:nvSpPr>
          <p:cNvPr id="32" name="Text 27"/>
          <p:cNvSpPr/>
          <p:nvPr/>
        </p:nvSpPr>
        <p:spPr>
          <a:xfrm>
            <a:off x="1762887" y="6873307"/>
            <a:ext cx="3618853" cy="415440"/>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10:27</a:t>
            </a:r>
            <a:endParaRPr lang="en-US" sz="1917" dirty="0"/>
          </a:p>
        </p:txBody>
      </p:sp>
      <p:sp>
        <p:nvSpPr>
          <p:cNvPr id="33" name="Text 28"/>
          <p:cNvSpPr/>
          <p:nvPr/>
        </p:nvSpPr>
        <p:spPr>
          <a:xfrm>
            <a:off x="5215060" y="6836640"/>
            <a:ext cx="384116" cy="279129"/>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Mon</a:t>
            </a:r>
            <a:endParaRPr lang="en-US" sz="1225" dirty="0"/>
          </a:p>
        </p:txBody>
      </p:sp>
      <p:sp>
        <p:nvSpPr>
          <p:cNvPr id="34" name="Shape 29"/>
          <p:cNvSpPr/>
          <p:nvPr/>
        </p:nvSpPr>
        <p:spPr>
          <a:xfrm>
            <a:off x="1059561" y="8338076"/>
            <a:ext cx="4463415" cy="13526"/>
          </a:xfrm>
          <a:prstGeom prst="rect">
            <a:avLst/>
          </a:prstGeom>
          <a:solidFill>
            <a:srgbClr val="201E1D">
              <a:alpha val="18000"/>
            </a:srgbClr>
          </a:solidFill>
          <a:ln/>
        </p:spPr>
      </p:sp>
      <p:sp>
        <p:nvSpPr>
          <p:cNvPr id="35" name="Shape 30"/>
          <p:cNvSpPr/>
          <p:nvPr/>
        </p:nvSpPr>
        <p:spPr>
          <a:xfrm>
            <a:off x="1059561" y="7611714"/>
            <a:ext cx="541020" cy="541020"/>
          </a:xfrm>
          <a:prstGeom prst="rect">
            <a:avLst/>
          </a:prstGeom>
          <a:solidFill>
            <a:srgbClr val="4A3D6B"/>
          </a:solidFill>
          <a:ln/>
        </p:spPr>
      </p:sp>
      <p:pic>
        <p:nvPicPr>
          <p:cNvPr id="3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4816" y="7746970"/>
            <a:ext cx="270510" cy="270510"/>
          </a:xfrm>
          <a:prstGeom prst="rect">
            <a:avLst/>
          </a:prstGeom>
        </p:spPr>
      </p:pic>
      <p:sp>
        <p:nvSpPr>
          <p:cNvPr id="37" name="Text 31"/>
          <p:cNvSpPr/>
          <p:nvPr/>
        </p:nvSpPr>
        <p:spPr>
          <a:xfrm>
            <a:off x="1762887" y="7588784"/>
            <a:ext cx="3618853"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4A3D6B"/>
                </a:solidFill>
                <a:latin typeface="Archivo" pitchFamily="34" charset="0"/>
                <a:ea typeface="Archivo" pitchFamily="34" charset="-122"/>
                <a:cs typeface="Archivo" pitchFamily="34" charset="-120"/>
              </a:rPr>
              <a:t>STRENGTH TRAINING</a:t>
            </a:r>
            <a:endParaRPr lang="en-US" sz="1065" dirty="0"/>
          </a:p>
        </p:txBody>
      </p:sp>
      <p:sp>
        <p:nvSpPr>
          <p:cNvPr id="38" name="Text 32"/>
          <p:cNvSpPr/>
          <p:nvPr/>
        </p:nvSpPr>
        <p:spPr>
          <a:xfrm>
            <a:off x="1762887" y="7798430"/>
            <a:ext cx="3618853" cy="415440"/>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58:42 · 7 sets</a:t>
            </a:r>
            <a:endParaRPr lang="en-US" sz="1917" dirty="0"/>
          </a:p>
        </p:txBody>
      </p:sp>
      <p:sp>
        <p:nvSpPr>
          <p:cNvPr id="39" name="Text 33"/>
          <p:cNvSpPr/>
          <p:nvPr/>
        </p:nvSpPr>
        <p:spPr>
          <a:xfrm>
            <a:off x="5215060" y="7761763"/>
            <a:ext cx="384116" cy="279129"/>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Mon</a:t>
            </a:r>
            <a:endParaRPr lang="en-US" sz="1225" dirty="0"/>
          </a:p>
        </p:txBody>
      </p:sp>
      <p:sp>
        <p:nvSpPr>
          <p:cNvPr id="40" name="Shape 34"/>
          <p:cNvSpPr/>
          <p:nvPr/>
        </p:nvSpPr>
        <p:spPr>
          <a:xfrm>
            <a:off x="1059561" y="9263199"/>
            <a:ext cx="4463415" cy="13526"/>
          </a:xfrm>
          <a:prstGeom prst="rect">
            <a:avLst/>
          </a:prstGeom>
          <a:solidFill>
            <a:srgbClr val="201E1D">
              <a:alpha val="18000"/>
            </a:srgbClr>
          </a:solidFill>
          <a:ln/>
        </p:spPr>
      </p:sp>
      <p:sp>
        <p:nvSpPr>
          <p:cNvPr id="41" name="Shape 35"/>
          <p:cNvSpPr/>
          <p:nvPr/>
        </p:nvSpPr>
        <p:spPr>
          <a:xfrm>
            <a:off x="1059561" y="8536838"/>
            <a:ext cx="541020" cy="541020"/>
          </a:xfrm>
          <a:prstGeom prst="rect">
            <a:avLst/>
          </a:prstGeom>
          <a:solidFill>
            <a:srgbClr val="EC3013"/>
          </a:solidFill>
          <a:ln/>
        </p:spPr>
      </p:sp>
      <p:pic>
        <p:nvPicPr>
          <p:cNvPr id="4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4816" y="8672093"/>
            <a:ext cx="270510" cy="270510"/>
          </a:xfrm>
          <a:prstGeom prst="rect">
            <a:avLst/>
          </a:prstGeom>
        </p:spPr>
      </p:pic>
      <p:sp>
        <p:nvSpPr>
          <p:cNvPr id="43" name="Text 36"/>
          <p:cNvSpPr/>
          <p:nvPr/>
        </p:nvSpPr>
        <p:spPr>
          <a:xfrm>
            <a:off x="1762887" y="8513908"/>
            <a:ext cx="3649888"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AE1800"/>
                </a:solidFill>
                <a:latin typeface="Archivo" pitchFamily="34" charset="0"/>
                <a:ea typeface="Archivo" pitchFamily="34" charset="-122"/>
                <a:cs typeface="Archivo" pitchFamily="34" charset="-120"/>
              </a:rPr>
              <a:t>RUNNING</a:t>
            </a:r>
            <a:endParaRPr lang="en-US" sz="1065" dirty="0"/>
          </a:p>
        </p:txBody>
      </p:sp>
      <p:sp>
        <p:nvSpPr>
          <p:cNvPr id="44" name="Text 37"/>
          <p:cNvSpPr/>
          <p:nvPr/>
        </p:nvSpPr>
        <p:spPr>
          <a:xfrm>
            <a:off x="1762887" y="8723553"/>
            <a:ext cx="3649888" cy="415440"/>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5.34 km · 30:16</a:t>
            </a:r>
            <a:endParaRPr lang="en-US" sz="1917" dirty="0"/>
          </a:p>
        </p:txBody>
      </p:sp>
      <p:sp>
        <p:nvSpPr>
          <p:cNvPr id="45" name="Text 38"/>
          <p:cNvSpPr/>
          <p:nvPr/>
        </p:nvSpPr>
        <p:spPr>
          <a:xfrm>
            <a:off x="5243273" y="8686886"/>
            <a:ext cx="355903" cy="279129"/>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Sun</a:t>
            </a:r>
            <a:endParaRPr lang="en-US" sz="1225" dirty="0"/>
          </a:p>
        </p:txBody>
      </p:sp>
      <p:sp>
        <p:nvSpPr>
          <p:cNvPr id="46" name="Shape 39"/>
          <p:cNvSpPr/>
          <p:nvPr/>
        </p:nvSpPr>
        <p:spPr>
          <a:xfrm>
            <a:off x="1059561" y="9461961"/>
            <a:ext cx="541020" cy="541019"/>
          </a:xfrm>
          <a:prstGeom prst="rect">
            <a:avLst/>
          </a:prstGeom>
          <a:solidFill>
            <a:srgbClr val="7A2F52"/>
          </a:solidFill>
          <a:ln/>
        </p:spPr>
      </p:sp>
      <p:pic>
        <p:nvPicPr>
          <p:cNvPr id="4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4816" y="9597216"/>
            <a:ext cx="270510" cy="270510"/>
          </a:xfrm>
          <a:prstGeom prst="rect">
            <a:avLst/>
          </a:prstGeom>
        </p:spPr>
      </p:pic>
      <p:sp>
        <p:nvSpPr>
          <p:cNvPr id="48" name="Text 40"/>
          <p:cNvSpPr/>
          <p:nvPr/>
        </p:nvSpPr>
        <p:spPr>
          <a:xfrm>
            <a:off x="1762887" y="9439031"/>
            <a:ext cx="3698474"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96" kern="0" dirty="0">
                <a:solidFill>
                  <a:srgbClr val="7A2F52"/>
                </a:solidFill>
                <a:latin typeface="Archivo" pitchFamily="34" charset="0"/>
                <a:ea typeface="Archivo" pitchFamily="34" charset="-122"/>
                <a:cs typeface="Archivo" pitchFamily="34" charset="-120"/>
              </a:rPr>
              <a:t>BADMINTON</a:t>
            </a:r>
            <a:endParaRPr lang="en-US" sz="1065" dirty="0"/>
          </a:p>
        </p:txBody>
      </p:sp>
      <p:sp>
        <p:nvSpPr>
          <p:cNvPr id="49" name="Text 41"/>
          <p:cNvSpPr/>
          <p:nvPr/>
        </p:nvSpPr>
        <p:spPr>
          <a:xfrm>
            <a:off x="1762887" y="9648676"/>
            <a:ext cx="3698474" cy="415440"/>
          </a:xfrm>
          <a:prstGeom prst="rect">
            <a:avLst/>
          </a:prstGeom>
          <a:noFill/>
          <a:ln/>
        </p:spPr>
        <p:txBody>
          <a:bodyPr wrap="square" lIns="25400" tIns="25400" rIns="25400" bIns="25400" rtlCol="0" anchor="t">
            <a:normAutofit/>
          </a:bodyPr>
          <a:lstStyle/>
          <a:p>
            <a:pPr algn="l" indent="0" marL="0">
              <a:lnSpc>
                <a:spcPct val="139500"/>
              </a:lnSpc>
              <a:buNone/>
            </a:pPr>
            <a:r>
              <a:rPr lang="en-US" sz="1917" b="1" spc="-38" kern="0" dirty="0">
                <a:solidFill>
                  <a:srgbClr val="201E1D"/>
                </a:solidFill>
                <a:latin typeface="Archivo" pitchFamily="34" charset="0"/>
                <a:ea typeface="Archivo" pitchFamily="34" charset="-122"/>
                <a:cs typeface="Archivo" pitchFamily="34" charset="-120"/>
              </a:rPr>
              <a:t>1:16:23</a:t>
            </a:r>
            <a:endParaRPr lang="en-US" sz="1917" dirty="0"/>
          </a:p>
        </p:txBody>
      </p:sp>
      <p:sp>
        <p:nvSpPr>
          <p:cNvPr id="50" name="Text 42"/>
          <p:cNvSpPr/>
          <p:nvPr/>
        </p:nvSpPr>
        <p:spPr>
          <a:xfrm>
            <a:off x="5287442" y="9612009"/>
            <a:ext cx="311733" cy="279129"/>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Sat</a:t>
            </a:r>
            <a:endParaRPr lang="en-US" sz="1225" dirty="0"/>
          </a:p>
        </p:txBody>
      </p:sp>
      <p:sp>
        <p:nvSpPr>
          <p:cNvPr id="51" name="Shape 43"/>
          <p:cNvSpPr/>
          <p:nvPr/>
        </p:nvSpPr>
        <p:spPr>
          <a:xfrm>
            <a:off x="6253353" y="3417753"/>
            <a:ext cx="595122" cy="595122"/>
          </a:xfrm>
          <a:prstGeom prst="rect">
            <a:avLst/>
          </a:prstGeom>
          <a:solidFill>
            <a:srgbClr val="A8420C"/>
          </a:solidFill>
          <a:ln/>
        </p:spPr>
      </p:sp>
      <p:pic>
        <p:nvPicPr>
          <p:cNvPr id="5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95371" y="3559771"/>
            <a:ext cx="311086" cy="311087"/>
          </a:xfrm>
          <a:prstGeom prst="rect">
            <a:avLst/>
          </a:prstGeom>
        </p:spPr>
      </p:pic>
      <p:sp>
        <p:nvSpPr>
          <p:cNvPr id="53" name="Text 44"/>
          <p:cNvSpPr/>
          <p:nvPr/>
        </p:nvSpPr>
        <p:spPr>
          <a:xfrm>
            <a:off x="7037832" y="3382143"/>
            <a:ext cx="5005766" cy="258206"/>
          </a:xfrm>
          <a:prstGeom prst="rect">
            <a:avLst/>
          </a:prstGeom>
          <a:noFill/>
          <a:ln/>
        </p:spPr>
        <p:txBody>
          <a:bodyPr wrap="square" lIns="25400" tIns="25400" rIns="25400" bIns="25400" rtlCol="0" anchor="t">
            <a:normAutofit/>
          </a:bodyPr>
          <a:lstStyle/>
          <a:p>
            <a:pPr algn="l" indent="0" marL="0">
              <a:lnSpc>
                <a:spcPct val="147955"/>
              </a:lnSpc>
              <a:buNone/>
            </a:pPr>
            <a:r>
              <a:rPr lang="en-US" sz="1118" b="1" spc="101" kern="0" dirty="0">
                <a:solidFill>
                  <a:srgbClr val="A8420C"/>
                </a:solidFill>
                <a:latin typeface="Archivo" pitchFamily="34" charset="0"/>
                <a:ea typeface="Archivo" pitchFamily="34" charset="-122"/>
                <a:cs typeface="Archivo" pitchFamily="34" charset="-120"/>
              </a:rPr>
              <a:t>TRACK RUNNING</a:t>
            </a:r>
            <a:endParaRPr lang="en-US" sz="1118" dirty="0"/>
          </a:p>
        </p:txBody>
      </p:sp>
      <p:sp>
        <p:nvSpPr>
          <p:cNvPr id="54" name="Text 45"/>
          <p:cNvSpPr/>
          <p:nvPr/>
        </p:nvSpPr>
        <p:spPr>
          <a:xfrm>
            <a:off x="7037832" y="3602249"/>
            <a:ext cx="5005766" cy="484441"/>
          </a:xfrm>
          <a:prstGeom prst="rect">
            <a:avLst/>
          </a:prstGeom>
          <a:noFill/>
          <a:ln/>
        </p:spPr>
        <p:txBody>
          <a:bodyPr wrap="square" lIns="25400" tIns="25400" rIns="25400" bIns="25400" rtlCol="0" anchor="t">
            <a:normAutofit/>
          </a:bodyPr>
          <a:lstStyle/>
          <a:p>
            <a:pPr algn="l" indent="0" marL="0">
              <a:lnSpc>
                <a:spcPct val="100000"/>
              </a:lnSpc>
              <a:buNone/>
            </a:pPr>
            <a:r>
              <a:rPr lang="en-US" sz="3195" b="1" spc="-80" kern="0" dirty="0">
                <a:solidFill>
                  <a:srgbClr val="201E1D"/>
                </a:solidFill>
                <a:latin typeface="Archivo" pitchFamily="34" charset="0"/>
                <a:ea typeface="Archivo" pitchFamily="34" charset="-122"/>
                <a:cs typeface="Archivo" pitchFamily="34" charset="-120"/>
              </a:rPr>
              <a:t>Thu 20 Aug 2026 · 09:21</a:t>
            </a:r>
            <a:endParaRPr lang="en-US" sz="3195" dirty="0"/>
          </a:p>
        </p:txBody>
      </p:sp>
      <p:sp>
        <p:nvSpPr>
          <p:cNvPr id="55" name="Shape 46"/>
          <p:cNvSpPr/>
          <p:nvPr/>
        </p:nvSpPr>
        <p:spPr>
          <a:xfrm>
            <a:off x="13738978" y="3382143"/>
            <a:ext cx="2604398" cy="541020"/>
          </a:xfrm>
          <a:prstGeom prst="rect">
            <a:avLst/>
          </a:prstGeom>
          <a:solidFill>
            <a:srgbClr val="EC3013"/>
          </a:solidFill>
          <a:ln/>
        </p:spPr>
      </p:sp>
      <p:pic>
        <p:nvPicPr>
          <p:cNvPr id="5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955385" y="3544449"/>
            <a:ext cx="216408" cy="216408"/>
          </a:xfrm>
          <a:prstGeom prst="rect">
            <a:avLst/>
          </a:prstGeom>
        </p:spPr>
      </p:pic>
      <p:sp>
        <p:nvSpPr>
          <p:cNvPr id="57" name="Text 47"/>
          <p:cNvSpPr/>
          <p:nvPr/>
        </p:nvSpPr>
        <p:spPr>
          <a:xfrm>
            <a:off x="14279997" y="3551212"/>
            <a:ext cx="1923171" cy="240982"/>
          </a:xfrm>
          <a:prstGeom prst="rect">
            <a:avLst/>
          </a:prstGeom>
          <a:noFill/>
          <a:ln/>
        </p:spPr>
        <p:txBody>
          <a:bodyPr wrap="square" lIns="0" tIns="0" rIns="0" bIns="0" rtlCol="0" anchor="t">
            <a:normAutofit/>
          </a:bodyPr>
          <a:lstStyle/>
          <a:p>
            <a:pPr algn="ctr" indent="0" marL="0">
              <a:buNone/>
            </a:pPr>
            <a:r>
              <a:rPr lang="en-US" sz="1438" b="1" dirty="0">
                <a:solidFill>
                  <a:srgbClr val="F3F2F2"/>
                </a:solidFill>
                <a:latin typeface="Archivo" pitchFamily="34" charset="0"/>
                <a:ea typeface="Archivo" pitchFamily="34" charset="-122"/>
                <a:cs typeface="Archivo" pitchFamily="34" charset="-120"/>
              </a:rPr>
              <a:t>Copy raw Markdown</a:t>
            </a:r>
            <a:endParaRPr lang="en-US" sz="1438" dirty="0"/>
          </a:p>
        </p:txBody>
      </p:sp>
      <p:sp>
        <p:nvSpPr>
          <p:cNvPr id="58" name="Shape 48"/>
          <p:cNvSpPr/>
          <p:nvPr/>
        </p:nvSpPr>
        <p:spPr>
          <a:xfrm>
            <a:off x="16478630" y="3382143"/>
            <a:ext cx="595122" cy="541020"/>
          </a:xfrm>
          <a:prstGeom prst="rect">
            <a:avLst/>
          </a:prstGeom>
          <a:ln w="13526">
            <a:solidFill>
              <a:srgbClr val="201E1D">
                <a:alpha val="40000"/>
              </a:srgbClr>
            </a:solidFill>
            <a:prstDash val="solid"/>
          </a:ln>
        </p:spPr>
      </p:sp>
      <p:pic>
        <p:nvPicPr>
          <p:cNvPr id="5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6654463" y="3530923"/>
            <a:ext cx="243458" cy="243459"/>
          </a:xfrm>
          <a:prstGeom prst="rect">
            <a:avLst/>
          </a:prstGeom>
        </p:spPr>
      </p:pic>
      <p:sp>
        <p:nvSpPr>
          <p:cNvPr id="60" name="Shape 49"/>
          <p:cNvSpPr/>
          <p:nvPr/>
        </p:nvSpPr>
        <p:spPr>
          <a:xfrm>
            <a:off x="6253353" y="4237948"/>
            <a:ext cx="10820400" cy="27051"/>
          </a:xfrm>
          <a:prstGeom prst="rect">
            <a:avLst/>
          </a:prstGeom>
          <a:solidFill>
            <a:srgbClr val="201E1D">
              <a:alpha val="40000"/>
            </a:srgbClr>
          </a:solidFill>
          <a:ln/>
        </p:spPr>
      </p:sp>
      <p:sp>
        <p:nvSpPr>
          <p:cNvPr id="61" name="Shape 50"/>
          <p:cNvSpPr/>
          <p:nvPr/>
        </p:nvSpPr>
        <p:spPr>
          <a:xfrm>
            <a:off x="6253353" y="5515368"/>
            <a:ext cx="10820400" cy="27051"/>
          </a:xfrm>
          <a:prstGeom prst="rect">
            <a:avLst/>
          </a:prstGeom>
          <a:solidFill>
            <a:srgbClr val="201E1D">
              <a:alpha val="40000"/>
            </a:srgbClr>
          </a:solidFill>
          <a:ln/>
        </p:spPr>
      </p:sp>
      <p:sp>
        <p:nvSpPr>
          <p:cNvPr id="62" name="Shape 51"/>
          <p:cNvSpPr/>
          <p:nvPr/>
        </p:nvSpPr>
        <p:spPr>
          <a:xfrm>
            <a:off x="8403907" y="4264999"/>
            <a:ext cx="13526" cy="1250369"/>
          </a:xfrm>
          <a:prstGeom prst="rect">
            <a:avLst/>
          </a:prstGeom>
          <a:solidFill>
            <a:srgbClr val="201E1D">
              <a:alpha val="18000"/>
            </a:srgbClr>
          </a:solidFill>
          <a:ln/>
        </p:spPr>
      </p:sp>
      <p:sp>
        <p:nvSpPr>
          <p:cNvPr id="63" name="Text 52"/>
          <p:cNvSpPr/>
          <p:nvPr/>
        </p:nvSpPr>
        <p:spPr>
          <a:xfrm>
            <a:off x="6253353" y="4481407"/>
            <a:ext cx="2127561"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DISTANCE</a:t>
            </a:r>
            <a:endParaRPr lang="en-US" sz="1065" dirty="0"/>
          </a:p>
        </p:txBody>
      </p:sp>
      <p:sp>
        <p:nvSpPr>
          <p:cNvPr id="64" name="Text 53"/>
          <p:cNvSpPr/>
          <p:nvPr/>
        </p:nvSpPr>
        <p:spPr>
          <a:xfrm>
            <a:off x="6253353" y="4691052"/>
            <a:ext cx="2127561" cy="646008"/>
          </a:xfrm>
          <a:prstGeom prst="rect">
            <a:avLst/>
          </a:prstGeom>
          <a:noFill/>
          <a:ln/>
        </p:spPr>
        <p:txBody>
          <a:bodyPr wrap="square" lIns="25400" tIns="25400" rIns="25400" bIns="25400" rtlCol="0" anchor="t">
            <a:normAutofit/>
          </a:bodyPr>
          <a:lstStyle/>
          <a:p>
            <a:pPr algn="l" indent="0" marL="0">
              <a:lnSpc>
                <a:spcPct val="142698"/>
              </a:lnSpc>
              <a:buNone/>
            </a:pPr>
            <a:r>
              <a:rPr lang="en-US" sz="3089" b="1" spc="-77" kern="0" dirty="0">
                <a:solidFill>
                  <a:srgbClr val="201E1D"/>
                </a:solidFill>
                <a:latin typeface="Archivo" pitchFamily="34" charset="0"/>
                <a:ea typeface="Archivo" pitchFamily="34" charset="-122"/>
                <a:cs typeface="Archivo" pitchFamily="34" charset="-120"/>
              </a:rPr>
              <a:t>5.06</a:t>
            </a:r>
            <a:pPr algn="l" indent="0" marL="0">
              <a:lnSpc>
                <a:spcPct val="142698"/>
              </a:lnSpc>
              <a:buNone/>
            </a:pPr>
            <a:r>
              <a:rPr lang="en-US" sz="1385" spc="-77" kern="0" dirty="0">
                <a:solidFill>
                  <a:srgbClr val="7D7979"/>
                </a:solidFill>
                <a:latin typeface="Archivo" pitchFamily="34" charset="0"/>
                <a:ea typeface="Archivo" pitchFamily="34" charset="-122"/>
                <a:cs typeface="Archivo" pitchFamily="34" charset="-120"/>
              </a:rPr>
              <a:t>km</a:t>
            </a:r>
            <a:endParaRPr lang="en-US" sz="3089" dirty="0"/>
          </a:p>
        </p:txBody>
      </p:sp>
      <p:sp>
        <p:nvSpPr>
          <p:cNvPr id="65" name="Shape 54"/>
          <p:cNvSpPr/>
          <p:nvPr/>
        </p:nvSpPr>
        <p:spPr>
          <a:xfrm>
            <a:off x="10567987" y="4264999"/>
            <a:ext cx="13526" cy="1250369"/>
          </a:xfrm>
          <a:prstGeom prst="rect">
            <a:avLst/>
          </a:prstGeom>
          <a:solidFill>
            <a:srgbClr val="201E1D">
              <a:alpha val="18000"/>
            </a:srgbClr>
          </a:solidFill>
          <a:ln/>
        </p:spPr>
      </p:sp>
      <p:sp>
        <p:nvSpPr>
          <p:cNvPr id="66" name="Text 55"/>
          <p:cNvSpPr/>
          <p:nvPr/>
        </p:nvSpPr>
        <p:spPr>
          <a:xfrm>
            <a:off x="8633841" y="4481407"/>
            <a:ext cx="1889513"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DURATION</a:t>
            </a:r>
            <a:endParaRPr lang="en-US" sz="1065" dirty="0"/>
          </a:p>
        </p:txBody>
      </p:sp>
      <p:sp>
        <p:nvSpPr>
          <p:cNvPr id="67" name="Text 56"/>
          <p:cNvSpPr/>
          <p:nvPr/>
        </p:nvSpPr>
        <p:spPr>
          <a:xfrm>
            <a:off x="8633841" y="4691052"/>
            <a:ext cx="1889513" cy="646008"/>
          </a:xfrm>
          <a:prstGeom prst="rect">
            <a:avLst/>
          </a:prstGeom>
          <a:noFill/>
          <a:ln/>
        </p:spPr>
        <p:txBody>
          <a:bodyPr wrap="square" lIns="25400" tIns="25400" rIns="25400" bIns="25400" rtlCol="0" anchor="t">
            <a:normAutofit/>
          </a:bodyPr>
          <a:lstStyle/>
          <a:p>
            <a:pPr algn="l" indent="0" marL="0">
              <a:lnSpc>
                <a:spcPct val="142698"/>
              </a:lnSpc>
              <a:buNone/>
            </a:pPr>
            <a:r>
              <a:rPr lang="en-US" sz="3089" b="1" spc="-77" kern="0" dirty="0">
                <a:solidFill>
                  <a:srgbClr val="201E1D"/>
                </a:solidFill>
                <a:latin typeface="Archivo" pitchFamily="34" charset="0"/>
                <a:ea typeface="Archivo" pitchFamily="34" charset="-122"/>
                <a:cs typeface="Archivo" pitchFamily="34" charset="-120"/>
              </a:rPr>
              <a:t>29:35</a:t>
            </a:r>
            <a:endParaRPr lang="en-US" sz="3089" dirty="0"/>
          </a:p>
        </p:txBody>
      </p:sp>
      <p:sp>
        <p:nvSpPr>
          <p:cNvPr id="68" name="Shape 57"/>
          <p:cNvSpPr/>
          <p:nvPr/>
        </p:nvSpPr>
        <p:spPr>
          <a:xfrm>
            <a:off x="12732067" y="4264999"/>
            <a:ext cx="13526" cy="1250369"/>
          </a:xfrm>
          <a:prstGeom prst="rect">
            <a:avLst/>
          </a:prstGeom>
          <a:solidFill>
            <a:srgbClr val="201E1D">
              <a:alpha val="18000"/>
            </a:srgbClr>
          </a:solidFill>
          <a:ln/>
        </p:spPr>
      </p:sp>
      <p:sp>
        <p:nvSpPr>
          <p:cNvPr id="69" name="Text 58"/>
          <p:cNvSpPr/>
          <p:nvPr/>
        </p:nvSpPr>
        <p:spPr>
          <a:xfrm>
            <a:off x="10797921" y="4481407"/>
            <a:ext cx="1889512"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AVG PACE</a:t>
            </a:r>
            <a:endParaRPr lang="en-US" sz="1065" dirty="0"/>
          </a:p>
        </p:txBody>
      </p:sp>
      <p:sp>
        <p:nvSpPr>
          <p:cNvPr id="70" name="Text 59"/>
          <p:cNvSpPr/>
          <p:nvPr/>
        </p:nvSpPr>
        <p:spPr>
          <a:xfrm>
            <a:off x="10797921" y="4691052"/>
            <a:ext cx="1889512" cy="646008"/>
          </a:xfrm>
          <a:prstGeom prst="rect">
            <a:avLst/>
          </a:prstGeom>
          <a:noFill/>
          <a:ln/>
        </p:spPr>
        <p:txBody>
          <a:bodyPr wrap="square" lIns="25400" tIns="25400" rIns="25400" bIns="25400" rtlCol="0" anchor="t">
            <a:normAutofit/>
          </a:bodyPr>
          <a:lstStyle/>
          <a:p>
            <a:pPr algn="l" indent="0" marL="0">
              <a:lnSpc>
                <a:spcPct val="142698"/>
              </a:lnSpc>
              <a:buNone/>
            </a:pPr>
            <a:r>
              <a:rPr lang="en-US" sz="3089" b="1" spc="-77" kern="0" dirty="0">
                <a:solidFill>
                  <a:srgbClr val="201E1D"/>
                </a:solidFill>
                <a:latin typeface="Archivo" pitchFamily="34" charset="0"/>
                <a:ea typeface="Archivo" pitchFamily="34" charset="-122"/>
                <a:cs typeface="Archivo" pitchFamily="34" charset="-120"/>
              </a:rPr>
              <a:t>5:51</a:t>
            </a:r>
            <a:pPr algn="l" indent="0" marL="0">
              <a:lnSpc>
                <a:spcPct val="142698"/>
              </a:lnSpc>
              <a:buNone/>
            </a:pPr>
            <a:r>
              <a:rPr lang="en-US" sz="1385" spc="-77" kern="0" dirty="0">
                <a:solidFill>
                  <a:srgbClr val="7D7979"/>
                </a:solidFill>
                <a:latin typeface="Archivo" pitchFamily="34" charset="0"/>
                <a:ea typeface="Archivo" pitchFamily="34" charset="-122"/>
                <a:cs typeface="Archivo" pitchFamily="34" charset="-120"/>
              </a:rPr>
              <a:t>/km</a:t>
            </a:r>
            <a:endParaRPr lang="en-US" sz="3089" dirty="0"/>
          </a:p>
        </p:txBody>
      </p:sp>
      <p:sp>
        <p:nvSpPr>
          <p:cNvPr id="71" name="Shape 60"/>
          <p:cNvSpPr/>
          <p:nvPr/>
        </p:nvSpPr>
        <p:spPr>
          <a:xfrm>
            <a:off x="14896147" y="4264999"/>
            <a:ext cx="13526" cy="1250369"/>
          </a:xfrm>
          <a:prstGeom prst="rect">
            <a:avLst/>
          </a:prstGeom>
          <a:solidFill>
            <a:srgbClr val="201E1D">
              <a:alpha val="18000"/>
            </a:srgbClr>
          </a:solidFill>
          <a:ln/>
        </p:spPr>
      </p:sp>
      <p:sp>
        <p:nvSpPr>
          <p:cNvPr id="72" name="Text 61"/>
          <p:cNvSpPr/>
          <p:nvPr/>
        </p:nvSpPr>
        <p:spPr>
          <a:xfrm>
            <a:off x="12962001" y="4481407"/>
            <a:ext cx="1889512"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MAX SPEED</a:t>
            </a:r>
            <a:endParaRPr lang="en-US" sz="1065" dirty="0"/>
          </a:p>
        </p:txBody>
      </p:sp>
      <p:sp>
        <p:nvSpPr>
          <p:cNvPr id="73" name="Text 62"/>
          <p:cNvSpPr/>
          <p:nvPr/>
        </p:nvSpPr>
        <p:spPr>
          <a:xfrm>
            <a:off x="12962001" y="4691052"/>
            <a:ext cx="1889512" cy="646008"/>
          </a:xfrm>
          <a:prstGeom prst="rect">
            <a:avLst/>
          </a:prstGeom>
          <a:noFill/>
          <a:ln/>
        </p:spPr>
        <p:txBody>
          <a:bodyPr wrap="square" lIns="25400" tIns="25400" rIns="25400" bIns="25400" rtlCol="0" anchor="t">
            <a:normAutofit/>
          </a:bodyPr>
          <a:lstStyle/>
          <a:p>
            <a:pPr algn="l" indent="0" marL="0">
              <a:lnSpc>
                <a:spcPct val="142698"/>
              </a:lnSpc>
              <a:buNone/>
            </a:pPr>
            <a:r>
              <a:rPr lang="en-US" sz="3089" b="1" spc="-77" kern="0" dirty="0">
                <a:solidFill>
                  <a:srgbClr val="201E1D"/>
                </a:solidFill>
                <a:latin typeface="Archivo" pitchFamily="34" charset="0"/>
                <a:ea typeface="Archivo" pitchFamily="34" charset="-122"/>
                <a:cs typeface="Archivo" pitchFamily="34" charset="-120"/>
              </a:rPr>
              <a:t>16.59</a:t>
            </a:r>
            <a:pPr algn="l" indent="0" marL="0">
              <a:lnSpc>
                <a:spcPct val="142698"/>
              </a:lnSpc>
              <a:buNone/>
            </a:pPr>
            <a:r>
              <a:rPr lang="en-US" sz="1385" spc="-77" kern="0" dirty="0">
                <a:solidFill>
                  <a:srgbClr val="7D7979"/>
                </a:solidFill>
                <a:latin typeface="Archivo" pitchFamily="34" charset="0"/>
                <a:ea typeface="Archivo" pitchFamily="34" charset="-122"/>
                <a:cs typeface="Archivo" pitchFamily="34" charset="-120"/>
              </a:rPr>
              <a:t>km/h</a:t>
            </a:r>
            <a:endParaRPr lang="en-US" sz="3089" dirty="0"/>
          </a:p>
        </p:txBody>
      </p:sp>
      <p:sp>
        <p:nvSpPr>
          <p:cNvPr id="74" name="Text 63"/>
          <p:cNvSpPr/>
          <p:nvPr/>
        </p:nvSpPr>
        <p:spPr>
          <a:xfrm>
            <a:off x="15126080" y="4481407"/>
            <a:ext cx="2142439"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CALORIES</a:t>
            </a:r>
            <a:endParaRPr lang="en-US" sz="1065" dirty="0"/>
          </a:p>
        </p:txBody>
      </p:sp>
      <p:sp>
        <p:nvSpPr>
          <p:cNvPr id="75" name="Text 64"/>
          <p:cNvSpPr/>
          <p:nvPr/>
        </p:nvSpPr>
        <p:spPr>
          <a:xfrm>
            <a:off x="15126080" y="4691052"/>
            <a:ext cx="2142439" cy="646008"/>
          </a:xfrm>
          <a:prstGeom prst="rect">
            <a:avLst/>
          </a:prstGeom>
          <a:noFill/>
          <a:ln/>
        </p:spPr>
        <p:txBody>
          <a:bodyPr wrap="square" lIns="25400" tIns="25400" rIns="25400" bIns="25400" rtlCol="0" anchor="t">
            <a:normAutofit/>
          </a:bodyPr>
          <a:lstStyle/>
          <a:p>
            <a:pPr algn="l" indent="0" marL="0">
              <a:lnSpc>
                <a:spcPct val="142698"/>
              </a:lnSpc>
              <a:buNone/>
            </a:pPr>
            <a:r>
              <a:rPr lang="en-US" sz="3089" b="1" spc="-77" kern="0" dirty="0">
                <a:solidFill>
                  <a:srgbClr val="201E1D"/>
                </a:solidFill>
                <a:latin typeface="Archivo" pitchFamily="34" charset="0"/>
                <a:ea typeface="Archivo" pitchFamily="34" charset="-122"/>
                <a:cs typeface="Archivo" pitchFamily="34" charset="-120"/>
              </a:rPr>
              <a:t>366</a:t>
            </a:r>
            <a:endParaRPr lang="en-US" sz="3089" dirty="0"/>
          </a:p>
        </p:txBody>
      </p:sp>
      <p:sp>
        <p:nvSpPr>
          <p:cNvPr id="76" name="Text 65"/>
          <p:cNvSpPr/>
          <p:nvPr/>
        </p:nvSpPr>
        <p:spPr>
          <a:xfrm>
            <a:off x="6253353" y="5799403"/>
            <a:ext cx="1886258" cy="258206"/>
          </a:xfrm>
          <a:prstGeom prst="rect">
            <a:avLst/>
          </a:prstGeom>
          <a:noFill/>
          <a:ln/>
        </p:spPr>
        <p:txBody>
          <a:bodyPr wrap="square" lIns="25400" tIns="25400" rIns="25400" bIns="25400" rtlCol="0" anchor="t">
            <a:normAutofit/>
          </a:bodyPr>
          <a:lstStyle/>
          <a:p>
            <a:pPr algn="l" indent="0" marL="0">
              <a:lnSpc>
                <a:spcPct val="147955"/>
              </a:lnSpc>
              <a:buNone/>
            </a:pPr>
            <a:r>
              <a:rPr lang="en-US" sz="1118" b="1" spc="112" kern="0" dirty="0">
                <a:solidFill>
                  <a:srgbClr val="201E1D"/>
                </a:solidFill>
                <a:latin typeface="Archivo" pitchFamily="34" charset="0"/>
                <a:ea typeface="Archivo" pitchFamily="34" charset="-122"/>
                <a:cs typeface="Archivo" pitchFamily="34" charset="-120"/>
              </a:rPr>
              <a:t>HEART RATE ZONES</a:t>
            </a:r>
            <a:endParaRPr lang="en-US" sz="1118" dirty="0"/>
          </a:p>
        </p:txBody>
      </p:sp>
      <p:sp>
        <p:nvSpPr>
          <p:cNvPr id="77" name="Text 66"/>
          <p:cNvSpPr/>
          <p:nvPr/>
        </p:nvSpPr>
        <p:spPr>
          <a:xfrm>
            <a:off x="10602224" y="5785878"/>
            <a:ext cx="1763166" cy="279128"/>
          </a:xfrm>
          <a:prstGeom prst="rect">
            <a:avLst/>
          </a:prstGeom>
          <a:noFill/>
          <a:ln/>
        </p:spPr>
        <p:txBody>
          <a:bodyPr wrap="square" lIns="25400" tIns="25400" rIns="25400" bIns="25400" rtlCol="0" anchor="t">
            <a:normAutofit/>
          </a:bodyPr>
          <a:lstStyle/>
          <a:p>
            <a:pPr algn="l" indent="0" marL="0">
              <a:lnSpc>
                <a:spcPct val="142600"/>
              </a:lnSpc>
              <a:buNone/>
            </a:pPr>
            <a:r>
              <a:rPr lang="en-US" sz="1225" dirty="0">
                <a:solidFill>
                  <a:srgbClr val="7D7979"/>
                </a:solidFill>
                <a:latin typeface="Archivo" pitchFamily="34" charset="0"/>
                <a:ea typeface="Archivo" pitchFamily="34" charset="-122"/>
                <a:cs typeface="Archivo" pitchFamily="34" charset="-120"/>
              </a:rPr>
              <a:t>avg 170 · max 188 bpm</a:t>
            </a:r>
            <a:endParaRPr lang="en-US" sz="1225" dirty="0"/>
          </a:p>
        </p:txBody>
      </p:sp>
      <p:sp>
        <p:nvSpPr>
          <p:cNvPr id="78" name="Text 67"/>
          <p:cNvSpPr/>
          <p:nvPr/>
        </p:nvSpPr>
        <p:spPr>
          <a:xfrm>
            <a:off x="6253353" y="6182133"/>
            <a:ext cx="400812" cy="268667"/>
          </a:xfrm>
          <a:prstGeom prst="rect">
            <a:avLst/>
          </a:prstGeom>
          <a:noFill/>
          <a:ln/>
        </p:spPr>
        <p:txBody>
          <a:bodyPr wrap="square" lIns="25400" tIns="25400" rIns="25400" bIns="25400" rtlCol="0" anchor="t">
            <a:normAutofit/>
          </a:bodyPr>
          <a:lstStyle/>
          <a:p>
            <a:pPr algn="l" indent="0" marL="0">
              <a:lnSpc>
                <a:spcPct val="142083"/>
              </a:lnSpc>
              <a:buNone/>
            </a:pPr>
            <a:r>
              <a:rPr lang="en-US" sz="1172" b="1" dirty="0">
                <a:solidFill>
                  <a:srgbClr val="7D7979"/>
                </a:solidFill>
                <a:latin typeface="Archivo" pitchFamily="34" charset="0"/>
                <a:ea typeface="Archivo" pitchFamily="34" charset="-122"/>
                <a:cs typeface="Archivo" pitchFamily="34" charset="-120"/>
              </a:rPr>
              <a:t>Z1</a:t>
            </a:r>
            <a:endParaRPr lang="en-US" sz="1172" dirty="0"/>
          </a:p>
        </p:txBody>
      </p:sp>
      <p:sp>
        <p:nvSpPr>
          <p:cNvPr id="79" name="Shape 68"/>
          <p:cNvSpPr/>
          <p:nvPr/>
        </p:nvSpPr>
        <p:spPr>
          <a:xfrm>
            <a:off x="6740271" y="6162161"/>
            <a:ext cx="4653300" cy="270510"/>
          </a:xfrm>
          <a:prstGeom prst="rect">
            <a:avLst/>
          </a:prstGeom>
          <a:solidFill>
            <a:srgbClr val="201E1D">
              <a:alpha val="8000"/>
            </a:srgbClr>
          </a:solidFill>
          <a:ln/>
        </p:spPr>
      </p:sp>
      <p:sp>
        <p:nvSpPr>
          <p:cNvPr id="80" name="Shape 69"/>
          <p:cNvSpPr/>
          <p:nvPr/>
        </p:nvSpPr>
        <p:spPr>
          <a:xfrm>
            <a:off x="6740271" y="6162161"/>
            <a:ext cx="55793" cy="270510"/>
          </a:xfrm>
          <a:prstGeom prst="rect">
            <a:avLst/>
          </a:prstGeom>
          <a:solidFill>
            <a:srgbClr val="D7D3D3"/>
          </a:solidFill>
          <a:ln/>
        </p:spPr>
      </p:sp>
      <p:sp>
        <p:nvSpPr>
          <p:cNvPr id="81" name="Text 70"/>
          <p:cNvSpPr/>
          <p:nvPr/>
        </p:nvSpPr>
        <p:spPr>
          <a:xfrm>
            <a:off x="11479677" y="6171672"/>
            <a:ext cx="725424" cy="289590"/>
          </a:xfrm>
          <a:prstGeom prst="rect">
            <a:avLst/>
          </a:prstGeom>
          <a:noFill/>
          <a:ln/>
        </p:spPr>
        <p:txBody>
          <a:bodyPr wrap="square" lIns="25400" tIns="25400" rIns="25400" bIns="25400" rtlCol="0" anchor="t">
            <a:normAutofit/>
          </a:bodyPr>
          <a:lstStyle/>
          <a:p>
            <a:pPr algn="r" indent="0" marL="0">
              <a:lnSpc>
                <a:spcPct val="143077"/>
              </a:lnSpc>
              <a:buNone/>
            </a:pPr>
            <a:r>
              <a:rPr lang="en-US" sz="1278" dirty="0">
                <a:solidFill>
                  <a:srgbClr val="605D5D"/>
                </a:solidFill>
                <a:latin typeface="Archivo" pitchFamily="34" charset="0"/>
                <a:ea typeface="Archivo" pitchFamily="34" charset="-122"/>
                <a:cs typeface="Archivo" pitchFamily="34" charset="-120"/>
              </a:rPr>
              <a:t>0:21</a:t>
            </a:r>
            <a:endParaRPr lang="en-US" sz="1278" dirty="0"/>
          </a:p>
        </p:txBody>
      </p:sp>
      <p:sp>
        <p:nvSpPr>
          <p:cNvPr id="82" name="Text 71"/>
          <p:cNvSpPr/>
          <p:nvPr/>
        </p:nvSpPr>
        <p:spPr>
          <a:xfrm>
            <a:off x="6253353" y="6560847"/>
            <a:ext cx="400812" cy="268668"/>
          </a:xfrm>
          <a:prstGeom prst="rect">
            <a:avLst/>
          </a:prstGeom>
          <a:noFill/>
          <a:ln/>
        </p:spPr>
        <p:txBody>
          <a:bodyPr wrap="square" lIns="25400" tIns="25400" rIns="25400" bIns="25400" rtlCol="0" anchor="t">
            <a:normAutofit/>
          </a:bodyPr>
          <a:lstStyle/>
          <a:p>
            <a:pPr algn="l" indent="0" marL="0">
              <a:lnSpc>
                <a:spcPct val="142083"/>
              </a:lnSpc>
              <a:buNone/>
            </a:pPr>
            <a:r>
              <a:rPr lang="en-US" sz="1172" b="1" dirty="0">
                <a:solidFill>
                  <a:srgbClr val="7D7979"/>
                </a:solidFill>
                <a:latin typeface="Archivo" pitchFamily="34" charset="0"/>
                <a:ea typeface="Archivo" pitchFamily="34" charset="-122"/>
                <a:cs typeface="Archivo" pitchFamily="34" charset="-120"/>
              </a:rPr>
              <a:t>Z2</a:t>
            </a:r>
            <a:endParaRPr lang="en-US" sz="1172" dirty="0"/>
          </a:p>
        </p:txBody>
      </p:sp>
      <p:sp>
        <p:nvSpPr>
          <p:cNvPr id="83" name="Shape 72"/>
          <p:cNvSpPr/>
          <p:nvPr/>
        </p:nvSpPr>
        <p:spPr>
          <a:xfrm>
            <a:off x="6740271" y="6540875"/>
            <a:ext cx="4653300" cy="270510"/>
          </a:xfrm>
          <a:prstGeom prst="rect">
            <a:avLst/>
          </a:prstGeom>
          <a:solidFill>
            <a:srgbClr val="201E1D">
              <a:alpha val="8000"/>
            </a:srgbClr>
          </a:solidFill>
          <a:ln/>
        </p:spPr>
      </p:sp>
      <p:sp>
        <p:nvSpPr>
          <p:cNvPr id="84" name="Shape 73"/>
          <p:cNvSpPr/>
          <p:nvPr/>
        </p:nvSpPr>
        <p:spPr>
          <a:xfrm>
            <a:off x="6740271" y="6540875"/>
            <a:ext cx="158185" cy="270510"/>
          </a:xfrm>
          <a:prstGeom prst="rect">
            <a:avLst/>
          </a:prstGeom>
          <a:solidFill>
            <a:srgbClr val="9B9797"/>
          </a:solidFill>
          <a:ln/>
        </p:spPr>
      </p:sp>
      <p:sp>
        <p:nvSpPr>
          <p:cNvPr id="85" name="Text 74"/>
          <p:cNvSpPr/>
          <p:nvPr/>
        </p:nvSpPr>
        <p:spPr>
          <a:xfrm>
            <a:off x="11479677" y="6550386"/>
            <a:ext cx="725424" cy="289590"/>
          </a:xfrm>
          <a:prstGeom prst="rect">
            <a:avLst/>
          </a:prstGeom>
          <a:noFill/>
          <a:ln/>
        </p:spPr>
        <p:txBody>
          <a:bodyPr wrap="square" lIns="25400" tIns="25400" rIns="25400" bIns="25400" rtlCol="0" anchor="t">
            <a:normAutofit/>
          </a:bodyPr>
          <a:lstStyle/>
          <a:p>
            <a:pPr algn="r" indent="0" marL="0">
              <a:lnSpc>
                <a:spcPct val="143077"/>
              </a:lnSpc>
              <a:buNone/>
            </a:pPr>
            <a:r>
              <a:rPr lang="en-US" sz="1278" dirty="0">
                <a:solidFill>
                  <a:srgbClr val="605D5D"/>
                </a:solidFill>
                <a:latin typeface="Archivo" pitchFamily="34" charset="0"/>
                <a:ea typeface="Archivo" pitchFamily="34" charset="-122"/>
                <a:cs typeface="Archivo" pitchFamily="34" charset="-120"/>
              </a:rPr>
              <a:t>0:46</a:t>
            </a:r>
            <a:endParaRPr lang="en-US" sz="1278" dirty="0"/>
          </a:p>
        </p:txBody>
      </p:sp>
      <p:sp>
        <p:nvSpPr>
          <p:cNvPr id="86" name="Text 75"/>
          <p:cNvSpPr/>
          <p:nvPr/>
        </p:nvSpPr>
        <p:spPr>
          <a:xfrm>
            <a:off x="6253353" y="6939561"/>
            <a:ext cx="400812" cy="268667"/>
          </a:xfrm>
          <a:prstGeom prst="rect">
            <a:avLst/>
          </a:prstGeom>
          <a:noFill/>
          <a:ln/>
        </p:spPr>
        <p:txBody>
          <a:bodyPr wrap="square" lIns="25400" tIns="25400" rIns="25400" bIns="25400" rtlCol="0" anchor="t">
            <a:normAutofit/>
          </a:bodyPr>
          <a:lstStyle/>
          <a:p>
            <a:pPr algn="l" indent="0" marL="0">
              <a:lnSpc>
                <a:spcPct val="142083"/>
              </a:lnSpc>
              <a:buNone/>
            </a:pPr>
            <a:r>
              <a:rPr lang="en-US" sz="1172" b="1" dirty="0">
                <a:solidFill>
                  <a:srgbClr val="7D7979"/>
                </a:solidFill>
                <a:latin typeface="Archivo" pitchFamily="34" charset="0"/>
                <a:ea typeface="Archivo" pitchFamily="34" charset="-122"/>
                <a:cs typeface="Archivo" pitchFamily="34" charset="-120"/>
              </a:rPr>
              <a:t>Z3</a:t>
            </a:r>
            <a:endParaRPr lang="en-US" sz="1172" dirty="0"/>
          </a:p>
        </p:txBody>
      </p:sp>
      <p:sp>
        <p:nvSpPr>
          <p:cNvPr id="87" name="Shape 76"/>
          <p:cNvSpPr/>
          <p:nvPr/>
        </p:nvSpPr>
        <p:spPr>
          <a:xfrm>
            <a:off x="6740271" y="6919589"/>
            <a:ext cx="4653300" cy="270510"/>
          </a:xfrm>
          <a:prstGeom prst="rect">
            <a:avLst/>
          </a:prstGeom>
          <a:solidFill>
            <a:srgbClr val="201E1D">
              <a:alpha val="8000"/>
            </a:srgbClr>
          </a:solidFill>
          <a:ln/>
        </p:spPr>
      </p:sp>
      <p:sp>
        <p:nvSpPr>
          <p:cNvPr id="88" name="Shape 77"/>
          <p:cNvSpPr/>
          <p:nvPr/>
        </p:nvSpPr>
        <p:spPr>
          <a:xfrm>
            <a:off x="6740271" y="6919589"/>
            <a:ext cx="325669" cy="270510"/>
          </a:xfrm>
          <a:prstGeom prst="rect">
            <a:avLst/>
          </a:prstGeom>
          <a:solidFill>
            <a:srgbClr val="FFC4B8"/>
          </a:solidFill>
          <a:ln/>
        </p:spPr>
      </p:sp>
      <p:sp>
        <p:nvSpPr>
          <p:cNvPr id="89" name="Text 78"/>
          <p:cNvSpPr/>
          <p:nvPr/>
        </p:nvSpPr>
        <p:spPr>
          <a:xfrm>
            <a:off x="11479677" y="6929099"/>
            <a:ext cx="725424" cy="289590"/>
          </a:xfrm>
          <a:prstGeom prst="rect">
            <a:avLst/>
          </a:prstGeom>
          <a:noFill/>
          <a:ln/>
        </p:spPr>
        <p:txBody>
          <a:bodyPr wrap="square" lIns="25400" tIns="25400" rIns="25400" bIns="25400" rtlCol="0" anchor="t">
            <a:normAutofit/>
          </a:bodyPr>
          <a:lstStyle/>
          <a:p>
            <a:pPr algn="r" indent="0" marL="0">
              <a:lnSpc>
                <a:spcPct val="143077"/>
              </a:lnSpc>
              <a:buNone/>
            </a:pPr>
            <a:r>
              <a:rPr lang="en-US" sz="1278" dirty="0">
                <a:solidFill>
                  <a:srgbClr val="605D5D"/>
                </a:solidFill>
                <a:latin typeface="Archivo" pitchFamily="34" charset="0"/>
                <a:ea typeface="Archivo" pitchFamily="34" charset="-122"/>
                <a:cs typeface="Archivo" pitchFamily="34" charset="-120"/>
              </a:rPr>
              <a:t>1:34</a:t>
            </a:r>
            <a:endParaRPr lang="en-US" sz="1278" dirty="0"/>
          </a:p>
        </p:txBody>
      </p:sp>
      <p:sp>
        <p:nvSpPr>
          <p:cNvPr id="90" name="Text 79"/>
          <p:cNvSpPr/>
          <p:nvPr/>
        </p:nvSpPr>
        <p:spPr>
          <a:xfrm>
            <a:off x="6253353" y="7318274"/>
            <a:ext cx="400812" cy="268668"/>
          </a:xfrm>
          <a:prstGeom prst="rect">
            <a:avLst/>
          </a:prstGeom>
          <a:noFill/>
          <a:ln/>
        </p:spPr>
        <p:txBody>
          <a:bodyPr wrap="square" lIns="25400" tIns="25400" rIns="25400" bIns="25400" rtlCol="0" anchor="t">
            <a:normAutofit/>
          </a:bodyPr>
          <a:lstStyle/>
          <a:p>
            <a:pPr algn="l" indent="0" marL="0">
              <a:lnSpc>
                <a:spcPct val="142083"/>
              </a:lnSpc>
              <a:buNone/>
            </a:pPr>
            <a:r>
              <a:rPr lang="en-US" sz="1172" b="1" dirty="0">
                <a:solidFill>
                  <a:srgbClr val="201E1D"/>
                </a:solidFill>
                <a:latin typeface="Archivo" pitchFamily="34" charset="0"/>
                <a:ea typeface="Archivo" pitchFamily="34" charset="-122"/>
                <a:cs typeface="Archivo" pitchFamily="34" charset="-120"/>
              </a:rPr>
              <a:t>Z4</a:t>
            </a:r>
            <a:endParaRPr lang="en-US" sz="1172" dirty="0"/>
          </a:p>
        </p:txBody>
      </p:sp>
      <p:sp>
        <p:nvSpPr>
          <p:cNvPr id="91" name="Shape 80"/>
          <p:cNvSpPr/>
          <p:nvPr/>
        </p:nvSpPr>
        <p:spPr>
          <a:xfrm>
            <a:off x="6740271" y="7298303"/>
            <a:ext cx="4653300" cy="270510"/>
          </a:xfrm>
          <a:prstGeom prst="rect">
            <a:avLst/>
          </a:prstGeom>
          <a:solidFill>
            <a:srgbClr val="201E1D">
              <a:alpha val="8000"/>
            </a:srgbClr>
          </a:solidFill>
          <a:ln/>
        </p:spPr>
      </p:sp>
      <p:sp>
        <p:nvSpPr>
          <p:cNvPr id="92" name="Shape 81"/>
          <p:cNvSpPr/>
          <p:nvPr/>
        </p:nvSpPr>
        <p:spPr>
          <a:xfrm>
            <a:off x="6740271" y="7298303"/>
            <a:ext cx="4653300" cy="270510"/>
          </a:xfrm>
          <a:prstGeom prst="rect">
            <a:avLst/>
          </a:prstGeom>
          <a:solidFill>
            <a:srgbClr val="EC3013"/>
          </a:solidFill>
          <a:ln/>
        </p:spPr>
      </p:sp>
      <p:sp>
        <p:nvSpPr>
          <p:cNvPr id="93" name="Text 82"/>
          <p:cNvSpPr/>
          <p:nvPr/>
        </p:nvSpPr>
        <p:spPr>
          <a:xfrm>
            <a:off x="11479677" y="7307813"/>
            <a:ext cx="725424" cy="289590"/>
          </a:xfrm>
          <a:prstGeom prst="rect">
            <a:avLst/>
          </a:prstGeom>
          <a:noFill/>
          <a:ln/>
        </p:spPr>
        <p:txBody>
          <a:bodyPr wrap="square" lIns="25400" tIns="25400" rIns="25400" bIns="25400" rtlCol="0" anchor="t">
            <a:normAutofit/>
          </a:bodyPr>
          <a:lstStyle/>
          <a:p>
            <a:pPr algn="r" indent="0" marL="0">
              <a:lnSpc>
                <a:spcPct val="143077"/>
              </a:lnSpc>
              <a:buNone/>
            </a:pPr>
            <a:r>
              <a:rPr lang="en-US" sz="1278" b="1" dirty="0">
                <a:solidFill>
                  <a:srgbClr val="201E1D"/>
                </a:solidFill>
                <a:latin typeface="Archivo" pitchFamily="34" charset="0"/>
                <a:ea typeface="Archivo" pitchFamily="34" charset="-122"/>
                <a:cs typeface="Archivo" pitchFamily="34" charset="-120"/>
              </a:rPr>
              <a:t>22:16</a:t>
            </a:r>
            <a:endParaRPr lang="en-US" sz="1278" dirty="0"/>
          </a:p>
        </p:txBody>
      </p:sp>
      <p:sp>
        <p:nvSpPr>
          <p:cNvPr id="94" name="Text 83"/>
          <p:cNvSpPr/>
          <p:nvPr/>
        </p:nvSpPr>
        <p:spPr>
          <a:xfrm>
            <a:off x="6253353" y="7696989"/>
            <a:ext cx="400812" cy="268667"/>
          </a:xfrm>
          <a:prstGeom prst="rect">
            <a:avLst/>
          </a:prstGeom>
          <a:noFill/>
          <a:ln/>
        </p:spPr>
        <p:txBody>
          <a:bodyPr wrap="square" lIns="25400" tIns="25400" rIns="25400" bIns="25400" rtlCol="0" anchor="t">
            <a:normAutofit/>
          </a:bodyPr>
          <a:lstStyle/>
          <a:p>
            <a:pPr algn="l" indent="0" marL="0">
              <a:lnSpc>
                <a:spcPct val="142083"/>
              </a:lnSpc>
              <a:buNone/>
            </a:pPr>
            <a:r>
              <a:rPr lang="en-US" sz="1172" b="1" dirty="0">
                <a:solidFill>
                  <a:srgbClr val="7D7979"/>
                </a:solidFill>
                <a:latin typeface="Archivo" pitchFamily="34" charset="0"/>
                <a:ea typeface="Archivo" pitchFamily="34" charset="-122"/>
                <a:cs typeface="Archivo" pitchFamily="34" charset="-120"/>
              </a:rPr>
              <a:t>Z5</a:t>
            </a:r>
            <a:endParaRPr lang="en-US" sz="1172" dirty="0"/>
          </a:p>
        </p:txBody>
      </p:sp>
      <p:sp>
        <p:nvSpPr>
          <p:cNvPr id="95" name="Shape 84"/>
          <p:cNvSpPr/>
          <p:nvPr/>
        </p:nvSpPr>
        <p:spPr>
          <a:xfrm>
            <a:off x="6740271" y="7677017"/>
            <a:ext cx="4653300" cy="270510"/>
          </a:xfrm>
          <a:prstGeom prst="rect">
            <a:avLst/>
          </a:prstGeom>
          <a:solidFill>
            <a:srgbClr val="201E1D">
              <a:alpha val="8000"/>
            </a:srgbClr>
          </a:solidFill>
          <a:ln/>
        </p:spPr>
      </p:sp>
      <p:sp>
        <p:nvSpPr>
          <p:cNvPr id="96" name="Shape 85"/>
          <p:cNvSpPr/>
          <p:nvPr/>
        </p:nvSpPr>
        <p:spPr>
          <a:xfrm>
            <a:off x="6740271" y="7677017"/>
            <a:ext cx="907371" cy="270510"/>
          </a:xfrm>
          <a:prstGeom prst="rect">
            <a:avLst/>
          </a:prstGeom>
          <a:solidFill>
            <a:srgbClr val="7C1405"/>
          </a:solidFill>
          <a:ln/>
        </p:spPr>
      </p:sp>
      <p:sp>
        <p:nvSpPr>
          <p:cNvPr id="97" name="Text 86"/>
          <p:cNvSpPr/>
          <p:nvPr/>
        </p:nvSpPr>
        <p:spPr>
          <a:xfrm>
            <a:off x="11479677" y="7686527"/>
            <a:ext cx="725424" cy="289590"/>
          </a:xfrm>
          <a:prstGeom prst="rect">
            <a:avLst/>
          </a:prstGeom>
          <a:noFill/>
          <a:ln/>
        </p:spPr>
        <p:txBody>
          <a:bodyPr wrap="square" lIns="25400" tIns="25400" rIns="25400" bIns="25400" rtlCol="0" anchor="t">
            <a:normAutofit/>
          </a:bodyPr>
          <a:lstStyle/>
          <a:p>
            <a:pPr algn="r" indent="0" marL="0">
              <a:lnSpc>
                <a:spcPct val="143077"/>
              </a:lnSpc>
              <a:buNone/>
            </a:pPr>
            <a:r>
              <a:rPr lang="en-US" sz="1278" dirty="0">
                <a:solidFill>
                  <a:srgbClr val="605D5D"/>
                </a:solidFill>
                <a:latin typeface="Archivo" pitchFamily="34" charset="0"/>
                <a:ea typeface="Archivo" pitchFamily="34" charset="-122"/>
                <a:cs typeface="Archivo" pitchFamily="34" charset="-120"/>
              </a:rPr>
              <a:t>4:20</a:t>
            </a:r>
            <a:endParaRPr lang="en-US" sz="1278" dirty="0"/>
          </a:p>
        </p:txBody>
      </p:sp>
      <p:sp>
        <p:nvSpPr>
          <p:cNvPr id="98" name="Shape 87"/>
          <p:cNvSpPr/>
          <p:nvPr/>
        </p:nvSpPr>
        <p:spPr>
          <a:xfrm>
            <a:off x="6253353" y="9288559"/>
            <a:ext cx="5951749" cy="27051"/>
          </a:xfrm>
          <a:prstGeom prst="rect">
            <a:avLst/>
          </a:prstGeom>
          <a:solidFill>
            <a:srgbClr val="201E1D">
              <a:alpha val="40000"/>
            </a:srgbClr>
          </a:solidFill>
          <a:ln/>
        </p:spPr>
      </p:sp>
      <p:sp>
        <p:nvSpPr>
          <p:cNvPr id="99" name="Shape 88"/>
          <p:cNvSpPr/>
          <p:nvPr/>
        </p:nvSpPr>
        <p:spPr>
          <a:xfrm>
            <a:off x="6253353" y="8218037"/>
            <a:ext cx="5951749" cy="27051"/>
          </a:xfrm>
          <a:prstGeom prst="rect">
            <a:avLst/>
          </a:prstGeom>
          <a:solidFill>
            <a:srgbClr val="201E1D">
              <a:alpha val="40000"/>
            </a:srgbClr>
          </a:solidFill>
          <a:ln/>
        </p:spPr>
      </p:sp>
      <p:sp>
        <p:nvSpPr>
          <p:cNvPr id="100" name="Shape 89"/>
          <p:cNvSpPr/>
          <p:nvPr/>
        </p:nvSpPr>
        <p:spPr>
          <a:xfrm>
            <a:off x="10433260" y="8245089"/>
            <a:ext cx="13526" cy="1043471"/>
          </a:xfrm>
          <a:prstGeom prst="rect">
            <a:avLst/>
          </a:prstGeom>
          <a:solidFill>
            <a:srgbClr val="201E1D">
              <a:alpha val="18000"/>
            </a:srgbClr>
          </a:solidFill>
          <a:ln/>
        </p:spPr>
      </p:sp>
      <p:sp>
        <p:nvSpPr>
          <p:cNvPr id="101" name="Text 90"/>
          <p:cNvSpPr/>
          <p:nvPr/>
        </p:nvSpPr>
        <p:spPr>
          <a:xfrm>
            <a:off x="6253353" y="8420920"/>
            <a:ext cx="4359851"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TRAINING EFFECT</a:t>
            </a:r>
            <a:endParaRPr lang="en-US" sz="1065" dirty="0"/>
          </a:p>
        </p:txBody>
      </p:sp>
      <p:sp>
        <p:nvSpPr>
          <p:cNvPr id="102" name="Text 91"/>
          <p:cNvSpPr/>
          <p:nvPr/>
        </p:nvSpPr>
        <p:spPr>
          <a:xfrm>
            <a:off x="6253353" y="8630565"/>
            <a:ext cx="564281" cy="520263"/>
          </a:xfrm>
          <a:prstGeom prst="rect">
            <a:avLst/>
          </a:prstGeom>
          <a:noFill/>
          <a:ln/>
        </p:spPr>
        <p:txBody>
          <a:bodyPr wrap="square" lIns="25400" tIns="25400" rIns="25400" bIns="25400" rtlCol="0" anchor="t">
            <a:normAutofit/>
          </a:bodyPr>
          <a:lstStyle/>
          <a:p>
            <a:pPr algn="l" indent="0" marL="0">
              <a:lnSpc>
                <a:spcPct val="142600"/>
              </a:lnSpc>
              <a:buNone/>
            </a:pPr>
            <a:r>
              <a:rPr lang="en-US" sz="2449" b="1" dirty="0">
                <a:solidFill>
                  <a:srgbClr val="201E1D"/>
                </a:solidFill>
                <a:latin typeface="Archivo" pitchFamily="34" charset="0"/>
                <a:ea typeface="Archivo" pitchFamily="34" charset="-122"/>
                <a:cs typeface="Archivo" pitchFamily="34" charset="-120"/>
              </a:rPr>
              <a:t>3.6</a:t>
            </a:r>
            <a:endParaRPr lang="en-US" sz="2449" dirty="0"/>
          </a:p>
        </p:txBody>
      </p:sp>
      <p:sp>
        <p:nvSpPr>
          <p:cNvPr id="103" name="Text 92"/>
          <p:cNvSpPr/>
          <p:nvPr/>
        </p:nvSpPr>
        <p:spPr>
          <a:xfrm>
            <a:off x="6849637" y="8806397"/>
            <a:ext cx="2018998" cy="268667"/>
          </a:xfrm>
          <a:prstGeom prst="rect">
            <a:avLst/>
          </a:prstGeom>
          <a:noFill/>
          <a:ln/>
        </p:spPr>
        <p:txBody>
          <a:bodyPr wrap="square" lIns="25400" tIns="25400" rIns="25400" bIns="25400" rtlCol="0" anchor="t">
            <a:normAutofit/>
          </a:bodyPr>
          <a:lstStyle/>
          <a:p>
            <a:pPr algn="l" indent="0" marL="0">
              <a:lnSpc>
                <a:spcPct val="142083"/>
              </a:lnSpc>
              <a:buNone/>
            </a:pPr>
            <a:r>
              <a:rPr lang="en-US" sz="1172" b="1" spc="59" kern="0" dirty="0">
                <a:solidFill>
                  <a:srgbClr val="AE1800"/>
                </a:solidFill>
                <a:latin typeface="Archivo" pitchFamily="34" charset="0"/>
                <a:ea typeface="Archivo" pitchFamily="34" charset="-122"/>
                <a:cs typeface="Archivo" pitchFamily="34" charset="-120"/>
              </a:rPr>
              <a:t>LACTATE THRESHOLD</a:t>
            </a:r>
            <a:endParaRPr lang="en-US" sz="1172" dirty="0"/>
          </a:p>
        </p:txBody>
      </p:sp>
      <p:sp>
        <p:nvSpPr>
          <p:cNvPr id="104" name="Text 93"/>
          <p:cNvSpPr/>
          <p:nvPr/>
        </p:nvSpPr>
        <p:spPr>
          <a:xfrm>
            <a:off x="10663194" y="8420920"/>
            <a:ext cx="1696098" cy="247745"/>
          </a:xfrm>
          <a:prstGeom prst="rect">
            <a:avLst/>
          </a:prstGeom>
          <a:noFill/>
          <a:ln/>
        </p:spPr>
        <p:txBody>
          <a:bodyPr wrap="square" lIns="25400" tIns="25400" rIns="25400" bIns="25400" rtlCol="0" anchor="t">
            <a:normAutofit/>
          </a:bodyPr>
          <a:lstStyle/>
          <a:p>
            <a:pPr algn="l" indent="0" marL="0">
              <a:lnSpc>
                <a:spcPct val="140909"/>
              </a:lnSpc>
              <a:buNone/>
            </a:pPr>
            <a:r>
              <a:rPr lang="en-US" sz="1065" b="1" spc="107" kern="0" dirty="0">
                <a:solidFill>
                  <a:srgbClr val="7D7979"/>
                </a:solidFill>
                <a:latin typeface="Archivo" pitchFamily="34" charset="0"/>
                <a:ea typeface="Archivo" pitchFamily="34" charset="-122"/>
                <a:cs typeface="Archivo" pitchFamily="34" charset="-120"/>
              </a:rPr>
              <a:t>ANAEROBIC</a:t>
            </a:r>
            <a:endParaRPr lang="en-US" sz="1065" dirty="0"/>
          </a:p>
        </p:txBody>
      </p:sp>
      <p:sp>
        <p:nvSpPr>
          <p:cNvPr id="105" name="Text 94"/>
          <p:cNvSpPr/>
          <p:nvPr/>
        </p:nvSpPr>
        <p:spPr>
          <a:xfrm>
            <a:off x="10663194" y="8630565"/>
            <a:ext cx="1696098" cy="520263"/>
          </a:xfrm>
          <a:prstGeom prst="rect">
            <a:avLst/>
          </a:prstGeom>
          <a:noFill/>
          <a:ln/>
        </p:spPr>
        <p:txBody>
          <a:bodyPr wrap="square" lIns="25400" tIns="25400" rIns="25400" bIns="25400" rtlCol="0" anchor="t">
            <a:normAutofit/>
          </a:bodyPr>
          <a:lstStyle/>
          <a:p>
            <a:pPr algn="l" indent="0" marL="0">
              <a:lnSpc>
                <a:spcPct val="142600"/>
              </a:lnSpc>
              <a:buNone/>
            </a:pPr>
            <a:r>
              <a:rPr lang="en-US" sz="2449" b="1" dirty="0">
                <a:solidFill>
                  <a:srgbClr val="201E1D"/>
                </a:solidFill>
                <a:latin typeface="Archivo" pitchFamily="34" charset="0"/>
                <a:ea typeface="Archivo" pitchFamily="34" charset="-122"/>
                <a:cs typeface="Archivo" pitchFamily="34" charset="-120"/>
              </a:rPr>
              <a:t>0.7</a:t>
            </a:r>
            <a:endParaRPr lang="en-US" sz="2449" dirty="0"/>
          </a:p>
        </p:txBody>
      </p:sp>
      <p:sp>
        <p:nvSpPr>
          <p:cNvPr id="106" name="Text 95"/>
          <p:cNvSpPr/>
          <p:nvPr/>
        </p:nvSpPr>
        <p:spPr>
          <a:xfrm>
            <a:off x="12664968" y="5785878"/>
            <a:ext cx="4849663" cy="258206"/>
          </a:xfrm>
          <a:prstGeom prst="rect">
            <a:avLst/>
          </a:prstGeom>
          <a:noFill/>
          <a:ln/>
        </p:spPr>
        <p:txBody>
          <a:bodyPr wrap="square" lIns="25400" tIns="25400" rIns="25400" bIns="25400" rtlCol="0" anchor="t">
            <a:normAutofit/>
          </a:bodyPr>
          <a:lstStyle/>
          <a:p>
            <a:pPr algn="l" indent="0" marL="0">
              <a:lnSpc>
                <a:spcPct val="147955"/>
              </a:lnSpc>
              <a:buNone/>
            </a:pPr>
            <a:r>
              <a:rPr lang="en-US" sz="1118" b="1" spc="112" kern="0" dirty="0">
                <a:solidFill>
                  <a:srgbClr val="201E1D"/>
                </a:solidFill>
                <a:latin typeface="Archivo" pitchFamily="34" charset="0"/>
                <a:ea typeface="Archivo" pitchFamily="34" charset="-122"/>
                <a:cs typeface="Archivo" pitchFamily="34" charset="-120"/>
              </a:rPr>
              <a:t>RUNNING DYNAMICS</a:t>
            </a:r>
            <a:endParaRPr lang="en-US" sz="1118" dirty="0"/>
          </a:p>
        </p:txBody>
      </p:sp>
      <p:sp>
        <p:nvSpPr>
          <p:cNvPr id="107" name="Shape 96"/>
          <p:cNvSpPr/>
          <p:nvPr/>
        </p:nvSpPr>
        <p:spPr>
          <a:xfrm>
            <a:off x="12664968" y="6747139"/>
            <a:ext cx="4408784" cy="13526"/>
          </a:xfrm>
          <a:prstGeom prst="rect">
            <a:avLst/>
          </a:prstGeom>
          <a:solidFill>
            <a:srgbClr val="201E1D">
              <a:alpha val="18000"/>
            </a:srgbClr>
          </a:solidFill>
          <a:ln/>
        </p:spPr>
      </p:sp>
      <p:sp>
        <p:nvSpPr>
          <p:cNvPr id="108" name="Text 97"/>
          <p:cNvSpPr/>
          <p:nvPr/>
        </p:nvSpPr>
        <p:spPr>
          <a:xfrm>
            <a:off x="12664968" y="6330596"/>
            <a:ext cx="1432013"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Average cadence</a:t>
            </a:r>
            <a:endParaRPr lang="en-US" sz="1331" dirty="0"/>
          </a:p>
        </p:txBody>
      </p:sp>
      <p:sp>
        <p:nvSpPr>
          <p:cNvPr id="109" name="Text 98"/>
          <p:cNvSpPr/>
          <p:nvPr/>
        </p:nvSpPr>
        <p:spPr>
          <a:xfrm>
            <a:off x="16160887" y="6276494"/>
            <a:ext cx="989065" cy="373490"/>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149 spm</a:t>
            </a:r>
            <a:endParaRPr lang="en-US" sz="1704" dirty="0"/>
          </a:p>
        </p:txBody>
      </p:sp>
      <p:sp>
        <p:nvSpPr>
          <p:cNvPr id="110" name="Shape 99"/>
          <p:cNvSpPr/>
          <p:nvPr/>
        </p:nvSpPr>
        <p:spPr>
          <a:xfrm>
            <a:off x="12664968" y="7366565"/>
            <a:ext cx="4408784" cy="13526"/>
          </a:xfrm>
          <a:prstGeom prst="rect">
            <a:avLst/>
          </a:prstGeom>
          <a:solidFill>
            <a:srgbClr val="201E1D">
              <a:alpha val="18000"/>
            </a:srgbClr>
          </a:solidFill>
          <a:ln/>
        </p:spPr>
      </p:sp>
      <p:sp>
        <p:nvSpPr>
          <p:cNvPr id="111" name="Text 100"/>
          <p:cNvSpPr/>
          <p:nvPr/>
        </p:nvSpPr>
        <p:spPr>
          <a:xfrm>
            <a:off x="12664968" y="6950022"/>
            <a:ext cx="1077298"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Max cadence</a:t>
            </a:r>
            <a:endParaRPr lang="en-US" sz="1331" dirty="0"/>
          </a:p>
        </p:txBody>
      </p:sp>
      <p:sp>
        <p:nvSpPr>
          <p:cNvPr id="112" name="Text 101"/>
          <p:cNvSpPr/>
          <p:nvPr/>
        </p:nvSpPr>
        <p:spPr>
          <a:xfrm>
            <a:off x="16160887" y="6895920"/>
            <a:ext cx="989065" cy="373490"/>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173 spm</a:t>
            </a:r>
            <a:endParaRPr lang="en-US" sz="1704" dirty="0"/>
          </a:p>
        </p:txBody>
      </p:sp>
      <p:sp>
        <p:nvSpPr>
          <p:cNvPr id="113" name="Shape 102"/>
          <p:cNvSpPr/>
          <p:nvPr/>
        </p:nvSpPr>
        <p:spPr>
          <a:xfrm>
            <a:off x="12664968" y="7985990"/>
            <a:ext cx="4408784" cy="13526"/>
          </a:xfrm>
          <a:prstGeom prst="rect">
            <a:avLst/>
          </a:prstGeom>
          <a:solidFill>
            <a:srgbClr val="201E1D">
              <a:alpha val="18000"/>
            </a:srgbClr>
          </a:solidFill>
          <a:ln/>
        </p:spPr>
      </p:sp>
      <p:sp>
        <p:nvSpPr>
          <p:cNvPr id="114" name="Text 103"/>
          <p:cNvSpPr/>
          <p:nvPr/>
        </p:nvSpPr>
        <p:spPr>
          <a:xfrm>
            <a:off x="12664968" y="7569447"/>
            <a:ext cx="1483156"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Vertical oscillation</a:t>
            </a:r>
            <a:endParaRPr lang="en-US" sz="1331" dirty="0"/>
          </a:p>
        </p:txBody>
      </p:sp>
      <p:sp>
        <p:nvSpPr>
          <p:cNvPr id="115" name="Text 104"/>
          <p:cNvSpPr/>
          <p:nvPr/>
        </p:nvSpPr>
        <p:spPr>
          <a:xfrm>
            <a:off x="16221858" y="7515345"/>
            <a:ext cx="928095" cy="373490"/>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10.6 cm</a:t>
            </a:r>
            <a:endParaRPr lang="en-US" sz="1704" dirty="0"/>
          </a:p>
        </p:txBody>
      </p:sp>
      <p:sp>
        <p:nvSpPr>
          <p:cNvPr id="116" name="Shape 105"/>
          <p:cNvSpPr/>
          <p:nvPr/>
        </p:nvSpPr>
        <p:spPr>
          <a:xfrm>
            <a:off x="12664968" y="8605416"/>
            <a:ext cx="4408784" cy="13526"/>
          </a:xfrm>
          <a:prstGeom prst="rect">
            <a:avLst/>
          </a:prstGeom>
          <a:solidFill>
            <a:srgbClr val="201E1D">
              <a:alpha val="18000"/>
            </a:srgbClr>
          </a:solidFill>
          <a:ln/>
        </p:spPr>
      </p:sp>
      <p:sp>
        <p:nvSpPr>
          <p:cNvPr id="117" name="Text 106"/>
          <p:cNvSpPr/>
          <p:nvPr/>
        </p:nvSpPr>
        <p:spPr>
          <a:xfrm>
            <a:off x="12664968" y="8188873"/>
            <a:ext cx="1023408"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Stride length</a:t>
            </a:r>
            <a:endParaRPr lang="en-US" sz="1331" dirty="0"/>
          </a:p>
        </p:txBody>
      </p:sp>
      <p:sp>
        <p:nvSpPr>
          <p:cNvPr id="118" name="Text 107"/>
          <p:cNvSpPr/>
          <p:nvPr/>
        </p:nvSpPr>
        <p:spPr>
          <a:xfrm>
            <a:off x="16354365" y="8134771"/>
            <a:ext cx="795587" cy="373490"/>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1.16 m</a:t>
            </a:r>
            <a:endParaRPr lang="en-US" sz="1704" dirty="0"/>
          </a:p>
        </p:txBody>
      </p:sp>
      <p:sp>
        <p:nvSpPr>
          <p:cNvPr id="119" name="Shape 108"/>
          <p:cNvSpPr/>
          <p:nvPr/>
        </p:nvSpPr>
        <p:spPr>
          <a:xfrm>
            <a:off x="12664968" y="9224842"/>
            <a:ext cx="4408784" cy="13526"/>
          </a:xfrm>
          <a:prstGeom prst="rect">
            <a:avLst/>
          </a:prstGeom>
          <a:solidFill>
            <a:srgbClr val="201E1D">
              <a:alpha val="18000"/>
            </a:srgbClr>
          </a:solidFill>
          <a:ln/>
        </p:spPr>
      </p:sp>
      <p:sp>
        <p:nvSpPr>
          <p:cNvPr id="120" name="Text 109"/>
          <p:cNvSpPr/>
          <p:nvPr/>
        </p:nvSpPr>
        <p:spPr>
          <a:xfrm>
            <a:off x="12664968" y="8808298"/>
            <a:ext cx="1680291"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Ground contact time</a:t>
            </a:r>
            <a:endParaRPr lang="en-US" sz="1331" dirty="0"/>
          </a:p>
        </p:txBody>
      </p:sp>
      <p:sp>
        <p:nvSpPr>
          <p:cNvPr id="121" name="Text 110"/>
          <p:cNvSpPr/>
          <p:nvPr/>
        </p:nvSpPr>
        <p:spPr>
          <a:xfrm>
            <a:off x="16297833" y="8754196"/>
            <a:ext cx="852119" cy="373491"/>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284 ms</a:t>
            </a:r>
            <a:endParaRPr lang="en-US" sz="1704" dirty="0"/>
          </a:p>
        </p:txBody>
      </p:sp>
      <p:sp>
        <p:nvSpPr>
          <p:cNvPr id="122" name="Text 111"/>
          <p:cNvSpPr/>
          <p:nvPr/>
        </p:nvSpPr>
        <p:spPr>
          <a:xfrm>
            <a:off x="12664968" y="9427724"/>
            <a:ext cx="1630658" cy="300157"/>
          </a:xfrm>
          <a:prstGeom prst="rect">
            <a:avLst/>
          </a:prstGeom>
          <a:noFill/>
          <a:ln/>
        </p:spPr>
        <p:txBody>
          <a:bodyPr wrap="square" lIns="25400" tIns="25400" rIns="25400" bIns="25400" rtlCol="0" anchor="t">
            <a:normAutofit/>
          </a:bodyPr>
          <a:lstStyle/>
          <a:p>
            <a:pPr algn="l" indent="0" marL="0">
              <a:lnSpc>
                <a:spcPct val="143519"/>
              </a:lnSpc>
              <a:buNone/>
            </a:pPr>
            <a:r>
              <a:rPr lang="en-US" sz="1331" dirty="0">
                <a:solidFill>
                  <a:srgbClr val="605D5D"/>
                </a:solidFill>
                <a:latin typeface="Archivo" pitchFamily="34" charset="0"/>
                <a:ea typeface="Archivo" pitchFamily="34" charset="-122"/>
                <a:cs typeface="Archivo" pitchFamily="34" charset="-120"/>
              </a:rPr>
              <a:t>Elevation gain / loss</a:t>
            </a:r>
            <a:endParaRPr lang="en-US" sz="1331" dirty="0"/>
          </a:p>
        </p:txBody>
      </p:sp>
      <p:sp>
        <p:nvSpPr>
          <p:cNvPr id="123" name="Text 112"/>
          <p:cNvSpPr/>
          <p:nvPr/>
        </p:nvSpPr>
        <p:spPr>
          <a:xfrm>
            <a:off x="16411531" y="9373622"/>
            <a:ext cx="738421" cy="373491"/>
          </a:xfrm>
          <a:prstGeom prst="rect">
            <a:avLst/>
          </a:prstGeom>
          <a:noFill/>
          <a:ln/>
        </p:spPr>
        <p:txBody>
          <a:bodyPr wrap="square" lIns="25400" tIns="25400" rIns="25400" bIns="25400" rtlCol="0" anchor="t">
            <a:normAutofit/>
          </a:bodyPr>
          <a:lstStyle/>
          <a:p>
            <a:pPr algn="l" indent="0" marL="0">
              <a:lnSpc>
                <a:spcPct val="141714"/>
              </a:lnSpc>
              <a:buNone/>
            </a:pPr>
            <a:r>
              <a:rPr lang="en-US" sz="1704" b="1" dirty="0">
                <a:solidFill>
                  <a:srgbClr val="201E1D"/>
                </a:solidFill>
                <a:latin typeface="Archivo" pitchFamily="34" charset="0"/>
                <a:ea typeface="Archivo" pitchFamily="34" charset="-122"/>
                <a:cs typeface="Archivo" pitchFamily="34" charset="-120"/>
              </a:rPr>
              <a:t>5 / 5 m</a:t>
            </a:r>
            <a:endParaRPr lang="en-US" sz="170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14400" y="2347392"/>
            <a:ext cx="18105120" cy="392385"/>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7D7979"/>
                </a:solidFill>
                <a:latin typeface="Archivo" pitchFamily="34" charset="0"/>
                <a:ea typeface="Archivo" pitchFamily="34" charset="-122"/>
                <a:cs typeface="Archivo" pitchFamily="34" charset="-120"/>
              </a:rPr>
              <a:t>IF THIS DIRECTION HOLDS</a:t>
            </a:r>
            <a:endParaRPr lang="en-US" sz="1800" dirty="0"/>
          </a:p>
        </p:txBody>
      </p:sp>
      <p:sp>
        <p:nvSpPr>
          <p:cNvPr id="3" name="Text 1"/>
          <p:cNvSpPr/>
          <p:nvPr/>
        </p:nvSpPr>
        <p:spPr>
          <a:xfrm>
            <a:off x="914400" y="2892177"/>
            <a:ext cx="16481983" cy="1670298"/>
          </a:xfrm>
          <a:prstGeom prst="rect">
            <a:avLst/>
          </a:prstGeom>
          <a:noFill/>
          <a:ln/>
        </p:spPr>
        <p:txBody>
          <a:bodyPr wrap="square" lIns="25400" tIns="25400" rIns="25400" bIns="25400" rtlCol="0" anchor="t">
            <a:normAutofit/>
          </a:bodyPr>
          <a:lstStyle/>
          <a:p>
            <a:pPr algn="l" indent="0" marL="0">
              <a:lnSpc>
                <a:spcPct val="93639"/>
              </a:lnSpc>
              <a:buNone/>
            </a:pPr>
            <a:r>
              <a:rPr lang="en-US" sz="6300" b="1" spc="-189" kern="0" dirty="0">
                <a:solidFill>
                  <a:srgbClr val="201E1D"/>
                </a:solidFill>
                <a:latin typeface="Archivo" pitchFamily="34" charset="0"/>
                <a:ea typeface="Archivo" pitchFamily="34" charset="-122"/>
                <a:cs typeface="Archivo" pitchFamily="34" charset="-120"/>
              </a:rPr>
              <a:t>Still a static site, minus the Markdown library</a:t>
            </a:r>
            <a:endParaRPr lang="en-US" sz="6300" dirty="0"/>
          </a:p>
        </p:txBody>
      </p:sp>
      <p:sp>
        <p:nvSpPr>
          <p:cNvPr id="4" name="Shape 2"/>
          <p:cNvSpPr/>
          <p:nvPr/>
        </p:nvSpPr>
        <p:spPr>
          <a:xfrm>
            <a:off x="914400" y="5057775"/>
            <a:ext cx="16459200" cy="28575"/>
          </a:xfrm>
          <a:prstGeom prst="rect">
            <a:avLst/>
          </a:prstGeom>
          <a:solidFill>
            <a:srgbClr val="201E1D">
              <a:alpha val="40000"/>
            </a:srgbClr>
          </a:solidFill>
          <a:ln/>
        </p:spPr>
      </p:sp>
      <p:sp>
        <p:nvSpPr>
          <p:cNvPr id="5" name="Text 3"/>
          <p:cNvSpPr/>
          <p:nvPr/>
        </p:nvSpPr>
        <p:spPr>
          <a:xfrm>
            <a:off x="914400" y="5619750"/>
            <a:ext cx="4149090" cy="348109"/>
          </a:xfrm>
          <a:prstGeom prst="rect">
            <a:avLst/>
          </a:prstGeom>
          <a:noFill/>
          <a:ln/>
        </p:spPr>
        <p:txBody>
          <a:bodyPr wrap="square" lIns="25400" tIns="25400" rIns="25400" bIns="25400" rtlCol="0" anchor="t">
            <a:normAutofit/>
          </a:bodyPr>
          <a:lstStyle/>
          <a:p>
            <a:pPr algn="l" indent="0" marL="0">
              <a:lnSpc>
                <a:spcPct val="141522"/>
              </a:lnSpc>
              <a:buNone/>
            </a:pPr>
            <a:r>
              <a:rPr lang="en-US" sz="1575" b="1" spc="158" kern="0" dirty="0">
                <a:solidFill>
                  <a:srgbClr val="AE1800"/>
                </a:solidFill>
                <a:latin typeface="Archivo" pitchFamily="34" charset="0"/>
                <a:ea typeface="Archivo" pitchFamily="34" charset="-122"/>
                <a:cs typeface="Archivo" pitchFamily="34" charset="-120"/>
              </a:rPr>
              <a:t>STRUCTURE</a:t>
            </a:r>
            <a:endParaRPr lang="en-US" sz="1575" dirty="0"/>
          </a:p>
        </p:txBody>
      </p:sp>
      <p:sp>
        <p:nvSpPr>
          <p:cNvPr id="6" name="Text 4"/>
          <p:cNvSpPr/>
          <p:nvPr/>
        </p:nvSpPr>
        <p:spPr>
          <a:xfrm>
            <a:off x="914400" y="6082159"/>
            <a:ext cx="3885057" cy="1524000"/>
          </a:xfrm>
          <a:prstGeom prst="rect">
            <a:avLst/>
          </a:prstGeom>
          <a:noFill/>
          <a:ln/>
        </p:spPr>
        <p:txBody>
          <a:bodyPr wrap="square" lIns="25400" tIns="25400" rIns="25400" bIns="25400" rtlCol="0" anchor="t">
            <a:normAutofit/>
          </a:bodyPr>
          <a:lstStyle/>
          <a:p>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Two routes on one page: a list at </a:t>
            </a:r>
            <a:pPr algn="l" indent="0" marL="0">
              <a:lnSpc>
                <a:spcPct val="136842"/>
              </a:lnSpc>
              <a:buNone/>
            </a:pPr>
            <a:r>
              <a:rPr lang="en-US" sz="1725" dirty="0">
                <a:solidFill>
                  <a:srgbClr val="201E1D"/>
                </a:solidFill>
                <a:latin typeface="Courier New" pitchFamily="34" charset="0"/>
                <a:ea typeface="Courier New" pitchFamily="34" charset="-122"/>
                <a:cs typeface="Courier New" pitchFamily="34" charset="-120"/>
              </a:rPr>
              <a:t>#/ </a:t>
            </a:r>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and a detail at </a:t>
            </a:r>
            <a:pPr algn="l" indent="0" marL="0">
              <a:lnSpc>
                <a:spcPct val="136842"/>
              </a:lnSpc>
              <a:buNone/>
            </a:pPr>
            <a:r>
              <a:rPr lang="en-US" sz="1725" dirty="0">
                <a:solidFill>
                  <a:srgbClr val="201E1D"/>
                </a:solidFill>
                <a:latin typeface="Courier New" pitchFamily="34" charset="0"/>
                <a:ea typeface="Courier New" pitchFamily="34" charset="-122"/>
                <a:cs typeface="Courier New" pitchFamily="34" charset="-120"/>
              </a:rPr>
              <a:t>#/a/&lt;path&gt; </a:t>
            </a:r>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 Detail URLs are shareable and survive reload.</a:t>
            </a:r>
            <a:endParaRPr lang="en-US" sz="1950" dirty="0"/>
          </a:p>
        </p:txBody>
      </p:sp>
      <p:sp>
        <p:nvSpPr>
          <p:cNvPr id="7" name="Text 5"/>
          <p:cNvSpPr/>
          <p:nvPr/>
        </p:nvSpPr>
        <p:spPr>
          <a:xfrm>
            <a:off x="5143500" y="5619750"/>
            <a:ext cx="4149090" cy="348109"/>
          </a:xfrm>
          <a:prstGeom prst="rect">
            <a:avLst/>
          </a:prstGeom>
          <a:noFill/>
          <a:ln/>
        </p:spPr>
        <p:txBody>
          <a:bodyPr wrap="square" lIns="25400" tIns="25400" rIns="25400" bIns="25400" rtlCol="0" anchor="t">
            <a:normAutofit/>
          </a:bodyPr>
          <a:lstStyle/>
          <a:p>
            <a:pPr algn="l" indent="0" marL="0">
              <a:lnSpc>
                <a:spcPct val="141522"/>
              </a:lnSpc>
              <a:buNone/>
            </a:pPr>
            <a:r>
              <a:rPr lang="en-US" sz="1575" b="1" spc="158" kern="0" dirty="0">
                <a:solidFill>
                  <a:srgbClr val="AE1800"/>
                </a:solidFill>
                <a:latin typeface="Archivo" pitchFamily="34" charset="0"/>
                <a:ea typeface="Archivo" pitchFamily="34" charset="-122"/>
                <a:cs typeface="Archivo" pitchFamily="34" charset="-120"/>
              </a:rPr>
              <a:t>PARSING</a:t>
            </a:r>
            <a:endParaRPr lang="en-US" sz="1575" dirty="0"/>
          </a:p>
        </p:txBody>
      </p:sp>
      <p:sp>
        <p:nvSpPr>
          <p:cNvPr id="8" name="Text 6"/>
          <p:cNvSpPr/>
          <p:nvPr/>
        </p:nvSpPr>
        <p:spPr>
          <a:xfrm>
            <a:off x="5143500" y="6082159"/>
            <a:ext cx="3885057" cy="1895475"/>
          </a:xfrm>
          <a:prstGeom prst="rect">
            <a:avLst/>
          </a:prstGeom>
          <a:noFill/>
          <a:ln/>
        </p:spPr>
        <p:txBody>
          <a:bodyPr wrap="square" lIns="25400" tIns="25400" rIns="25400" bIns="25400" rtlCol="0" anchor="t">
            <a:normAutofit/>
          </a:bodyPr>
          <a:lstStyle/>
          <a:p>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Every file is </a:t>
            </a:r>
            <a:pPr algn="l" indent="0" marL="0">
              <a:lnSpc>
                <a:spcPct val="136842"/>
              </a:lnSpc>
              <a:buNone/>
            </a:pPr>
            <a:r>
              <a:rPr lang="en-US" sz="1725" dirty="0">
                <a:solidFill>
                  <a:srgbClr val="201E1D"/>
                </a:solidFill>
                <a:latin typeface="Courier New" pitchFamily="34" charset="0"/>
                <a:ea typeface="Courier New" pitchFamily="34" charset="-122"/>
                <a:cs typeface="Courier New" pitchFamily="34" charset="-120"/>
              </a:rPr>
              <a:t>- **Key:** value </a:t>
            </a:r>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lines plus one zone table, so a small regex parser replaces marked.js. Copy still ships the untouched text.</a:t>
            </a:r>
            <a:endParaRPr lang="en-US" sz="1950" dirty="0"/>
          </a:p>
        </p:txBody>
      </p:sp>
      <p:sp>
        <p:nvSpPr>
          <p:cNvPr id="9" name="Text 7"/>
          <p:cNvSpPr/>
          <p:nvPr/>
        </p:nvSpPr>
        <p:spPr>
          <a:xfrm>
            <a:off x="9372600" y="5619750"/>
            <a:ext cx="4149090" cy="348109"/>
          </a:xfrm>
          <a:prstGeom prst="rect">
            <a:avLst/>
          </a:prstGeom>
          <a:noFill/>
          <a:ln/>
        </p:spPr>
        <p:txBody>
          <a:bodyPr wrap="square" lIns="25400" tIns="25400" rIns="25400" bIns="25400" rtlCol="0" anchor="t">
            <a:normAutofit/>
          </a:bodyPr>
          <a:lstStyle/>
          <a:p>
            <a:pPr algn="l" indent="0" marL="0">
              <a:lnSpc>
                <a:spcPct val="141522"/>
              </a:lnSpc>
              <a:buNone/>
            </a:pPr>
            <a:r>
              <a:rPr lang="en-US" sz="1575" b="1" spc="158" kern="0" dirty="0">
                <a:solidFill>
                  <a:srgbClr val="AE1800"/>
                </a:solidFill>
                <a:latin typeface="Archivo" pitchFamily="34" charset="0"/>
                <a:ea typeface="Archivo" pitchFamily="34" charset="-122"/>
                <a:cs typeface="Archivo" pitchFamily="34" charset="-120"/>
              </a:rPr>
              <a:t>REQUESTS</a:t>
            </a:r>
            <a:endParaRPr lang="en-US" sz="1575" dirty="0"/>
          </a:p>
        </p:txBody>
      </p:sp>
      <p:sp>
        <p:nvSpPr>
          <p:cNvPr id="10" name="Text 8"/>
          <p:cNvSpPr/>
          <p:nvPr/>
        </p:nvSpPr>
        <p:spPr>
          <a:xfrm>
            <a:off x="9372600" y="6082159"/>
            <a:ext cx="3885057" cy="1895475"/>
          </a:xfrm>
          <a:prstGeom prst="rect">
            <a:avLst/>
          </a:prstGeom>
          <a:noFill/>
          <a:ln/>
        </p:spPr>
        <p:txBody>
          <a:bodyPr wrap="square" lIns="25400" tIns="25400" rIns="25400" bIns="25400" rtlCol="0" anchor="t">
            <a:normAutofit/>
          </a:bodyPr>
          <a:lstStyle/>
          <a:p>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One tree call for the list, one raw fetch per activity, cached in </a:t>
            </a:r>
            <a:pPr algn="l" indent="0" marL="0">
              <a:lnSpc>
                <a:spcPct val="136842"/>
              </a:lnSpc>
              <a:buNone/>
            </a:pPr>
            <a:r>
              <a:rPr lang="en-US" sz="1725" dirty="0">
                <a:solidFill>
                  <a:srgbClr val="201E1D"/>
                </a:solidFill>
                <a:latin typeface="Courier New" pitchFamily="34" charset="0"/>
                <a:ea typeface="Courier New" pitchFamily="34" charset="-122"/>
                <a:cs typeface="Courier New" pitchFamily="34" charset="-120"/>
              </a:rPr>
              <a:t>sessionStorage </a:t>
            </a:r>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 back-navigation is instant and you stay under 60 calls an hour.</a:t>
            </a:r>
            <a:endParaRPr lang="en-US" sz="1950" dirty="0"/>
          </a:p>
        </p:txBody>
      </p:sp>
      <p:sp>
        <p:nvSpPr>
          <p:cNvPr id="11" name="Text 9"/>
          <p:cNvSpPr/>
          <p:nvPr/>
        </p:nvSpPr>
        <p:spPr>
          <a:xfrm>
            <a:off x="13601700" y="5619750"/>
            <a:ext cx="4149090" cy="348109"/>
          </a:xfrm>
          <a:prstGeom prst="rect">
            <a:avLst/>
          </a:prstGeom>
          <a:noFill/>
          <a:ln/>
        </p:spPr>
        <p:txBody>
          <a:bodyPr wrap="square" lIns="25400" tIns="25400" rIns="25400" bIns="25400" rtlCol="0" anchor="t">
            <a:normAutofit/>
          </a:bodyPr>
          <a:lstStyle/>
          <a:p>
            <a:pPr algn="l" indent="0" marL="0">
              <a:lnSpc>
                <a:spcPct val="141522"/>
              </a:lnSpc>
              <a:buNone/>
            </a:pPr>
            <a:r>
              <a:rPr lang="en-US" sz="1575" b="1" spc="158" kern="0" dirty="0">
                <a:solidFill>
                  <a:srgbClr val="AE1800"/>
                </a:solidFill>
                <a:latin typeface="Archivo" pitchFamily="34" charset="0"/>
                <a:ea typeface="Archivo" pitchFamily="34" charset="-122"/>
                <a:cs typeface="Archivo" pitchFamily="34" charset="-120"/>
              </a:rPr>
              <a:t>FRAMEWORK</a:t>
            </a:r>
            <a:endParaRPr lang="en-US" sz="1575" dirty="0"/>
          </a:p>
        </p:txBody>
      </p:sp>
      <p:sp>
        <p:nvSpPr>
          <p:cNvPr id="12" name="Text 10"/>
          <p:cNvSpPr/>
          <p:nvPr/>
        </p:nvSpPr>
        <p:spPr>
          <a:xfrm>
            <a:off x="13601700" y="6082159"/>
            <a:ext cx="3885057" cy="1895475"/>
          </a:xfrm>
          <a:prstGeom prst="rect">
            <a:avLst/>
          </a:prstGeom>
          <a:noFill/>
          <a:ln/>
        </p:spPr>
        <p:txBody>
          <a:bodyPr wrap="square" lIns="25400" tIns="25400" rIns="25400" bIns="25400" rtlCol="0" anchor="t">
            <a:normAutofit/>
          </a:bodyPr>
          <a:lstStyle/>
          <a:p>
            <a:pPr algn="l" indent="0" marL="0">
              <a:lnSpc>
                <a:spcPct val="136842"/>
              </a:lnSpc>
              <a:buNone/>
            </a:pPr>
            <a:r>
              <a:rPr lang="en-US" sz="1950" dirty="0">
                <a:solidFill>
                  <a:srgbClr val="201E1D"/>
                </a:solidFill>
                <a:latin typeface="Archivo" pitchFamily="34" charset="0"/>
                <a:ea typeface="Archivo" pitchFamily="34" charset="-122"/>
                <a:cs typeface="Archivo" pitchFamily="34" charset="-120"/>
              </a:rPr>
              <a:t>Vanilla JS. Two screens and a hash router don't earn a framework, and a build step would cost you the drop-a-file-on-Pages deploy.</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2026-08-21T18:07:01Z</dcterms:created>
  <dcterms:modified xsi:type="dcterms:W3CDTF">2026-08-21T18:07:01Z</dcterms:modified>
</cp:coreProperties>
</file>